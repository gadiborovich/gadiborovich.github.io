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b1d88f99bc487b" /><Relationship Type="http://schemas.openxmlformats.org/officeDocument/2006/relationships/extended-properties" Target="/docProps/app.xml" Id="R7cbe4ba4acf048ef" /><Relationship Type="http://schemas.openxmlformats.org/officeDocument/2006/relationships/officeDocument" Target="/ppt/presentation.xml" Id="R81b777ac47d941f3" /></Relationships>
</file>

<file path=ppt/presentation.xml><?xml version="1.0" encoding="utf-8"?>
<p:presentation xmlns:p="http://schemas.openxmlformats.org/presentationml/2006/main">
  <p:sldMasterIdLst>
    <p:sldMasterId xmlns:r="http://schemas.openxmlformats.org/officeDocument/2006/relationships" id="2147483648" r:id="R321e84ee437a483e"/>
  </p:sldMasterIdLst>
  <p:notesMasterIdLst>
    <p:notesMasterId xmlns:r="http://schemas.openxmlformats.org/officeDocument/2006/relationships" r:id="R3af871d2c44a4cc8"/>
  </p:notesMasterIdLst>
  <p:sldIdLst>
    <p:sldId xmlns:r="http://schemas.openxmlformats.org/officeDocument/2006/relationships" id="256" r:id="Recb8e301b29e4f3a"/>
    <p:sldId xmlns:r="http://schemas.openxmlformats.org/officeDocument/2006/relationships" id="257" r:id="R4e850c06f69e4424"/>
    <p:sldId xmlns:r="http://schemas.openxmlformats.org/officeDocument/2006/relationships" id="258" r:id="Rd5d5b30422aa4fb1"/>
    <p:sldId xmlns:r="http://schemas.openxmlformats.org/officeDocument/2006/relationships" id="259" r:id="Rffdd295bc8764637"/>
    <p:sldId xmlns:r="http://schemas.openxmlformats.org/officeDocument/2006/relationships" id="260" r:id="Rf163dc82b4cd4986"/>
    <p:sldId xmlns:r="http://schemas.openxmlformats.org/officeDocument/2006/relationships" id="261" r:id="Rb4412c610de14102"/>
    <p:sldId xmlns:r="http://schemas.openxmlformats.org/officeDocument/2006/relationships" id="262" r:id="R51b524e6aeef4c05"/>
    <p:sldId xmlns:r="http://schemas.openxmlformats.org/officeDocument/2006/relationships" id="263" r:id="Rc4e75018e25b44bc"/>
    <p:sldId xmlns:r="http://schemas.openxmlformats.org/officeDocument/2006/relationships" id="264" r:id="Rcfcf246ec6204a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003c2ba49841d8" /><Relationship Type="http://schemas.openxmlformats.org/officeDocument/2006/relationships/slideMaster" Target="/ppt/slideMasters/slideMaster1.xml" Id="R321e84ee437a483e" /><Relationship Type="http://schemas.openxmlformats.org/officeDocument/2006/relationships/notesMaster" Target="/ppt/notesMasters/notesMaster1.xml" Id="R3af871d2c44a4cc8" /><Relationship Type="http://schemas.openxmlformats.org/officeDocument/2006/relationships/presProps" Target="/ppt/presProps.xml" Id="R79d91ee72aa94d1a" /><Relationship Type="http://schemas.openxmlformats.org/officeDocument/2006/relationships/tableStyles" Target="/ppt/tableStyles.xml" Id="Rd40964c229994aac" /><Relationship Type="http://schemas.openxmlformats.org/officeDocument/2006/relationships/slide" Target="/ppt/slides/slide1.xml" Id="Recb8e301b29e4f3a" /><Relationship Type="http://schemas.openxmlformats.org/officeDocument/2006/relationships/slide" Target="/ppt/slides/slide2.xml" Id="R4e850c06f69e4424" /><Relationship Type="http://schemas.openxmlformats.org/officeDocument/2006/relationships/slide" Target="/ppt/slides/slide3.xml" Id="Rd5d5b30422aa4fb1" /><Relationship Type="http://schemas.openxmlformats.org/officeDocument/2006/relationships/slide" Target="/ppt/slides/slide4.xml" Id="Rffdd295bc8764637" /><Relationship Type="http://schemas.openxmlformats.org/officeDocument/2006/relationships/slide" Target="/ppt/slides/slide5.xml" Id="Rf163dc82b4cd4986" /><Relationship Type="http://schemas.openxmlformats.org/officeDocument/2006/relationships/slide" Target="/ppt/slides/slide6.xml" Id="Rb4412c610de14102" /><Relationship Type="http://schemas.openxmlformats.org/officeDocument/2006/relationships/slide" Target="/ppt/slides/slide7.xml" Id="R51b524e6aeef4c05" /><Relationship Type="http://schemas.openxmlformats.org/officeDocument/2006/relationships/slide" Target="/ppt/slides/slide8.xml" Id="Rc4e75018e25b44bc" /><Relationship Type="http://schemas.openxmlformats.org/officeDocument/2006/relationships/slide" Target="/ppt/slides/slide9.xml" Id="Rcfcf246ec6204a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4a4f10553c44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30a00b43214693" /><Relationship Type="http://schemas.openxmlformats.org/officeDocument/2006/relationships/notesMaster" Target="/ppt/notesMasters/notesMaster1.xml" Id="R62568f1adf894f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687227cbcb466c" /><Relationship Type="http://schemas.openxmlformats.org/officeDocument/2006/relationships/notesMaster" Target="/ppt/notesMasters/notesMaster1.xml" Id="Re70ecd929ac544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0535ae2774c52" /><Relationship Type="http://schemas.openxmlformats.org/officeDocument/2006/relationships/notesMaster" Target="/ppt/notesMasters/notesMaster1.xml" Id="R801aa79c960f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8e1274b56c426f" /><Relationship Type="http://schemas.openxmlformats.org/officeDocument/2006/relationships/notesMaster" Target="/ppt/notesMasters/notesMaster1.xml" Id="R55b5a2a7171a4a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6f839314834af6" /><Relationship Type="http://schemas.openxmlformats.org/officeDocument/2006/relationships/notesMaster" Target="/ppt/notesMasters/notesMaster1.xml" Id="Rce58aa19daa64e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66ff84f0904627" /><Relationship Type="http://schemas.openxmlformats.org/officeDocument/2006/relationships/notesMaster" Target="/ppt/notesMasters/notesMaster1.xml" Id="Rb0f08ba4e25743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96101271d642ca" /><Relationship Type="http://schemas.openxmlformats.org/officeDocument/2006/relationships/notesMaster" Target="/ppt/notesMasters/notesMaster1.xml" Id="Rc101f06b29c94b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64f38af7cc4256" /><Relationship Type="http://schemas.openxmlformats.org/officeDocument/2006/relationships/notesMaster" Target="/ppt/notesMasters/notesMaster1.xml" Id="Rc8cb31bf3e7d45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1c1e80df6543ff" /><Relationship Type="http://schemas.openxmlformats.org/officeDocument/2006/relationships/notesMaster" Target="/ppt/notesMasters/notesMaster1.xml" Id="R21ff5fecf6bb42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Where Antigravity stands</a:t>
            </a:r>
          </a:p>
          <a:p xmlns:a="http://schemas.openxmlformats.org/drawingml/2006/main">
            <a:r>
              <a:t/>
            </a:r>
          </a:p>
          <a:p xmlns:a="http://schemas.openxmlformats.org/drawingml/2006/main">
            <a:r>
              <a:t>**Main point:** We have spent the last 18 months building this portfolio and developing as investors. This is an opportunity to share where we are and what we have learned.</a:t>
            </a:r>
          </a:p>
          <a:p xmlns:a="http://schemas.openxmlformats.org/drawingml/2006/main">
            <a:r>
              <a:t/>
            </a:r>
          </a:p>
          <a:p xmlns:a="http://schemas.openxmlformats.org/drawingml/2006/main">
            <a:r>
              <a:t>- Begin with why we are holding our own spotlight. The founder sessions have created a candid relationship with LPs; it feels right to give them the same access to our work. Kim suggested this months ago.</a:t>
            </a:r>
          </a:p>
          <a:p xmlns:a="http://schemas.openxmlformats.org/drawingml/2006/main">
            <a:r>
              <a:t>- Briefly place the firm in time: what Gadi and Daniel brought to the partnership, what the world looked like when we started, and what we are becoming better at through investing together. Keep the personal account short and specific.</a:t>
            </a:r>
          </a:p>
          <a:p xmlns:a="http://schemas.openxmlformats.org/drawingml/2006/main">
            <a:r>
              <a:t>- Fund I is almost fully deployed. Give LPs a clear view of invested capital, portfolio size, remaining investable capital, and realized and unrealized progress.</a:t>
            </a:r>
          </a:p>
          <a:p xmlns:a="http://schemas.openxmlformats.org/drawingml/2006/main">
            <a:r>
              <a:t>- Use Shopgenie to make realized proceeds tangible. Distinguish money distributed to LPs from proceeds retained or recycled, and both from paper value.</a:t>
            </a:r>
          </a:p>
          <a:p xmlns:a="http://schemas.openxmlformats.org/drawingml/2006/main">
            <a:r>
              <a:t>- Build the opening around the following “Antigravity Fund I in numbers” draft.</a:t>
            </a:r>
          </a:p>
          <a:p xmlns:a="http://schemas.openxmlformats.org/drawingml/2006/main">
            <a:r>
              <a:t/>
            </a:r>
          </a:p>
          <a:p xmlns:a="http://schemas.openxmlformats.org/drawingml/2006/main">
            <a:r>
              <a:t>**Material:** One or two simple slides. Use selected SOI figures, with an as-of date. The detailed SOI stays available in the data room.</a:t>
            </a:r>
          </a:p>
          <a:p xmlns:a="http://schemas.openxmlformats.org/drawingml/2006/main">
            <a:r>
              <a:t/>
            </a:r>
          </a:p>
          <a:p xmlns:a="http://schemas.openxmlformats.org/drawingml/2006/main">
            <a:r>
              <a:t>### Antigravity Fund I in numbers</a:t>
            </a:r>
          </a:p>
          <a:p xmlns:a="http://schemas.openxmlformats.org/drawingml/2006/main">
            <a:r>
              <a:t/>
            </a:r>
          </a:p>
          <a:p xmlns:a="http://schemas.openxmlformats.org/drawingml/2006/main">
            <a:r>
              <a:t>- **18 months** since our **$2.1M Fund I's final close**</a:t>
            </a:r>
          </a:p>
          <a:p xmlns:a="http://schemas.openxmlformats.org/drawingml/2006/main">
            <a:r>
              <a:t>- **$XX capital invested**</a:t>
            </a:r>
          </a:p>
          <a:p xmlns:a="http://schemas.openxmlformats.org/drawingml/2006/main">
            <a:r>
              <a:t>- **$XX capital left to deploy**</a:t>
            </a:r>
          </a:p>
          <a:p xmlns:a="http://schemas.openxmlformats.org/drawingml/2006/main">
            <a:r>
              <a:t>- **21 companies backed**</a:t>
            </a:r>
          </a:p>
          <a:p xmlns:a="http://schemas.openxmlformats.org/drawingml/2006/main">
            <a:r>
              <a:t>- **$90M+ raised by eight portfolio companies** since we first invested</a:t>
            </a:r>
          </a:p>
          <a:p xmlns:a="http://schemas.openxmlformats.org/drawingml/2006/main">
            <a:r>
              <a:t>- **XX TVPI · XX DPI**</a:t>
            </a:r>
          </a:p>
          <a:p xmlns:a="http://schemas.openxmlformats.org/drawingml/2006/main">
            <a:r>
              <a:t>- **Three Puentes cohorts · 33 fellows · 20 living in SF**</a:t>
            </a:r>
          </a:p>
          <a:p xmlns:a="http://schemas.openxmlformats.org/drawingml/2006/main">
            <a:r>
              <a:t>- **11 portfolio hires** we helped make</a:t>
            </a:r>
          </a:p>
          <a:p xmlns:a="http://schemas.openxmlformats.org/drawingml/2006/main">
            <a:r>
              <a:t>- **Two new investments** since our last LP letter: **Place Labs and Intelligent Machines**</a:t>
            </a:r>
          </a:p>
          <a:p xmlns:a="http://schemas.openxmlformats.org/drawingml/2006/main">
            <a:r>
              <a:t/>
            </a:r>
          </a:p>
          <a:p xmlns:a="http://schemas.openxmlformats.org/drawingml/2006/main">
            <a:r>
              <a:t>These are Gadi's selected opening figures. The capital and performance placeholders remain open until the SOI is reconciled. Keep the eight-company financing tally behind the $90M+ figure available in the supporting notes, and date the snapshot.</a:t>
            </a:r>
          </a:p>
          <a:p xmlns:a="http://schemas.openxmlformats.org/drawingml/2006/main">
            <a:r>
              <a:t/>
            </a:r>
          </a:p>
          <a:p xmlns:a="http://schemas.openxmlformats.org/drawingml/2006/main">
            <a:r>
              <a:t>**Measurement note:** The 11 portfolio hires is the broader Antigravity hiring contribution. The previous Puentes slide counted seven fellows working at portfolio companies. These measure different things; keep their definitions separate.</a:t>
            </a:r>
          </a:p>
          <a:p xmlns:a="http://schemas.openxmlformats.org/drawingml/2006/main">
            <a:r>
              <a:t/>
            </a:r>
          </a:p>
          <a:p xmlns:a="http://schemas.openxmlformats.org/drawingml/2006/main">
            <a:r>
              <a:t>**Transition:** What has changed in the world since we began, and what do the companies we own help us understand about it?</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Gadi's September 11, 2026 working updates and subsequent outline corrections in this Codex conversation. Supporting local sources: analysis/2026-09-11-fund-i-spotlight-working-outline.md; output/spotlight-daniel-2026-09-11/company-note-review.md; output/spotlight-daniel-2026-09-11/soi-reconciliation.md. Visual framework and design reference: output/access-daniel-handoff-2026-09-10/assets/deck-reference/strategy-slide.jpg. This slide is a discussion map with six independent company stories.</a:t>
            </a:r>
          </a:p>
          <a:p xmlns:a="http://schemas.openxmlformats.org/drawingml/2006/main">
            <a:r>
              <a:t/>
            </a:r>
          </a:p>
          <a:p xmlns:a="http://schemas.openxmlformats.org/drawingml/2006/main">
            <a:r>
              <a:t>THE NEW STACK: tools and infrastructure for training, testing, monitoring and securing AI agents. THE NEW COMPANY: businesses built around AI doing more of the work, from customer request to finished result. Halluminate, Flai and Terac preserve their placement in the existing strategy slide. Veria and Bem are placed on the stack side and Pace on the company side in this working map.</a:t>
            </a:r>
          </a:p>
          <a:p xmlns:a="http://schemas.openxmlformats.org/drawingml/2006/main">
            <a:r>
              <a:t/>
            </a:r>
          </a:p>
          <a:p xmlns:a="http://schemas.openxmlformats.org/drawingml/2006/main">
            <a:r>
              <a:t>HALLUMINATE: $30m Series A at $200m post-money, not $200m of capital raised. Strong delivery for Anthropic, the largest customer, has driven growth. Customer concentration and a volatile competitive market remain important. Antigravity organized an approximately $1m SPV with nearly ten LPs participating/interested; confirm its closing before calling it funded.</a:t>
            </a:r>
          </a:p>
          <a:p xmlns:a="http://schemas.openxmlformats.org/drawingml/2006/main">
            <a:r>
              <a:t/>
            </a:r>
          </a:p>
          <a:p xmlns:a="http://schemas.openxmlformats.org/drawingml/2006/main">
            <a:r>
              <a:t>VERIA LABS: long-standing Capture the Flag team. We trusted the team's understanding of hacking and product judgment. Gadi reports competitive wins with PostHog and Ramp and approximately $1.5m ARR reached quickly since December. Date of ARR figure still needs a final refresh. Commercial wins are encouraging evidence, not proof of the ultimate investment outcome.</a:t>
            </a:r>
          </a:p>
          <a:p xmlns:a="http://schemas.openxmlformats.org/drawingml/2006/main">
            <a:r>
              <a:t/>
            </a:r>
          </a:p>
          <a:p xmlns:a="http://schemas.openxmlformats.org/drawingml/2006/main">
            <a:r>
              <a:t>BEM: responsibility and contract value expanded within existing customers; some contracts reached $250k–$500k ACV. The constraint has been adding enough new customers to the pipeline. Gadi's prior update: approximately $1.3m–$1.4m ARR, $10m Series A at a $50m valuation, whose pre/post basis was unspecified. These figures are not on the slide.</a:t>
            </a:r>
          </a:p>
          <a:p xmlns:a="http://schemas.openxmlformats.org/drawingml/2006/main">
            <a:r>
              <a:t/>
            </a:r>
          </a:p>
          <a:p xmlns:a="http://schemas.openxmlformats.org/drawingml/2006/main">
            <a:r>
              <a:t>PACE: the three customer contexts are GED/Pearson, Miami-Dade adult education and electrician training/IEC chapters. Approximately $2.1m reported revenue remains unclassified as to period and definition, so the slide omits that number. Daniel holds the current context and was due to speak with Victoria Tuesday.</a:t>
            </a:r>
          </a:p>
          <a:p xmlns:a="http://schemas.openxmlformats.org/drawingml/2006/main">
            <a:r>
              <a:t/>
            </a:r>
          </a:p>
          <a:p xmlns:a="http://schemas.openxmlformats.org/drawingml/2006/main">
            <a:r>
              <a:t>FLAI: Gadi reports $6m ARR and a closed $27m Series A at $150m post-money. Discuss the work Flai takes over across dealership communications, scheduling and follow-up.</a:t>
            </a:r>
          </a:p>
          <a:p xmlns:a="http://schemas.openxmlformats.org/drawingml/2006/main">
            <a:r>
              <a:t/>
            </a:r>
          </a:p>
          <a:p xmlns:a="http://schemas.openxmlformats.org/drawingml/2006/main">
            <a:r>
              <a:t>TERAC: human expertise on demand, including consumer research and AI training. At the last conversation with Zac, approximately $20m annualized revenue. Zac's stated intention to reach approximately $50m annual revenue before a Series A is a future threshold. Gadi's latest update says Antigravity helped hire approximately 80% of engineers, including the first hires, and helped shape engineering culture from day one. That contribution deepened the operating relationship and helped earn a chance to invest more. The follow-on structure, amount and terms remain in progress, so the slide does not describe a completed follow-on. This is the first teaser for Puentes and a natural transition into access. Revenue metrics and ACV have different definitions and should not be compared as equivalent.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Gadi's latest September 11, 2026 outline corrections in this Codex conversation; output/access-daniel-handoff-2026-09-10/handoff.md and production-notes.md for exact historical contributions. Design and background: output/access-daniel-handoff-2026-09-10/final/access-slide.pptx and assets/access-empty-slide.png.</a:t>
            </a:r>
          </a:p>
          <a:p xmlns:a="http://schemas.openxmlformats.org/drawingml/2006/main">
            <a:r>
              <a:t/>
            </a:r>
          </a:p>
          <a:p xmlns:a="http://schemas.openxmlformats.org/drawingml/2006/main">
            <a:r>
              <a:t>This simplified slide contains three stories in order. Keep Origami / Bluejay last and continue immediately into Puentes. There is no separate pricing defense or valuation comparison.</a:t>
            </a:r>
          </a:p>
          <a:p xmlns:a="http://schemas.openxmlformats.org/drawingml/2006/main">
            <a:r>
              <a:t/>
            </a:r>
          </a:p>
          <a:p xmlns:a="http://schemas.openxmlformats.org/drawingml/2006/main">
            <a:r>
              <a:t>ARI / HAPPYROBOT / FLAI: We helped Ari join HappyRobot as its second engineer. When Ari and his brother started Flai we helped them get into YC. We invested in Flai's YC round, not its first check, and later helped build the team. The contribution began before the next company existed and continued as the founder's needs changed.</a:t>
            </a:r>
          </a:p>
          <a:p xmlns:a="http://schemas.openxmlformats.org/drawingml/2006/main">
            <a:r>
              <a:t/>
            </a:r>
          </a:p>
          <a:p xmlns:a="http://schemas.openxmlformats.org/drawingml/2006/main">
            <a:r>
              <a:t>APPLIED NETWORK: Place Labs and Intelligent Machines were largely founder bets. We watched these founders operate at Applied over years and developed conviction in their seriousness, understanding of the current moment, execution and fit as partners. Gadi's latest recollection: Pedro led data infrastructure as Applied shifted toward transformer-based models and in-house training, requiring roughly 1,000 times the data scale. Justin was the first engineer on the defense team and built it to approximately 50 people before leaving. Pedro and Justin were best friends at Applied and we thought they would make excellent co-founders. These are Gadi's operating recollections and are not used as slide metrics.</a:t>
            </a:r>
          </a:p>
          <a:p xmlns:a="http://schemas.openxmlformats.org/drawingml/2006/main">
            <a:r>
              <a:t/>
            </a:r>
          </a:p>
          <a:p xmlns:a="http://schemas.openxmlformats.org/drawingml/2006/main">
            <a:r>
              <a:t>Daniel in this story is Daniel Jabbour, not Daniel Ha. We knew Daniel for years and Yousef somewhat less. Daniel was an early Applied engineer, developed commercial responsibilities, served as Qasar's chief of staff and right hand, then led new markets as general manager and closed some of the company's largest contracts. We helped him expand Applied Intuition into Brazil. We wanted to invest in Intelligent Machines before its financing process, including encouraging Daniel to open the bank account and take early financing. The founders chose a single later process. We earned participation through introducing their first customer. Gadi considers Yousef's standards extraordinarily high and describes a very competitive round. Daniel Jabbour is also an Antigravity Fund I LP. Gadi says that status had little bearing on OUR decision to invest: our conviction came from years of seeing Daniel's work and judgment. Separately, introducing Intelligent Machines' first customer earned the founders' decision to include Antigravity in the round. Preserve both directions: knowing the team informed our investment decision, while our concrete contribution gave the team a reason to include us. If agreed with Daniel in advance, leave room for him to offer brief thoughts in the meeting. No invitation or speaking commitment has been made by this slide.</a:t>
            </a:r>
          </a:p>
          <a:p xmlns:a="http://schemas.openxmlformats.org/drawingml/2006/main">
            <a:r>
              <a:t/>
            </a:r>
          </a:p>
          <a:p xmlns:a="http://schemas.openxmlformats.org/drawingml/2006/main">
            <a:r>
              <a:t>ORIGAMI / BLUEJAY / PUENTES: We introduced Luke to Origami CEO Finn as the company's first hire. Luke then directly introduced us to his close college friend Faraz, Bluejay's CTO. Finn is the founder, Luke is the first employee, and Luke made the Bluejay introduction. That first-hire experience helped Gadi see how consequential early employees are and how supporting this decision affords deep involvement with a founder and the company. It motivated Gadi to seek a repeatable format to do more of this work. Months later Antigravity held the first Puentes. This describes a contributing origin and the subsequent search, not an immediate or sole cause. Follow this story directly with why Puentes exists, how it serves fellows and Antigravity, and its results. Detailed Puentes stories are covered by the shared outline, not additional slides in this two-slide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Puentes slide. The ten portraits are representative members of the 33-person Puentes network. The 23 solid nodes complete today's network. The 150 fellows by 2028 figure is a future scale target, not a current result. The bottom strip names organizations represented by guests at Puentes; it does not imply that every organization employs a fellow or has a formal institutional partnership. Mateo's portrait remains provisional pending final asset confirmation.</a:t>
            </a:r>
          </a:p>
          <a:p xmlns:a="http://schemas.openxmlformats.org/drawingml/2006/main">
            <a:r>
              <a:t/>
            </a:r>
          </a:p>
          <a:p xmlns:a="http://schemas.openxmlformats.org/drawingml/2006/main">
            <a:r>
              <a:t>Guest logo treatment follows the investment-strategy slide: https://deck.antigravity.capital/?slide=strategy . Official vector paths recolored navy at 84% opacity. Floodgate retains its banner with transparent lettering. Sources:</a:t>
            </a:r>
          </a:p>
          <a:p xmlns:a="http://schemas.openxmlformats.org/drawingml/2006/main">
            <a:r>
              <a:t>OpenAI: https://cdn.openai.com/business-guides-and-resources/identifying-and-scaling-ai-use-cases.pdf</a:t>
            </a:r>
          </a:p>
          <a:p xmlns:a="http://schemas.openxmlformats.org/drawingml/2006/main">
            <a:r>
              <a:t>Applied Intuition: https://www.appliedintuition.com/#inline-header-logo</a:t>
            </a:r>
          </a:p>
          <a:p xmlns:a="http://schemas.openxmlformats.org/drawingml/2006/main">
            <a:r>
              <a:t>Sentry: https://sentry.io/welcome/#inline-header-logo</a:t>
            </a:r>
          </a:p>
          <a:p xmlns:a="http://schemas.openxmlformats.org/drawingml/2006/main">
            <a:r>
              <a:t>Brex: https://www.brex.com/#inline-header-logo</a:t>
            </a:r>
          </a:p>
          <a:p xmlns:a="http://schemas.openxmlformats.org/drawingml/2006/main">
            <a:r>
              <a:t>HappyRobot: https://www.happyrobot.ai/#inline-header-logo</a:t>
            </a:r>
          </a:p>
          <a:p xmlns:a="http://schemas.openxmlformats.org/drawingml/2006/main">
            <a:r>
              <a:t>Bland: https://www.bland.ai/#inline-header-logo</a:t>
            </a:r>
          </a:p>
          <a:p xmlns:a="http://schemas.openxmlformats.org/drawingml/2006/main">
            <a:r>
              <a:t>Anthropic: https://www.anthropic.com/news#inline-header-logo</a:t>
            </a:r>
          </a:p>
          <a:p xmlns:a="http://schemas.openxmlformats.org/drawingml/2006/main">
            <a:r>
              <a:t>Applied Compute: https://www.appliedcompute.com/#inline-header-svg</a:t>
            </a:r>
          </a:p>
          <a:p xmlns:a="http://schemas.openxmlformats.org/drawingml/2006/main">
            <a:r>
              <a:t>Resend: https://resend.com/#inline-header-svg</a:t>
            </a:r>
          </a:p>
          <a:p xmlns:a="http://schemas.openxmlformats.org/drawingml/2006/main">
            <a:r>
              <a:t>General Catalyst: https://cdn.prod.website-files.com/69df4e62ff62d7b5568fc58b/69e8832670eb5345d6b87a6d_GC_Wordmark_Black_RGB.svg</a:t>
            </a:r>
          </a:p>
          <a:p xmlns:a="http://schemas.openxmlformats.org/drawingml/2006/main">
            <a:r>
              <a:t>Emergence: https://www.emcap.com/#inline-header-svg</a:t>
            </a:r>
          </a:p>
          <a:p xmlns:a="http://schemas.openxmlformats.org/drawingml/2006/main">
            <a:r>
              <a:t>Floodgate: https://cdn.prod.website-files.com/5fdf46ca7a44603e763a4c35/5fdf5a58546b45d5333b1e34_floodgate-nav-logo.svg</a:t>
            </a:r>
          </a:p>
          <a:p xmlns:a="http://schemas.openxmlformats.org/drawingml/2006/main">
            <a:r>
              <a:t>Base10: https://base10.vc/#inline-header-svg</a:t>
            </a:r>
          </a:p>
          <a:p xmlns:a="http://schemas.openxmlformats.org/drawingml/2006/main">
            <a:r>
              <a:t>Ribbit: https://www.ribbitcap.com/#inline-header-svg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Terac: immediate impact on a company we own</a:t>
            </a:r>
          </a:p>
          <a:p xmlns:a="http://schemas.openxmlformats.org/drawingml/2006/main">
            <a:r>
              <a:t/>
            </a:r>
          </a:p>
          <a:p xmlns:a="http://schemas.openxmlformats.org/drawingml/2006/main">
            <a:r>
              <a:t>**What this story adds:** The effect of helping a founder build an engineering team and culture from the beginning.</a:t>
            </a:r>
          </a:p>
          <a:p xmlns:a="http://schemas.openxmlformats.org/drawingml/2006/main">
            <a:r>
              <a:t/>
            </a:r>
          </a:p>
          <a:p xmlns:a="http://schemas.openxmlformats.org/drawingml/2006/main">
            <a:r>
              <a:t>- Build on the earlier Terac discussion. Puentes and our hiring work have been closely involved with the first employees and, according to Gadi's current estimate, approximately **80% of the engineering team**.</a:t>
            </a:r>
          </a:p>
          <a:p xmlns:a="http://schemas.openxmlformats.org/drawingml/2006/main">
            <a:r>
              <a:t>- That work brought us into an unusually close relationship with Zac and the development of the company's engineering culture.</a:t>
            </a:r>
          </a:p>
          <a:p xmlns:a="http://schemas.openxmlformats.org/drawingml/2006/main">
            <a:r>
              <a:t>- It helped earn the opportunity to improve our investment position. The additional check remains in progress; the contribution and relationship are already real.</a:t>
            </a:r>
          </a:p>
          <a:p xmlns:a="http://schemas.openxmlformats.org/drawingml/2006/main">
            <a:r>
              <a:t>- This is the most immediate connection between Puentes, helping our portfolio and developing a more meaningful role as an investor. Keep it brief enough to avoid replaying the earlier company and follow-on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Tomás Holtz: relationships inside Cognition and beyond</a:t>
            </a:r>
          </a:p>
          <a:p xmlns:a="http://schemas.openxmlformats.org/drawingml/2006/main">
            <a:r>
              <a:t/>
            </a:r>
          </a:p>
          <a:p xmlns:a="http://schemas.openxmlformats.org/drawingml/2006/main">
            <a:r>
              <a:t>**What this story adds:** One fellow joining a strong team can create relationships well beyond that individual.</a:t>
            </a:r>
          </a:p>
          <a:p xmlns:a="http://schemas.openxmlformats.org/drawingml/2006/main">
            <a:r>
              <a:t/>
            </a:r>
          </a:p>
          <a:p xmlns:a="http://schemas.openxmlformats.org/drawingml/2006/main">
            <a:r>
              <a:t>- Tomás's role at Cognition has already helped activate a number of relationships there. Explain the specific introductions and conversations that followed.</a:t>
            </a:r>
          </a:p>
          <a:p xmlns:a="http://schemas.openxmlformats.org/drawingml/2006/main">
            <a:r>
              <a:t>- People and roles Gadi wants to cover: **Daniella, Jaime, an FDE in Chile, Bryan, head of BD**. The speaking notes should identify the actual connection to each and clarify the names/roles before turning this list into a diagram.</a:t>
            </a:r>
          </a:p>
          <a:p xmlns:a="http://schemas.openxmlformats.org/drawingml/2006/main">
            <a:r>
              <a:t>- There is a further connection through SV Angel: an early Cognition employee whom we are now inviting to the next Puentes cohort.</a:t>
            </a:r>
          </a:p>
          <a:p xmlns:a="http://schemas.openxmlformats.org/drawingml/2006/main">
            <a:r>
              <a:t>- Cognition's existing experience hiring fellows helps make that invitation credible. This is an invitation underway, not a confirmed participant.</a:t>
            </a:r>
          </a:p>
          <a:p xmlns:a="http://schemas.openxmlformats.org/drawingml/2006/main">
            <a:r>
              <a:t>- The story shows how helping a fellow join a team can give us more relationships with the people doing important work around them.</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Samuel Rizzon: the personal relationship that follows a life-changing opportunity</a:t>
            </a:r>
          </a:p>
          <a:p xmlns:a="http://schemas.openxmlformats.org/drawingml/2006/main">
            <a:r>
              <a:t/>
            </a:r>
          </a:p>
          <a:p xmlns:a="http://schemas.openxmlformats.org/drawingml/2006/main">
            <a:r>
              <a:t>**What this story adds:** Being the first to believe in someone can create a lasting relationship that capital alone cannot buy.</a:t>
            </a:r>
          </a:p>
          <a:p xmlns:a="http://schemas.openxmlformats.org/drawingml/2006/main">
            <a:r>
              <a:t/>
            </a:r>
          </a:p>
          <a:p xmlns:a="http://schemas.openxmlformats.org/drawingml/2006/main">
            <a:r>
              <a:t>- Tell Samuel's story through the change in his life: moving to San Francisco with his wife and preparing to have a son.</a:t>
            </a:r>
          </a:p>
          <a:p xmlns:a="http://schemas.openxmlformats.org/drawingml/2006/main">
            <a:r>
              <a:t>- They have said they want to cook for every future Puentes cohort.</a:t>
            </a:r>
          </a:p>
          <a:p xmlns:a="http://schemas.openxmlformats.org/drawingml/2006/main">
            <a:r>
              <a:t>- When Gadi held a Puentes event in São Paulo, they drove from a small city to be there.</a:t>
            </a:r>
          </a:p>
          <a:p xmlns:a="http://schemas.openxmlformats.org/drawingml/2006/main">
            <a:r>
              <a:t>- These are personal expressions of how much the relationship means to them. Their wish to contribute back makes the long-term significance of this work tangible.</a:t>
            </a:r>
          </a:p>
          <a:p xmlns:a="http://schemas.openxmlformats.org/drawingml/2006/main">
            <a:r>
              <a:t>- Gadi's point is that this kind of loyalty is earned through believing in people early and helping change what is possible for them. The relationship can last well beyond a cohort or an individual job.</a:t>
            </a:r>
          </a:p>
          <a:p xmlns:a="http://schemas.openxmlformats.org/drawingml/2006/main">
            <a:r>
              <a:t/>
            </a:r>
          </a:p>
          <a:p xmlns:a="http://schemas.openxmlformats.org/drawingml/2006/main">
            <a:r>
              <a:t>**How to use the three stories:** Terac shows company impact and an opportunity for greater ownership; Tomás shows how relationships extend; Samuel shows personal impact and the desire to give back. Prepare all three and decide in rehearsal how much time each needs. The Terac callback can be short because the business and investment reasoning have already been introduced.</a:t>
            </a:r>
          </a:p>
          <a:p xmlns:a="http://schemas.openxmlformats.org/drawingml/2006/main">
            <a:r>
              <a:t/>
            </a:r>
          </a:p>
          <a:p xmlns:a="http://schemas.openxmlformats.org/drawingml/2006/main">
            <a:r>
              <a:t>**Material:** The Puentes overview and supporting portraits/company references already exist. The spoken detail should explain what happened to the person and why it matters. A future-fellow target or an exhaustive guest-logo tour is optional supporting context.</a:t>
            </a:r>
          </a:p>
          <a:p xmlns:a="http://schemas.openxmlformats.org/drawingml/2006/main">
            <a:r>
              <a:t/>
            </a:r>
          </a:p>
          <a:p xmlns:a="http://schemas.openxmlformats.org/drawingml/2006/main">
            <a:r>
              <a:t>**Transition:** The next cohort is an opportunity for LPs to see this work and meet the people themselves.</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5. The work ahead</a:t>
            </a:r>
          </a:p>
          <a:p xmlns:a="http://schemas.openxmlformats.org/drawingml/2006/main">
            <a:r>
              <a:t/>
            </a:r>
          </a:p>
          <a:p xmlns:a="http://schemas.openxmlformats.org/drawingml/2006/main">
            <a:r>
              <a:t>**Main point:** We are continuing the work LPs have just seen, and there are straightforward ways for them to stay involved.</a:t>
            </a:r>
          </a:p>
          <a:p xmlns:a="http://schemas.openxmlformats.org/drawingml/2006/main">
            <a:r>
              <a:t/>
            </a:r>
          </a:p>
          <a:p xmlns:a="http://schemas.openxmlformats.org/drawingml/2006/main">
            <a:r>
              <a:t>- Briefly recap that Fund I is nearing the end of deployment. The reasoning behind the possible Terac investment has already been covered.</a:t>
            </a:r>
          </a:p>
          <a:p xmlns:a="http://schemas.openxmlformats.org/drawingml/2006/main">
            <a:r>
              <a:t>- The next Puentes cohort is **October 18–26**. Applications have closed; Gadi reported approximately **260 applicants** in the September 11 conversation. This is an application count, separate from the existing fellow counts.</a:t>
            </a:r>
          </a:p>
          <a:p xmlns:a="http://schemas.openxmlformats.org/drawingml/2006/main">
            <a:r>
              <a:t>- We are planning an opportunity for LPs to meet the fellows and see the week in person. Announce only the date and format actually settled by Wednesday.</a:t>
            </a:r>
          </a:p>
          <a:p xmlns:a="http://schemas.openxmlformats.org/drawingml/2006/main">
            <a:r>
              <a:t>- Acknowledge the Fund II conversations already underway and the support LPs have shown. Share the data-room link and invite people to explore the materials and offer feedback.</a:t>
            </a:r>
          </a:p>
          <a:p xmlns:a="http://schemas.openxmlformats.org/drawingml/2006/main">
            <a:r>
              <a:t>- Move into questions. Fund II's size, check size and ownership targets stay available for people who ask; they do not need a dedicated closing slide.</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6. Discussion and questions</a:t>
            </a:r>
          </a:p>
          <a:p xmlns:a="http://schemas.openxmlformats.org/drawingml/2006/main">
            <a:r>
              <a:t/>
            </a:r>
          </a:p>
          <a:p xmlns:a="http://schemas.openxmlformats.org/drawingml/2006/main">
            <a:r>
              <a:t>Prepare a one- or two-sentence current view on every company, including small investments that have struggled. Both partners should be able to address the company status, the original reason for investing and what changed.</a:t>
            </a:r>
          </a:p>
          <a:p xmlns:a="http://schemas.openxmlformats.org/drawingml/2006/main">
            <a:r>
              <a:t/>
            </a:r>
          </a:p>
          <a:p xmlns:a="http://schemas.openxmlformats.org/drawingml/2006/main">
            <a:r>
              <a:t>Keep supporting detail ready on fund performance, realized versus unrealized value, the remaining capital, company progress, pricing decisions, access, Puentes and Fund II. Daniel has the Tuesday conversation with Victoria to update Pace. Final speaking roles come after the sequence is settled.</a:t>
            </a:r>
          </a:p>
          <a:p xmlns:a="http://schemas.openxmlformats.org/drawingml/2006/main">
            <a:r>
              <a:t/>
            </a:r>
          </a:p>
          <a:p xmlns:a="http://schemas.openxmlformats.org/drawingml/2006/main">
            <a:r>
              <a:t>The return simulator is removed from the spotlight. Its files remain internal preparation, and the earlier 5x exercise is not a forecast or a promised outcome.</a:t>
            </a:r>
          </a:p>
          <a:p xmlns:a="http://schemas.openxmlformats.org/drawingml/2006/main">
            <a:r>
              <a:t/>
            </a:r>
          </a:p>
          <a:p xmlns:a="http://schemas.openxmlformats.org/drawingml/2006/main">
            <a:r>
              <a:t/>
            </a:r>
          </a:p>
          <a:p xmlns:a="http://schemas.openxmlformats.org/drawingml/2006/main">
            <a:r>
              <a:t/>
            </a:r>
          </a:p>
          <a:p xmlns:a="http://schemas.openxmlformats.org/drawingml/2006/main">
            <a:r>
              <a:t>Source: Gadi’s working notes, September 11, 2026. Discussion with Daniel: https://notes.granola.ai/t/406bb135-9fa4-4d9f-8c10-b9e3194a8a4b-008umkv4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b5535ad42c4f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072262ffe4f0c" /><Relationship Type="http://schemas.openxmlformats.org/officeDocument/2006/relationships/slideLayout" Target="/ppt/slideLayouts/slideLayout1.xml" Id="Re828da455e3844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28da455e3844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634dd5538948fd" /><Relationship Type="http://schemas.openxmlformats.org/officeDocument/2006/relationships/notesSlide" Target="/ppt/notesSlides/notesSlide1.xml" Id="Re21af8664fd74c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0c9603bce44b75" /><Relationship Type="http://schemas.openxmlformats.org/officeDocument/2006/relationships/notesSlide" Target="/ppt/notesSlides/notesSlide2.xml" Id="R19dca83554ec48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9b5bc95e8243dc" /><Relationship Type="http://schemas.openxmlformats.org/officeDocument/2006/relationships/image" Target="/ppt/media/image.png" Id="R41014cfa95aa4fd5" /><Relationship Type="http://schemas.openxmlformats.org/officeDocument/2006/relationships/notesSlide" Target="/ppt/notesSlides/notesSlide3.xml" Id="R7f9e5817e1c94f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9c953c06cc4e5b" /><Relationship Type="http://schemas.openxmlformats.org/officeDocument/2006/relationships/image" Target="/ppt/media/image2.png" Id="R6bd4dfbdb2eb4512" /><Relationship Type="http://schemas.openxmlformats.org/officeDocument/2006/relationships/image" Target="/ppt/media/image3.png" Id="R55bccf23ae264daf" /><Relationship Type="http://schemas.openxmlformats.org/officeDocument/2006/relationships/image" Target="/ppt/media/image4.png" Id="R707d149090bf4a9d" /><Relationship Type="http://schemas.openxmlformats.org/officeDocument/2006/relationships/image" Target="/ppt/media/image5.png" Id="Rc61e202bc1234569" /><Relationship Type="http://schemas.openxmlformats.org/officeDocument/2006/relationships/image" Target="/ppt/media/image6.png" Id="R219c83eea99f4220" /><Relationship Type="http://schemas.openxmlformats.org/officeDocument/2006/relationships/image" Target="/ppt/media/image7.png" Id="R39ec4dd68b4747ed" /><Relationship Type="http://schemas.openxmlformats.org/officeDocument/2006/relationships/image" Target="/ppt/media/image8.png" Id="R9d84ed906047418f" /><Relationship Type="http://schemas.openxmlformats.org/officeDocument/2006/relationships/image" Target="/ppt/media/image9.png" Id="Rdd84a982cf7c4639" /><Relationship Type="http://schemas.openxmlformats.org/officeDocument/2006/relationships/image" Target="/ppt/media/image10.png" Id="R304fd742b8c94156" /><Relationship Type="http://schemas.openxmlformats.org/officeDocument/2006/relationships/image" Target="/ppt/media/image11.png" Id="R4af31edecc6d40e5" /><Relationship Type="http://schemas.openxmlformats.org/officeDocument/2006/relationships/image" Target="/ppt/media/image12.png" Id="Rb6c58139d0864b92" /><Relationship Type="http://schemas.openxmlformats.org/officeDocument/2006/relationships/image" Target="/ppt/media/image13.png" Id="Rc9e445be54b94b66" /><Relationship Type="http://schemas.openxmlformats.org/officeDocument/2006/relationships/image" Target="/ppt/media/image14.png" Id="R58a9b737cc3b4e2f" /><Relationship Type="http://schemas.openxmlformats.org/officeDocument/2006/relationships/image" Target="/ppt/media/image15.png" Id="Rf0bf36df02774885" /><Relationship Type="http://schemas.openxmlformats.org/officeDocument/2006/relationships/image" Target="/ppt/media/image16.png" Id="R9fddf50ff1e949e0" /><Relationship Type="http://schemas.openxmlformats.org/officeDocument/2006/relationships/image" Target="/ppt/media/image17.png" Id="R0288b1c1f540447e" /><Relationship Type="http://schemas.openxmlformats.org/officeDocument/2006/relationships/image" Target="/ppt/media/image18.png" Id="R8015dd4deac24603" /><Relationship Type="http://schemas.openxmlformats.org/officeDocument/2006/relationships/image" Target="/ppt/media/image19.png" Id="Rab88ba1adce54574" /><Relationship Type="http://schemas.openxmlformats.org/officeDocument/2006/relationships/image" Target="/ppt/media/image20.png" Id="R446fc987c05e4bb3" /><Relationship Type="http://schemas.openxmlformats.org/officeDocument/2006/relationships/image" Target="/ppt/media/image21.png" Id="R6b2c9fdbdc9b4fa1" /><Relationship Type="http://schemas.openxmlformats.org/officeDocument/2006/relationships/image" Target="/ppt/media/image22.png" Id="R49322ed3e74f423e" /><Relationship Type="http://schemas.openxmlformats.org/officeDocument/2006/relationships/image" Target="/ppt/media/image23.png" Id="Rf1f948e76994427d" /><Relationship Type="http://schemas.openxmlformats.org/officeDocument/2006/relationships/image" Target="/ppt/media/image24.png" Id="Rad9fc28a2ccc4ef4" /><Relationship Type="http://schemas.openxmlformats.org/officeDocument/2006/relationships/image" Target="/ppt/media/image25.png" Id="R1d24f5d66c714e7c" /><Relationship Type="http://schemas.openxmlformats.org/officeDocument/2006/relationships/image" Target="/ppt/media/image26.png" Id="R07ac02796a894bbb" /><Relationship Type="http://schemas.openxmlformats.org/officeDocument/2006/relationships/notesSlide" Target="/ppt/notesSlides/notesSlide4.xml" Id="R9569643eccf949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c66128f9c74cb1" /><Relationship Type="http://schemas.openxmlformats.org/officeDocument/2006/relationships/image" Target="/ppt/media/image27.png" Id="R6727e26ab1ff4793" /><Relationship Type="http://schemas.openxmlformats.org/officeDocument/2006/relationships/notesSlide" Target="/ppt/notesSlides/notesSlide5.xml" Id="R76dc93afbc6f48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a425bfe52b48d8" /><Relationship Type="http://schemas.openxmlformats.org/officeDocument/2006/relationships/image" Target="/ppt/media/image28.png" Id="R1206c9f52f7147b4" /><Relationship Type="http://schemas.openxmlformats.org/officeDocument/2006/relationships/notesSlide" Target="/ppt/notesSlides/notesSlide6.xml" Id="R9e9810bd625042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abe5a604bb48cb" /><Relationship Type="http://schemas.openxmlformats.org/officeDocument/2006/relationships/image" Target="/ppt/media/image29.png" Id="R42477946468b46e3" /><Relationship Type="http://schemas.openxmlformats.org/officeDocument/2006/relationships/notesSlide" Target="/ppt/notesSlides/notesSlide7.xml" Id="Red7ed1b2b1404d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33dcd16fdb494c" /><Relationship Type="http://schemas.openxmlformats.org/officeDocument/2006/relationships/notesSlide" Target="/ppt/notesSlides/notesSlide8.xml" Id="Rc96179b1e7b94c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045f0d911c402e" /><Relationship Type="http://schemas.openxmlformats.org/officeDocument/2006/relationships/notesSlide" Target="/ppt/notesSlides/notesSlide9.xml" Id="Rc73036131fc14563" /></Relationships>
</file>

<file path=ppt/slides/slide1.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30" name="header-label">
            <a:extLst xmlns:a="http://schemas.openxmlformats.org/drawingml/2006/main">
              <a:ext uri="{FF2B5EF4-FFF2-40B4-BE49-F238E27FC236}">
                <a16:creationId xmlns:a16="http://schemas.microsoft.com/office/drawing/2014/main" id="{ADF39735-2F0C-4553-B69A-DC7EBE879C97}"/>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FUND I</a:t>
            </a:r>
          </a:p>
        </p:txBody>
      </p:sp>
      <p:sp>
        <p:nvSpPr>
          <p:cNvPr id="2" name="header-rule">
            <a:extLst xmlns:a="http://schemas.openxmlformats.org/drawingml/2006/main">
              <a:ext uri="{FF2B5EF4-FFF2-40B4-BE49-F238E27FC236}">
                <a16:creationId xmlns:a16="http://schemas.microsoft.com/office/drawing/2014/main" id="{B67BF884-562D-4A06-98F5-050DFE998A92}"/>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C96F55A2-420F-4E70-BA59-D7A0458FE7B0}"/>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numbers-title">
            <a:extLst xmlns:a="http://schemas.openxmlformats.org/drawingml/2006/main">
              <a:ext uri="{FF2B5EF4-FFF2-40B4-BE49-F238E27FC236}">
                <a16:creationId xmlns:a16="http://schemas.microsoft.com/office/drawing/2014/main" id="{386E6136-5EAE-4017-A58F-4EDEDB6BA9B8}"/>
              </a:ext>
            </a:extLst>
          </p:cNvPr>
          <p:cNvSpPr>
            <a:spLocks xmlns:a="http://schemas.openxmlformats.org/drawingml/2006/main" noGrp="1"/>
          </p:cNvSpPr>
          <p:nvPr/>
        </p:nvSpPr>
        <p:spPr>
          <a:xfrm xmlns:a="http://schemas.openxmlformats.org/drawingml/2006/main">
            <a:off x="523875" y="80962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150" b="0">
                <a:solidFill>
                  <a:srgbClr val="062942"/>
                </a:solidFill>
                <a:latin typeface="STIX Two Text"/>
                <a:ea typeface="STIX Two Text"/>
                <a:cs typeface="STIX Two Text"/>
              </a:defRPr>
            </a:pPr>
            <a:r>
              <a:rPr sz="3150" b="0">
                <a:solidFill>
                  <a:srgbClr val="062942"/>
                </a:solidFill>
                <a:latin typeface="STIX Two Text"/>
                <a:ea typeface="STIX Two Text"/>
                <a:cs typeface="STIX Two Text"/>
              </a:rPr>
              <a:t>Antigravity Fund I in numbers</a:t>
            </a:r>
          </a:p>
        </p:txBody>
      </p:sp>
      <p:sp>
        <p:nvSpPr>
          <p:cNvPr id="5" name="value-0">
            <a:extLst xmlns:a="http://schemas.openxmlformats.org/drawingml/2006/main">
              <a:ext uri="{FF2B5EF4-FFF2-40B4-BE49-F238E27FC236}">
                <a16:creationId xmlns:a16="http://schemas.microsoft.com/office/drawing/2014/main" id="{33CCF975-9F6D-41CB-ABE0-6A4D9E7FEF5E}"/>
              </a:ext>
            </a:extLst>
          </p:cNvPr>
          <p:cNvSpPr>
            <a:spLocks xmlns:a="http://schemas.openxmlformats.org/drawingml/2006/main" noGrp="1"/>
          </p:cNvSpPr>
          <p:nvPr/>
        </p:nvSpPr>
        <p:spPr>
          <a:xfrm xmlns:a="http://schemas.openxmlformats.org/drawingml/2006/main">
            <a:off x="523875" y="17145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18 months</a:t>
            </a:r>
          </a:p>
        </p:txBody>
      </p:sp>
      <p:sp>
        <p:nvSpPr>
          <p:cNvPr id="6" name="label-0">
            <a:extLst xmlns:a="http://schemas.openxmlformats.org/drawingml/2006/main">
              <a:ext uri="{FF2B5EF4-FFF2-40B4-BE49-F238E27FC236}">
                <a16:creationId xmlns:a16="http://schemas.microsoft.com/office/drawing/2014/main" id="{C5796680-1748-4C1C-813E-A565154A4027}"/>
              </a:ext>
            </a:extLst>
          </p:cNvPr>
          <p:cNvSpPr>
            <a:spLocks xmlns:a="http://schemas.openxmlformats.org/drawingml/2006/main" noGrp="1"/>
          </p:cNvSpPr>
          <p:nvPr/>
        </p:nvSpPr>
        <p:spPr>
          <a:xfrm xmlns:a="http://schemas.openxmlformats.org/drawingml/2006/main">
            <a:off x="523875" y="23241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$2.1M Fund I</a:t>
            </a:r>
          </a:p>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Since final close</a:t>
            </a:r>
          </a:p>
        </p:txBody>
      </p:sp>
      <p:sp>
        <p:nvSpPr>
          <p:cNvPr id="7" name="metric-line-0">
            <a:extLst xmlns:a="http://schemas.openxmlformats.org/drawingml/2006/main">
              <a:ext uri="{FF2B5EF4-FFF2-40B4-BE49-F238E27FC236}">
                <a16:creationId xmlns:a16="http://schemas.microsoft.com/office/drawing/2014/main" id="{72E8493A-95E6-45A7-98A8-122C6BD3D535}"/>
              </a:ext>
            </a:extLst>
          </p:cNvPr>
          <p:cNvSpPr>
            <a:spLocks xmlns:a="http://schemas.openxmlformats.org/drawingml/2006/main" noGrp="1"/>
          </p:cNvSpPr>
          <p:nvPr/>
        </p:nvSpPr>
        <p:spPr>
          <a:xfrm xmlns:a="http://schemas.openxmlformats.org/drawingml/2006/main">
            <a:off x="523875" y="30099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8" name="value-1">
            <a:extLst xmlns:a="http://schemas.openxmlformats.org/drawingml/2006/main">
              <a:ext uri="{FF2B5EF4-FFF2-40B4-BE49-F238E27FC236}">
                <a16:creationId xmlns:a16="http://schemas.microsoft.com/office/drawing/2014/main" id="{27293963-8C6C-460C-990F-D58E312CA7E6}"/>
              </a:ext>
            </a:extLst>
          </p:cNvPr>
          <p:cNvSpPr>
            <a:spLocks xmlns:a="http://schemas.openxmlformats.org/drawingml/2006/main" noGrp="1"/>
          </p:cNvSpPr>
          <p:nvPr/>
        </p:nvSpPr>
        <p:spPr>
          <a:xfrm xmlns:a="http://schemas.openxmlformats.org/drawingml/2006/main">
            <a:off x="4333875" y="17145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21</a:t>
            </a:r>
          </a:p>
        </p:txBody>
      </p:sp>
      <p:sp>
        <p:nvSpPr>
          <p:cNvPr id="9" name="label-1">
            <a:extLst xmlns:a="http://schemas.openxmlformats.org/drawingml/2006/main">
              <a:ext uri="{FF2B5EF4-FFF2-40B4-BE49-F238E27FC236}">
                <a16:creationId xmlns:a16="http://schemas.microsoft.com/office/drawing/2014/main" id="{E94737DE-704A-43F6-AF94-CF95DAB87AE5}"/>
              </a:ext>
            </a:extLst>
          </p:cNvPr>
          <p:cNvSpPr>
            <a:spLocks xmlns:a="http://schemas.openxmlformats.org/drawingml/2006/main" noGrp="1"/>
          </p:cNvSpPr>
          <p:nvPr/>
        </p:nvSpPr>
        <p:spPr>
          <a:xfrm xmlns:a="http://schemas.openxmlformats.org/drawingml/2006/main">
            <a:off x="4333875" y="23241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Companies backed</a:t>
            </a:r>
          </a:p>
        </p:txBody>
      </p:sp>
      <p:sp>
        <p:nvSpPr>
          <p:cNvPr id="10" name="metric-line-1">
            <a:extLst xmlns:a="http://schemas.openxmlformats.org/drawingml/2006/main">
              <a:ext uri="{FF2B5EF4-FFF2-40B4-BE49-F238E27FC236}">
                <a16:creationId xmlns:a16="http://schemas.microsoft.com/office/drawing/2014/main" id="{4DA80EAB-229B-4063-AE35-E59B0C9E0419}"/>
              </a:ext>
            </a:extLst>
          </p:cNvPr>
          <p:cNvSpPr>
            <a:spLocks xmlns:a="http://schemas.openxmlformats.org/drawingml/2006/main" noGrp="1"/>
          </p:cNvSpPr>
          <p:nvPr/>
        </p:nvSpPr>
        <p:spPr>
          <a:xfrm xmlns:a="http://schemas.openxmlformats.org/drawingml/2006/main">
            <a:off x="4333875" y="30099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11" name="value-2">
            <a:extLst xmlns:a="http://schemas.openxmlformats.org/drawingml/2006/main">
              <a:ext uri="{FF2B5EF4-FFF2-40B4-BE49-F238E27FC236}">
                <a16:creationId xmlns:a16="http://schemas.microsoft.com/office/drawing/2014/main" id="{BD6243F1-6AB4-4C00-BDF6-314587C0B357}"/>
              </a:ext>
            </a:extLst>
          </p:cNvPr>
          <p:cNvSpPr>
            <a:spLocks xmlns:a="http://schemas.openxmlformats.org/drawingml/2006/main" noGrp="1"/>
          </p:cNvSpPr>
          <p:nvPr/>
        </p:nvSpPr>
        <p:spPr>
          <a:xfrm xmlns:a="http://schemas.openxmlformats.org/drawingml/2006/main">
            <a:off x="8143875" y="17145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$90M+</a:t>
            </a:r>
          </a:p>
        </p:txBody>
      </p:sp>
      <p:sp>
        <p:nvSpPr>
          <p:cNvPr id="12" name="label-2">
            <a:extLst xmlns:a="http://schemas.openxmlformats.org/drawingml/2006/main">
              <a:ext uri="{FF2B5EF4-FFF2-40B4-BE49-F238E27FC236}">
                <a16:creationId xmlns:a16="http://schemas.microsoft.com/office/drawing/2014/main" id="{678F4B0B-AFB6-465F-A7CC-6C820BD62884}"/>
              </a:ext>
            </a:extLst>
          </p:cNvPr>
          <p:cNvSpPr>
            <a:spLocks xmlns:a="http://schemas.openxmlformats.org/drawingml/2006/main" noGrp="1"/>
          </p:cNvSpPr>
          <p:nvPr/>
        </p:nvSpPr>
        <p:spPr>
          <a:xfrm xmlns:a="http://schemas.openxmlformats.org/drawingml/2006/main">
            <a:off x="8143875" y="23241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Raised by eight portfolio companies</a:t>
            </a:r>
          </a:p>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since our first investment</a:t>
            </a:r>
          </a:p>
        </p:txBody>
      </p:sp>
      <p:sp>
        <p:nvSpPr>
          <p:cNvPr id="13" name="metric-line-2">
            <a:extLst xmlns:a="http://schemas.openxmlformats.org/drawingml/2006/main">
              <a:ext uri="{FF2B5EF4-FFF2-40B4-BE49-F238E27FC236}">
                <a16:creationId xmlns:a16="http://schemas.microsoft.com/office/drawing/2014/main" id="{70DC1EA9-0991-4FA5-8052-B344C50CB1BA}"/>
              </a:ext>
            </a:extLst>
          </p:cNvPr>
          <p:cNvSpPr>
            <a:spLocks xmlns:a="http://schemas.openxmlformats.org/drawingml/2006/main" noGrp="1"/>
          </p:cNvSpPr>
          <p:nvPr/>
        </p:nvSpPr>
        <p:spPr>
          <a:xfrm xmlns:a="http://schemas.openxmlformats.org/drawingml/2006/main">
            <a:off x="8143875" y="30099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14" name="value-3">
            <a:extLst xmlns:a="http://schemas.openxmlformats.org/drawingml/2006/main">
              <a:ext uri="{FF2B5EF4-FFF2-40B4-BE49-F238E27FC236}">
                <a16:creationId xmlns:a16="http://schemas.microsoft.com/office/drawing/2014/main" id="{36A13C7F-605A-4402-83BE-56050F9C941C}"/>
              </a:ext>
            </a:extLst>
          </p:cNvPr>
          <p:cNvSpPr>
            <a:spLocks xmlns:a="http://schemas.openxmlformats.org/drawingml/2006/main" noGrp="1"/>
          </p:cNvSpPr>
          <p:nvPr/>
        </p:nvSpPr>
        <p:spPr>
          <a:xfrm xmlns:a="http://schemas.openxmlformats.org/drawingml/2006/main">
            <a:off x="523875" y="32004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B65F1F"/>
                </a:solidFill>
                <a:latin typeface="STIX Two Text"/>
                <a:ea typeface="STIX Two Text"/>
                <a:cs typeface="STIX Two Text"/>
              </a:defRPr>
            </a:pPr>
            <a:r>
              <a:rPr sz="3375" b="0">
                <a:solidFill>
                  <a:srgbClr val="B65F1F"/>
                </a:solidFill>
                <a:latin typeface="STIX Two Text"/>
                <a:ea typeface="STIX Two Text"/>
                <a:cs typeface="STIX Two Text"/>
              </a:rPr>
              <a:t>$XX</a:t>
            </a:r>
          </a:p>
        </p:txBody>
      </p:sp>
      <p:sp>
        <p:nvSpPr>
          <p:cNvPr id="15" name="label-3">
            <a:extLst xmlns:a="http://schemas.openxmlformats.org/drawingml/2006/main">
              <a:ext uri="{FF2B5EF4-FFF2-40B4-BE49-F238E27FC236}">
                <a16:creationId xmlns:a16="http://schemas.microsoft.com/office/drawing/2014/main" id="{0F846650-5C13-49A6-A8D8-17005E3D1105}"/>
              </a:ext>
            </a:extLst>
          </p:cNvPr>
          <p:cNvSpPr>
            <a:spLocks xmlns:a="http://schemas.openxmlformats.org/drawingml/2006/main" noGrp="1"/>
          </p:cNvSpPr>
          <p:nvPr/>
        </p:nvSpPr>
        <p:spPr>
          <a:xfrm xmlns:a="http://schemas.openxmlformats.org/drawingml/2006/main">
            <a:off x="523875" y="38100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Capital invested</a:t>
            </a:r>
          </a:p>
        </p:txBody>
      </p:sp>
      <p:sp>
        <p:nvSpPr>
          <p:cNvPr id="16" name="metric-line-3">
            <a:extLst xmlns:a="http://schemas.openxmlformats.org/drawingml/2006/main">
              <a:ext uri="{FF2B5EF4-FFF2-40B4-BE49-F238E27FC236}">
                <a16:creationId xmlns:a16="http://schemas.microsoft.com/office/drawing/2014/main" id="{860CE218-6A16-49AA-8D0D-D577EA543424}"/>
              </a:ext>
            </a:extLst>
          </p:cNvPr>
          <p:cNvSpPr>
            <a:spLocks xmlns:a="http://schemas.openxmlformats.org/drawingml/2006/main" noGrp="1"/>
          </p:cNvSpPr>
          <p:nvPr/>
        </p:nvSpPr>
        <p:spPr>
          <a:xfrm xmlns:a="http://schemas.openxmlformats.org/drawingml/2006/main">
            <a:off x="523875" y="44958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17" name="value-4">
            <a:extLst xmlns:a="http://schemas.openxmlformats.org/drawingml/2006/main">
              <a:ext uri="{FF2B5EF4-FFF2-40B4-BE49-F238E27FC236}">
                <a16:creationId xmlns:a16="http://schemas.microsoft.com/office/drawing/2014/main" id="{E4C6329D-26D2-43B1-B04B-D48B936485EB}"/>
              </a:ext>
            </a:extLst>
          </p:cNvPr>
          <p:cNvSpPr>
            <a:spLocks xmlns:a="http://schemas.openxmlformats.org/drawingml/2006/main" noGrp="1"/>
          </p:cNvSpPr>
          <p:nvPr/>
        </p:nvSpPr>
        <p:spPr>
          <a:xfrm xmlns:a="http://schemas.openxmlformats.org/drawingml/2006/main">
            <a:off x="4333875" y="32004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B65F1F"/>
                </a:solidFill>
                <a:latin typeface="STIX Two Text"/>
                <a:ea typeface="STIX Two Text"/>
                <a:cs typeface="STIX Two Text"/>
              </a:defRPr>
            </a:pPr>
            <a:r>
              <a:rPr sz="3375" b="0">
                <a:solidFill>
                  <a:srgbClr val="B65F1F"/>
                </a:solidFill>
                <a:latin typeface="STIX Two Text"/>
                <a:ea typeface="STIX Two Text"/>
                <a:cs typeface="STIX Two Text"/>
              </a:rPr>
              <a:t>$XX</a:t>
            </a:r>
          </a:p>
        </p:txBody>
      </p:sp>
      <p:sp>
        <p:nvSpPr>
          <p:cNvPr id="18" name="label-4">
            <a:extLst xmlns:a="http://schemas.openxmlformats.org/drawingml/2006/main">
              <a:ext uri="{FF2B5EF4-FFF2-40B4-BE49-F238E27FC236}">
                <a16:creationId xmlns:a16="http://schemas.microsoft.com/office/drawing/2014/main" id="{2DC305E7-16E1-4862-A554-0D837ACD9A12}"/>
              </a:ext>
            </a:extLst>
          </p:cNvPr>
          <p:cNvSpPr>
            <a:spLocks xmlns:a="http://schemas.openxmlformats.org/drawingml/2006/main" noGrp="1"/>
          </p:cNvSpPr>
          <p:nvPr/>
        </p:nvSpPr>
        <p:spPr>
          <a:xfrm xmlns:a="http://schemas.openxmlformats.org/drawingml/2006/main">
            <a:off x="4333875" y="38100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Capital left to deploy</a:t>
            </a:r>
          </a:p>
        </p:txBody>
      </p:sp>
      <p:sp>
        <p:nvSpPr>
          <p:cNvPr id="19" name="metric-line-4">
            <a:extLst xmlns:a="http://schemas.openxmlformats.org/drawingml/2006/main">
              <a:ext uri="{FF2B5EF4-FFF2-40B4-BE49-F238E27FC236}">
                <a16:creationId xmlns:a16="http://schemas.microsoft.com/office/drawing/2014/main" id="{10801C57-9EAE-421D-9947-295AC76353E3}"/>
              </a:ext>
            </a:extLst>
          </p:cNvPr>
          <p:cNvSpPr>
            <a:spLocks xmlns:a="http://schemas.openxmlformats.org/drawingml/2006/main" noGrp="1"/>
          </p:cNvSpPr>
          <p:nvPr/>
        </p:nvSpPr>
        <p:spPr>
          <a:xfrm xmlns:a="http://schemas.openxmlformats.org/drawingml/2006/main">
            <a:off x="4333875" y="44958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20" name="value-5">
            <a:extLst xmlns:a="http://schemas.openxmlformats.org/drawingml/2006/main">
              <a:ext uri="{FF2B5EF4-FFF2-40B4-BE49-F238E27FC236}">
                <a16:creationId xmlns:a16="http://schemas.microsoft.com/office/drawing/2014/main" id="{8C35B1A6-2686-4711-90D0-7F74268FCD42}"/>
              </a:ext>
            </a:extLst>
          </p:cNvPr>
          <p:cNvSpPr>
            <a:spLocks xmlns:a="http://schemas.openxmlformats.org/drawingml/2006/main" noGrp="1"/>
          </p:cNvSpPr>
          <p:nvPr/>
        </p:nvSpPr>
        <p:spPr>
          <a:xfrm xmlns:a="http://schemas.openxmlformats.org/drawingml/2006/main">
            <a:off x="8143875" y="32004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B65F1F"/>
                </a:solidFill>
                <a:latin typeface="STIX Two Text"/>
                <a:ea typeface="STIX Two Text"/>
                <a:cs typeface="STIX Two Text"/>
              </a:defRPr>
            </a:pPr>
            <a:r>
              <a:rPr sz="3375" b="0">
                <a:solidFill>
                  <a:srgbClr val="B65F1F"/>
                </a:solidFill>
                <a:latin typeface="STIX Two Text"/>
                <a:ea typeface="STIX Two Text"/>
                <a:cs typeface="STIX Two Text"/>
              </a:rPr>
              <a:t>XX / XX</a:t>
            </a:r>
          </a:p>
        </p:txBody>
      </p:sp>
      <p:sp>
        <p:nvSpPr>
          <p:cNvPr id="21" name="label-5">
            <a:extLst xmlns:a="http://schemas.openxmlformats.org/drawingml/2006/main">
              <a:ext uri="{FF2B5EF4-FFF2-40B4-BE49-F238E27FC236}">
                <a16:creationId xmlns:a16="http://schemas.microsoft.com/office/drawing/2014/main" id="{E76EEA48-D60C-4EA3-98A5-25307E631BF6}"/>
              </a:ext>
            </a:extLst>
          </p:cNvPr>
          <p:cNvSpPr>
            <a:spLocks xmlns:a="http://schemas.openxmlformats.org/drawingml/2006/main" noGrp="1"/>
          </p:cNvSpPr>
          <p:nvPr/>
        </p:nvSpPr>
        <p:spPr>
          <a:xfrm xmlns:a="http://schemas.openxmlformats.org/drawingml/2006/main">
            <a:off x="8143875" y="38100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TVPI / DPI</a:t>
            </a:r>
          </a:p>
        </p:txBody>
      </p:sp>
      <p:sp>
        <p:nvSpPr>
          <p:cNvPr id="22" name="metric-line-5">
            <a:extLst xmlns:a="http://schemas.openxmlformats.org/drawingml/2006/main">
              <a:ext uri="{FF2B5EF4-FFF2-40B4-BE49-F238E27FC236}">
                <a16:creationId xmlns:a16="http://schemas.microsoft.com/office/drawing/2014/main" id="{813E91E5-AEC3-4F63-84DA-BD91E19360D4}"/>
              </a:ext>
            </a:extLst>
          </p:cNvPr>
          <p:cNvSpPr>
            <a:spLocks xmlns:a="http://schemas.openxmlformats.org/drawingml/2006/main" noGrp="1"/>
          </p:cNvSpPr>
          <p:nvPr/>
        </p:nvSpPr>
        <p:spPr>
          <a:xfrm xmlns:a="http://schemas.openxmlformats.org/drawingml/2006/main">
            <a:off x="8143875" y="4495800"/>
            <a:ext cx="3333750" cy="0"/>
          </a:xfrm>
          <a:prstGeom xmlns:a="http://schemas.openxmlformats.org/drawingml/2006/main" prst="line">
            <a:avLst/>
          </a:prstGeom>
          <a:noFill xmlns:a="http://schemas.openxmlformats.org/drawingml/2006/main"/>
          <a:ln xmlns:a="http://schemas.openxmlformats.org/drawingml/2006/main" w="6668">
            <a:solidFill>
              <a:srgbClr val="062942">
                <a:alpha val="20000"/>
              </a:srgbClr>
            </a:solidFill>
            <a:prstDash val="solid"/>
          </a:ln>
        </p:spPr>
      </p:sp>
      <p:sp>
        <p:nvSpPr>
          <p:cNvPr id="23" name="value-6">
            <a:extLst xmlns:a="http://schemas.openxmlformats.org/drawingml/2006/main">
              <a:ext uri="{FF2B5EF4-FFF2-40B4-BE49-F238E27FC236}">
                <a16:creationId xmlns:a16="http://schemas.microsoft.com/office/drawing/2014/main" id="{7936601E-6193-4BFF-A8CF-50D82031715F}"/>
              </a:ext>
            </a:extLst>
          </p:cNvPr>
          <p:cNvSpPr>
            <a:spLocks xmlns:a="http://schemas.openxmlformats.org/drawingml/2006/main" noGrp="1"/>
          </p:cNvSpPr>
          <p:nvPr/>
        </p:nvSpPr>
        <p:spPr>
          <a:xfrm xmlns:a="http://schemas.openxmlformats.org/drawingml/2006/main">
            <a:off x="523875" y="46863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3 / 33</a:t>
            </a:r>
          </a:p>
        </p:txBody>
      </p:sp>
      <p:sp>
        <p:nvSpPr>
          <p:cNvPr id="24" name="label-6">
            <a:extLst xmlns:a="http://schemas.openxmlformats.org/drawingml/2006/main">
              <a:ext uri="{FF2B5EF4-FFF2-40B4-BE49-F238E27FC236}">
                <a16:creationId xmlns:a16="http://schemas.microsoft.com/office/drawing/2014/main" id="{F701F634-B58C-456C-A862-24C72E3AABEA}"/>
              </a:ext>
            </a:extLst>
          </p:cNvPr>
          <p:cNvSpPr>
            <a:spLocks xmlns:a="http://schemas.openxmlformats.org/drawingml/2006/main" noGrp="1"/>
          </p:cNvSpPr>
          <p:nvPr/>
        </p:nvSpPr>
        <p:spPr>
          <a:xfrm xmlns:a="http://schemas.openxmlformats.org/drawingml/2006/main">
            <a:off x="523875" y="52959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Puentes cohorts / fellows</a:t>
            </a:r>
          </a:p>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20 fellows living in SF</a:t>
            </a:r>
          </a:p>
        </p:txBody>
      </p:sp>
      <p:sp>
        <p:nvSpPr>
          <p:cNvPr id="25" name="value-7">
            <a:extLst xmlns:a="http://schemas.openxmlformats.org/drawingml/2006/main">
              <a:ext uri="{FF2B5EF4-FFF2-40B4-BE49-F238E27FC236}">
                <a16:creationId xmlns:a16="http://schemas.microsoft.com/office/drawing/2014/main" id="{6833305B-8432-43F9-8EAA-0BA8324469AF}"/>
              </a:ext>
            </a:extLst>
          </p:cNvPr>
          <p:cNvSpPr>
            <a:spLocks xmlns:a="http://schemas.openxmlformats.org/drawingml/2006/main" noGrp="1"/>
          </p:cNvSpPr>
          <p:nvPr/>
        </p:nvSpPr>
        <p:spPr>
          <a:xfrm xmlns:a="http://schemas.openxmlformats.org/drawingml/2006/main">
            <a:off x="4333875" y="46863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11</a:t>
            </a:r>
          </a:p>
        </p:txBody>
      </p:sp>
      <p:sp>
        <p:nvSpPr>
          <p:cNvPr id="26" name="label-7">
            <a:extLst xmlns:a="http://schemas.openxmlformats.org/drawingml/2006/main">
              <a:ext uri="{FF2B5EF4-FFF2-40B4-BE49-F238E27FC236}">
                <a16:creationId xmlns:a16="http://schemas.microsoft.com/office/drawing/2014/main" id="{B4E9B6F2-9BE8-4FD7-8FAF-160BE2DB221E}"/>
              </a:ext>
            </a:extLst>
          </p:cNvPr>
          <p:cNvSpPr>
            <a:spLocks xmlns:a="http://schemas.openxmlformats.org/drawingml/2006/main" noGrp="1"/>
          </p:cNvSpPr>
          <p:nvPr/>
        </p:nvSpPr>
        <p:spPr>
          <a:xfrm xmlns:a="http://schemas.openxmlformats.org/drawingml/2006/main">
            <a:off x="4333875" y="52959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Portfolio hires we helped make</a:t>
            </a:r>
          </a:p>
        </p:txBody>
      </p:sp>
      <p:sp>
        <p:nvSpPr>
          <p:cNvPr id="27" name="value-8">
            <a:extLst xmlns:a="http://schemas.openxmlformats.org/drawingml/2006/main">
              <a:ext uri="{FF2B5EF4-FFF2-40B4-BE49-F238E27FC236}">
                <a16:creationId xmlns:a16="http://schemas.microsoft.com/office/drawing/2014/main" id="{16BE639A-F57E-4161-88E2-0144F2DC88D1}"/>
              </a:ext>
            </a:extLst>
          </p:cNvPr>
          <p:cNvSpPr>
            <a:spLocks xmlns:a="http://schemas.openxmlformats.org/drawingml/2006/main" noGrp="1"/>
          </p:cNvSpPr>
          <p:nvPr/>
        </p:nvSpPr>
        <p:spPr>
          <a:xfrm xmlns:a="http://schemas.openxmlformats.org/drawingml/2006/main">
            <a:off x="8143875" y="4686300"/>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375" b="0">
                <a:solidFill>
                  <a:srgbClr val="062942"/>
                </a:solidFill>
                <a:latin typeface="STIX Two Text"/>
                <a:ea typeface="STIX Two Text"/>
                <a:cs typeface="STIX Two Text"/>
              </a:defRPr>
            </a:pPr>
            <a:r>
              <a:rPr sz="3375" b="0">
                <a:solidFill>
                  <a:srgbClr val="062942"/>
                </a:solidFill>
                <a:latin typeface="STIX Two Text"/>
                <a:ea typeface="STIX Two Text"/>
                <a:cs typeface="STIX Two Text"/>
              </a:rPr>
              <a:t>2</a:t>
            </a:r>
          </a:p>
        </p:txBody>
      </p:sp>
      <p:sp>
        <p:nvSpPr>
          <p:cNvPr id="28" name="label-8">
            <a:extLst xmlns:a="http://schemas.openxmlformats.org/drawingml/2006/main">
              <a:ext uri="{FF2B5EF4-FFF2-40B4-BE49-F238E27FC236}">
                <a16:creationId xmlns:a16="http://schemas.microsoft.com/office/drawing/2014/main" id="{44FE270A-2EB5-4315-8157-8F1A329BE41B}"/>
              </a:ext>
            </a:extLst>
          </p:cNvPr>
          <p:cNvSpPr>
            <a:spLocks xmlns:a="http://schemas.openxmlformats.org/drawingml/2006/main" noGrp="1"/>
          </p:cNvSpPr>
          <p:nvPr/>
        </p:nvSpPr>
        <p:spPr>
          <a:xfrm xmlns:a="http://schemas.openxmlformats.org/drawingml/2006/main">
            <a:off x="8143875" y="52959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New investments since our last letter</a:t>
            </a:r>
          </a:p>
          <a:p xmlns:a="http://schemas.openxmlformats.org/drawingml/2006/main">
            <a:pPr algn="l">
              <a:lnSpc>
                <a:spcPct val="118000"/>
              </a:lnSpc>
              <a:buNone/>
              <a:defRPr sz="1388" b="0">
                <a:solidFill>
                  <a:srgbClr val="062942"/>
                </a:solidFill>
                <a:latin typeface="Avenir Next"/>
                <a:ea typeface="Avenir Next"/>
                <a:cs typeface="Avenir Next"/>
              </a:defRPr>
            </a:pPr>
            <a:r>
              <a:rPr sz="1388" b="0">
                <a:solidFill>
                  <a:srgbClr val="062942"/>
                </a:solidFill>
                <a:latin typeface="Avenir Next"/>
                <a:ea typeface="Avenir Next"/>
                <a:cs typeface="Avenir Next"/>
              </a:rPr>
              <a:t>Place Labs and Intelligent Machines</a:t>
            </a:r>
          </a:p>
        </p:txBody>
      </p:sp>
      <p:sp>
        <p:nvSpPr>
          <p:cNvPr id="29" name="numbers-status">
            <a:extLst xmlns:a="http://schemas.openxmlformats.org/drawingml/2006/main">
              <a:ext uri="{FF2B5EF4-FFF2-40B4-BE49-F238E27FC236}">
                <a16:creationId xmlns:a16="http://schemas.microsoft.com/office/drawing/2014/main" id="{2987DAF0-97C1-413B-9B6E-06104A07AA69}"/>
              </a:ext>
            </a:extLst>
          </p:cNvPr>
          <p:cNvSpPr>
            <a:spLocks xmlns:a="http://schemas.openxmlformats.org/drawingml/2006/main" noGrp="1"/>
          </p:cNvSpPr>
          <p:nvPr/>
        </p:nvSpPr>
        <p:spPr>
          <a:xfrm xmlns:a="http://schemas.openxmlformats.org/drawingml/2006/main">
            <a:off x="523875" y="646747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975" b="0">
                <a:solidFill>
                  <a:srgbClr val="586675"/>
                </a:solidFill>
                <a:latin typeface="Menlo"/>
                <a:ea typeface="Menlo"/>
                <a:cs typeface="Menlo"/>
              </a:defRPr>
            </a:pPr>
            <a:r>
              <a:rPr sz="975" b="0">
                <a:solidFill>
                  <a:srgbClr val="586675"/>
                </a:solidFill>
                <a:latin typeface="Menlo"/>
                <a:ea typeface="Menlo"/>
                <a:cs typeface="Menlo"/>
              </a:rPr>
              <a:t>Working figures as of September 11. Capital, TVPI and DPI remain to be finalized.</a:t>
            </a:r>
          </a:p>
        </p:txBody>
      </p:sp>
    </p:spTree>
    <p:extLst>
      <p:ext uri="{BB962C8B-B14F-4D97-AF65-F5344CB8AC3E}">
        <p14:creationId xmlns:p14="http://schemas.microsoft.com/office/powerpoint/2010/main" val="60740448"/>
      </p:ext>
    </p:extLst>
  </p:cSld>
</p:sld>
</file>

<file path=ppt/slides/slide2.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23" name="header-label">
            <a:extLst xmlns:a="http://schemas.openxmlformats.org/drawingml/2006/main">
              <a:ext uri="{FF2B5EF4-FFF2-40B4-BE49-F238E27FC236}">
                <a16:creationId xmlns:a16="http://schemas.microsoft.com/office/drawing/2014/main" id="{04774EB1-EAD0-4978-A08B-61B449084246}"/>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INVESTMENT STRATEGY</a:t>
            </a:r>
          </a:p>
        </p:txBody>
      </p:sp>
      <p:sp>
        <p:nvSpPr>
          <p:cNvPr id="2" name="header-rule">
            <a:extLst xmlns:a="http://schemas.openxmlformats.org/drawingml/2006/main">
              <a:ext uri="{FF2B5EF4-FFF2-40B4-BE49-F238E27FC236}">
                <a16:creationId xmlns:a16="http://schemas.microsoft.com/office/drawing/2014/main" id="{61A4FCC4-ACC9-4099-A840-BA49B32256FE}"/>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68679C9D-62F4-4008-8154-8A93DDF1EA0C}"/>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slide-title">
            <a:extLst xmlns:a="http://schemas.openxmlformats.org/drawingml/2006/main">
              <a:ext uri="{FF2B5EF4-FFF2-40B4-BE49-F238E27FC236}">
                <a16:creationId xmlns:a16="http://schemas.microsoft.com/office/drawing/2014/main" id="{37A5335B-65F0-4F13-B5DF-4793D6F379AC}"/>
              </a:ext>
            </a:extLst>
          </p:cNvPr>
          <p:cNvSpPr>
            <a:spLocks xmlns:a="http://schemas.openxmlformats.org/drawingml/2006/main" noGrp="1"/>
          </p:cNvSpPr>
          <p:nvPr/>
        </p:nvSpPr>
        <p:spPr>
          <a:xfrm xmlns:a="http://schemas.openxmlformats.org/drawingml/2006/main">
            <a:off x="523875" y="790575"/>
            <a:ext cx="1109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000" b="0">
                <a:solidFill>
                  <a:srgbClr val="062942"/>
                </a:solidFill>
                <a:latin typeface="STIX Two Text"/>
                <a:ea typeface="STIX Two Text"/>
                <a:cs typeface="STIX Two Text"/>
              </a:defRPr>
            </a:pPr>
            <a:r>
              <a:rPr sz="3000" b="0">
                <a:solidFill>
                  <a:srgbClr val="062942"/>
                </a:solidFill>
                <a:latin typeface="STIX Two Text"/>
                <a:ea typeface="STIX Two Text"/>
                <a:cs typeface="STIX Two Text"/>
              </a:rPr>
              <a:t>The opportunity, through our companies</a:t>
            </a:r>
          </a:p>
        </p:txBody>
      </p:sp>
      <p:sp>
        <p:nvSpPr>
          <p:cNvPr id="5" name="new-stack-heading">
            <a:extLst xmlns:a="http://schemas.openxmlformats.org/drawingml/2006/main">
              <a:ext uri="{FF2B5EF4-FFF2-40B4-BE49-F238E27FC236}">
                <a16:creationId xmlns:a16="http://schemas.microsoft.com/office/drawing/2014/main" id="{A8103E81-B62B-4A3A-9CF7-D22CB919D953}"/>
              </a:ext>
            </a:extLst>
          </p:cNvPr>
          <p:cNvSpPr>
            <a:spLocks xmlns:a="http://schemas.openxmlformats.org/drawingml/2006/main" noGrp="1"/>
          </p:cNvSpPr>
          <p:nvPr/>
        </p:nvSpPr>
        <p:spPr>
          <a:xfrm xmlns:a="http://schemas.openxmlformats.org/drawingml/2006/main">
            <a:off x="523875" y="16287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1">
                <a:solidFill>
                  <a:srgbClr val="062942"/>
                </a:solidFill>
                <a:latin typeface="Avenir Next"/>
                <a:ea typeface="Avenir Next"/>
                <a:cs typeface="Avenir Next"/>
              </a:defRPr>
            </a:pPr>
            <a:r>
              <a:rPr sz="2250" b="1">
                <a:solidFill>
                  <a:srgbClr val="062942"/>
                </a:solidFill>
                <a:latin typeface="Avenir Next"/>
                <a:ea typeface="Avenir Next"/>
                <a:cs typeface="Avenir Next"/>
              </a:rPr>
              <a:t>The New Stack</a:t>
            </a:r>
          </a:p>
        </p:txBody>
      </p:sp>
      <p:sp>
        <p:nvSpPr>
          <p:cNvPr id="6" name="new-company-heading">
            <a:extLst xmlns:a="http://schemas.openxmlformats.org/drawingml/2006/main">
              <a:ext uri="{FF2B5EF4-FFF2-40B4-BE49-F238E27FC236}">
                <a16:creationId xmlns:a16="http://schemas.microsoft.com/office/drawing/2014/main" id="{63425078-F05E-418A-BC26-AF4CDC58DF1F}"/>
              </a:ext>
            </a:extLst>
          </p:cNvPr>
          <p:cNvSpPr>
            <a:spLocks xmlns:a="http://schemas.openxmlformats.org/drawingml/2006/main" noGrp="1"/>
          </p:cNvSpPr>
          <p:nvPr/>
        </p:nvSpPr>
        <p:spPr>
          <a:xfrm xmlns:a="http://schemas.openxmlformats.org/drawingml/2006/main">
            <a:off x="6477000" y="16287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1">
                <a:solidFill>
                  <a:srgbClr val="062942"/>
                </a:solidFill>
                <a:latin typeface="Avenir Next"/>
                <a:ea typeface="Avenir Next"/>
                <a:cs typeface="Avenir Next"/>
              </a:defRPr>
            </a:pPr>
            <a:r>
              <a:rPr sz="2250" b="1">
                <a:solidFill>
                  <a:srgbClr val="062942"/>
                </a:solidFill>
                <a:latin typeface="Avenir Next"/>
                <a:ea typeface="Avenir Next"/>
                <a:cs typeface="Avenir Next"/>
              </a:rPr>
              <a:t>The New Company</a:t>
            </a:r>
          </a:p>
        </p:txBody>
      </p:sp>
      <p:sp>
        <p:nvSpPr>
          <p:cNvPr id="7" name="new-stack-definition">
            <a:extLst xmlns:a="http://schemas.openxmlformats.org/drawingml/2006/main">
              <a:ext uri="{FF2B5EF4-FFF2-40B4-BE49-F238E27FC236}">
                <a16:creationId xmlns:a16="http://schemas.microsoft.com/office/drawing/2014/main" id="{B191EF94-240C-4164-99E5-0DE2D294965D}"/>
              </a:ext>
            </a:extLst>
          </p:cNvPr>
          <p:cNvSpPr>
            <a:spLocks xmlns:a="http://schemas.openxmlformats.org/drawingml/2006/main" noGrp="1"/>
          </p:cNvSpPr>
          <p:nvPr/>
        </p:nvSpPr>
        <p:spPr>
          <a:xfrm xmlns:a="http://schemas.openxmlformats.org/drawingml/2006/main">
            <a:off x="523875" y="20859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425" b="0">
                <a:solidFill>
                  <a:srgbClr val="062942"/>
                </a:solidFill>
                <a:latin typeface="STIX Two Text"/>
                <a:ea typeface="STIX Two Text"/>
                <a:cs typeface="STIX Two Text"/>
              </a:defRPr>
            </a:pPr>
            <a:r>
              <a:rPr sz="1425" b="0">
                <a:solidFill>
                  <a:srgbClr val="062942"/>
                </a:solidFill>
                <a:latin typeface="STIX Two Text"/>
                <a:ea typeface="STIX Two Text"/>
                <a:cs typeface="STIX Two Text"/>
              </a:rPr>
              <a:t>Tools that make AI reliable and useful</a:t>
            </a:r>
          </a:p>
        </p:txBody>
      </p:sp>
      <p:sp>
        <p:nvSpPr>
          <p:cNvPr id="8" name="new-company-definition">
            <a:extLst xmlns:a="http://schemas.openxmlformats.org/drawingml/2006/main">
              <a:ext uri="{FF2B5EF4-FFF2-40B4-BE49-F238E27FC236}">
                <a16:creationId xmlns:a16="http://schemas.microsoft.com/office/drawing/2014/main" id="{AF6008AF-1D54-4FB4-AAE2-5C5EAEC4499E}"/>
              </a:ext>
            </a:extLst>
          </p:cNvPr>
          <p:cNvSpPr>
            <a:spLocks xmlns:a="http://schemas.openxmlformats.org/drawingml/2006/main" noGrp="1"/>
          </p:cNvSpPr>
          <p:nvPr/>
        </p:nvSpPr>
        <p:spPr>
          <a:xfrm xmlns:a="http://schemas.openxmlformats.org/drawingml/2006/main">
            <a:off x="6477000" y="20859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425" b="0">
                <a:solidFill>
                  <a:srgbClr val="062942"/>
                </a:solidFill>
                <a:latin typeface="STIX Two Text"/>
                <a:ea typeface="STIX Two Text"/>
                <a:cs typeface="STIX Two Text"/>
              </a:defRPr>
            </a:pPr>
            <a:r>
              <a:rPr sz="1425" b="0">
                <a:solidFill>
                  <a:srgbClr val="062942"/>
                </a:solidFill>
                <a:latin typeface="STIX Two Text"/>
                <a:ea typeface="STIX Two Text"/>
                <a:cs typeface="STIX Two Text"/>
              </a:rPr>
              <a:t>Businesses where software does more of the work</a:t>
            </a:r>
          </a:p>
        </p:txBody>
      </p:sp>
      <p:sp>
        <p:nvSpPr>
          <p:cNvPr id="9" name="stack-heading-rule">
            <a:extLst xmlns:a="http://schemas.openxmlformats.org/drawingml/2006/main">
              <a:ext uri="{FF2B5EF4-FFF2-40B4-BE49-F238E27FC236}">
                <a16:creationId xmlns:a16="http://schemas.microsoft.com/office/drawing/2014/main" id="{9FC33184-C285-4111-9239-82356A675092}"/>
              </a:ext>
            </a:extLst>
          </p:cNvPr>
          <p:cNvSpPr>
            <a:spLocks xmlns:a="http://schemas.openxmlformats.org/drawingml/2006/main" noGrp="1"/>
          </p:cNvSpPr>
          <p:nvPr/>
        </p:nvSpPr>
        <p:spPr>
          <a:xfrm xmlns:a="http://schemas.openxmlformats.org/drawingml/2006/main">
            <a:off x="523875" y="2466975"/>
            <a:ext cx="5191125" cy="0"/>
          </a:xfrm>
          <a:prstGeom xmlns:a="http://schemas.openxmlformats.org/drawingml/2006/main" prst="line">
            <a:avLst/>
          </a:prstGeom>
          <a:noFill xmlns:a="http://schemas.openxmlformats.org/drawingml/2006/main"/>
          <a:ln xmlns:a="http://schemas.openxmlformats.org/drawingml/2006/main" w="10478">
            <a:solidFill>
              <a:srgbClr val="B65F1F"/>
            </a:solidFill>
            <a:prstDash val="solid"/>
          </a:ln>
        </p:spPr>
      </p:sp>
      <p:sp>
        <p:nvSpPr>
          <p:cNvPr id="10" name="company-heading-rule">
            <a:extLst xmlns:a="http://schemas.openxmlformats.org/drawingml/2006/main">
              <a:ext uri="{FF2B5EF4-FFF2-40B4-BE49-F238E27FC236}">
                <a16:creationId xmlns:a16="http://schemas.microsoft.com/office/drawing/2014/main" id="{22FE7129-1811-4903-BBC6-3570444F6627}"/>
              </a:ext>
            </a:extLst>
          </p:cNvPr>
          <p:cNvSpPr>
            <a:spLocks xmlns:a="http://schemas.openxmlformats.org/drawingml/2006/main" noGrp="1"/>
          </p:cNvSpPr>
          <p:nvPr/>
        </p:nvSpPr>
        <p:spPr>
          <a:xfrm xmlns:a="http://schemas.openxmlformats.org/drawingml/2006/main">
            <a:off x="6477000" y="2466975"/>
            <a:ext cx="5191125" cy="0"/>
          </a:xfrm>
          <a:prstGeom xmlns:a="http://schemas.openxmlformats.org/drawingml/2006/main" prst="line">
            <a:avLst/>
          </a:prstGeom>
          <a:noFill xmlns:a="http://schemas.openxmlformats.org/drawingml/2006/main"/>
          <a:ln xmlns:a="http://schemas.openxmlformats.org/drawingml/2006/main" w="10478">
            <a:solidFill>
              <a:srgbClr val="B65F1F"/>
            </a:solidFill>
            <a:prstDash val="solid"/>
          </a:ln>
        </p:spPr>
      </p:sp>
      <p:sp>
        <p:nvSpPr>
          <p:cNvPr id="11" name="halluminate-name">
            <a:extLst xmlns:a="http://schemas.openxmlformats.org/drawingml/2006/main">
              <a:ext uri="{FF2B5EF4-FFF2-40B4-BE49-F238E27FC236}">
                <a16:creationId xmlns:a16="http://schemas.microsoft.com/office/drawing/2014/main" id="{22F976DC-9B38-4285-8A5A-DE3F78F48F25}"/>
              </a:ext>
            </a:extLst>
          </p:cNvPr>
          <p:cNvSpPr>
            <a:spLocks xmlns:a="http://schemas.openxmlformats.org/drawingml/2006/main" noGrp="1"/>
          </p:cNvSpPr>
          <p:nvPr/>
        </p:nvSpPr>
        <p:spPr>
          <a:xfrm xmlns:a="http://schemas.openxmlformats.org/drawingml/2006/main">
            <a:off x="523875" y="2647950"/>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Halluminate</a:t>
            </a:r>
          </a:p>
        </p:txBody>
      </p:sp>
      <p:sp>
        <p:nvSpPr>
          <p:cNvPr id="12" name="halluminate-talking-points">
            <a:extLst xmlns:a="http://schemas.openxmlformats.org/drawingml/2006/main">
              <a:ext uri="{FF2B5EF4-FFF2-40B4-BE49-F238E27FC236}">
                <a16:creationId xmlns:a16="http://schemas.microsoft.com/office/drawing/2014/main" id="{BE773621-1ECA-47EE-B506-220CF538F8E2}"/>
              </a:ext>
            </a:extLst>
          </p:cNvPr>
          <p:cNvSpPr>
            <a:spLocks xmlns:a="http://schemas.openxmlformats.org/drawingml/2006/main" noGrp="1"/>
          </p:cNvSpPr>
          <p:nvPr/>
        </p:nvSpPr>
        <p:spPr>
          <a:xfrm xmlns:a="http://schemas.openxmlformats.org/drawingml/2006/main">
            <a:off x="523875" y="3019425"/>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Strong delivery for Anthropic drives growth</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$200m post-money Series A</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Watching customer concentration</a:t>
            </a:r>
          </a:p>
        </p:txBody>
      </p:sp>
      <p:sp>
        <p:nvSpPr>
          <p:cNvPr id="13" name="veria-name">
            <a:extLst xmlns:a="http://schemas.openxmlformats.org/drawingml/2006/main">
              <a:ext uri="{FF2B5EF4-FFF2-40B4-BE49-F238E27FC236}">
                <a16:creationId xmlns:a16="http://schemas.microsoft.com/office/drawing/2014/main" id="{D310C7C5-6298-4BC2-BCBF-FD66B750C86D}"/>
              </a:ext>
            </a:extLst>
          </p:cNvPr>
          <p:cNvSpPr>
            <a:spLocks xmlns:a="http://schemas.openxmlformats.org/drawingml/2006/main" noGrp="1"/>
          </p:cNvSpPr>
          <p:nvPr/>
        </p:nvSpPr>
        <p:spPr>
          <a:xfrm xmlns:a="http://schemas.openxmlformats.org/drawingml/2006/main">
            <a:off x="523875" y="3914775"/>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Veria Labs</a:t>
            </a:r>
          </a:p>
        </p:txBody>
      </p:sp>
      <p:sp>
        <p:nvSpPr>
          <p:cNvPr id="14" name="veria-talking-points">
            <a:extLst xmlns:a="http://schemas.openxmlformats.org/drawingml/2006/main">
              <a:ext uri="{FF2B5EF4-FFF2-40B4-BE49-F238E27FC236}">
                <a16:creationId xmlns:a16="http://schemas.microsoft.com/office/drawing/2014/main" id="{FEC515B7-E0C4-437F-AECC-3F43637E4AFB}"/>
              </a:ext>
            </a:extLst>
          </p:cNvPr>
          <p:cNvSpPr>
            <a:spLocks xmlns:a="http://schemas.openxmlformats.org/drawingml/2006/main" noGrp="1"/>
          </p:cNvSpPr>
          <p:nvPr/>
        </p:nvSpPr>
        <p:spPr>
          <a:xfrm xmlns:a="http://schemas.openxmlformats.org/drawingml/2006/main">
            <a:off x="523875" y="42862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Deep hacking expertise, now commercial wins</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PostHog and Ramp</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Approximately $1.5m ARR</a:t>
            </a:r>
          </a:p>
        </p:txBody>
      </p:sp>
      <p:sp>
        <p:nvSpPr>
          <p:cNvPr id="15" name="bem-name">
            <a:extLst xmlns:a="http://schemas.openxmlformats.org/drawingml/2006/main">
              <a:ext uri="{FF2B5EF4-FFF2-40B4-BE49-F238E27FC236}">
                <a16:creationId xmlns:a16="http://schemas.microsoft.com/office/drawing/2014/main" id="{E2B86EBD-C0FE-48BA-AD76-BE4B6C06D7BA}"/>
              </a:ext>
            </a:extLst>
          </p:cNvPr>
          <p:cNvSpPr>
            <a:spLocks xmlns:a="http://schemas.openxmlformats.org/drawingml/2006/main" noGrp="1"/>
          </p:cNvSpPr>
          <p:nvPr/>
        </p:nvSpPr>
        <p:spPr>
          <a:xfrm xmlns:a="http://schemas.openxmlformats.org/drawingml/2006/main">
            <a:off x="523875" y="5181600"/>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Bem</a:t>
            </a:r>
          </a:p>
        </p:txBody>
      </p:sp>
      <p:sp>
        <p:nvSpPr>
          <p:cNvPr id="16" name="bem-talking-points">
            <a:extLst xmlns:a="http://schemas.openxmlformats.org/drawingml/2006/main">
              <a:ext uri="{FF2B5EF4-FFF2-40B4-BE49-F238E27FC236}">
                <a16:creationId xmlns:a16="http://schemas.microsoft.com/office/drawing/2014/main" id="{D1B659EE-55FD-4095-B0C1-ED821479AC3C}"/>
              </a:ext>
            </a:extLst>
          </p:cNvPr>
          <p:cNvSpPr>
            <a:spLocks xmlns:a="http://schemas.openxmlformats.org/drawingml/2006/main" noGrp="1"/>
          </p:cNvSpPr>
          <p:nvPr/>
        </p:nvSpPr>
        <p:spPr>
          <a:xfrm xmlns:a="http://schemas.openxmlformats.org/drawingml/2006/main">
            <a:off x="523875" y="5553075"/>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More responsibility inside existing customers</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Some contracts now $250k–$500k ACV</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New-customer pipeline remains the challenge</a:t>
            </a:r>
          </a:p>
        </p:txBody>
      </p:sp>
      <p:sp>
        <p:nvSpPr>
          <p:cNvPr id="17" name="pace-name">
            <a:extLst xmlns:a="http://schemas.openxmlformats.org/drawingml/2006/main">
              <a:ext uri="{FF2B5EF4-FFF2-40B4-BE49-F238E27FC236}">
                <a16:creationId xmlns:a16="http://schemas.microsoft.com/office/drawing/2014/main" id="{535BEA8D-BFCF-4026-A64D-137E08444B2D}"/>
              </a:ext>
            </a:extLst>
          </p:cNvPr>
          <p:cNvSpPr>
            <a:spLocks xmlns:a="http://schemas.openxmlformats.org/drawingml/2006/main" noGrp="1"/>
          </p:cNvSpPr>
          <p:nvPr/>
        </p:nvSpPr>
        <p:spPr>
          <a:xfrm xmlns:a="http://schemas.openxmlformats.org/drawingml/2006/main">
            <a:off x="6477000" y="2647950"/>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Pace</a:t>
            </a:r>
          </a:p>
        </p:txBody>
      </p:sp>
      <p:sp>
        <p:nvSpPr>
          <p:cNvPr id="18" name="pace-talking-points">
            <a:extLst xmlns:a="http://schemas.openxmlformats.org/drawingml/2006/main">
              <a:ext uri="{FF2B5EF4-FFF2-40B4-BE49-F238E27FC236}">
                <a16:creationId xmlns:a16="http://schemas.microsoft.com/office/drawing/2014/main" id="{01060E9C-2344-4118-AC66-AA2B403AD6E1}"/>
              </a:ext>
            </a:extLst>
          </p:cNvPr>
          <p:cNvSpPr>
            <a:spLocks xmlns:a="http://schemas.openxmlformats.org/drawingml/2006/main" noGrp="1"/>
          </p:cNvSpPr>
          <p:nvPr/>
        </p:nvSpPr>
        <p:spPr>
          <a:xfrm xmlns:a="http://schemas.openxmlformats.org/drawingml/2006/main">
            <a:off x="6477000" y="3019425"/>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GED / Pearson and Miami-Dade adult education</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Electrician training</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Institutional distribution across distinct customers</a:t>
            </a:r>
          </a:p>
        </p:txBody>
      </p:sp>
      <p:sp>
        <p:nvSpPr>
          <p:cNvPr id="19" name="flai-name">
            <a:extLst xmlns:a="http://schemas.openxmlformats.org/drawingml/2006/main">
              <a:ext uri="{FF2B5EF4-FFF2-40B4-BE49-F238E27FC236}">
                <a16:creationId xmlns:a16="http://schemas.microsoft.com/office/drawing/2014/main" id="{6DF43172-76BA-48FA-9E47-989362A99EC9}"/>
              </a:ext>
            </a:extLst>
          </p:cNvPr>
          <p:cNvSpPr>
            <a:spLocks xmlns:a="http://schemas.openxmlformats.org/drawingml/2006/main" noGrp="1"/>
          </p:cNvSpPr>
          <p:nvPr/>
        </p:nvSpPr>
        <p:spPr>
          <a:xfrm xmlns:a="http://schemas.openxmlformats.org/drawingml/2006/main">
            <a:off x="6477000" y="3914775"/>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Flai</a:t>
            </a:r>
          </a:p>
        </p:txBody>
      </p:sp>
      <p:sp>
        <p:nvSpPr>
          <p:cNvPr id="20" name="flai-talking-points">
            <a:extLst xmlns:a="http://schemas.openxmlformats.org/drawingml/2006/main">
              <a:ext uri="{FF2B5EF4-FFF2-40B4-BE49-F238E27FC236}">
                <a16:creationId xmlns:a16="http://schemas.microsoft.com/office/drawing/2014/main" id="{D8AF5B1A-FFC5-46C3-87C1-825017C6823D}"/>
              </a:ext>
            </a:extLst>
          </p:cNvPr>
          <p:cNvSpPr>
            <a:spLocks xmlns:a="http://schemas.openxmlformats.org/drawingml/2006/main" noGrp="1"/>
          </p:cNvSpPr>
          <p:nvPr/>
        </p:nvSpPr>
        <p:spPr>
          <a:xfrm xmlns:a="http://schemas.openxmlformats.org/drawingml/2006/main">
            <a:off x="6477000" y="42862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Software running more dealership operations</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$6m ARR</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$27m Series A at $150m post-money</a:t>
            </a:r>
          </a:p>
        </p:txBody>
      </p:sp>
      <p:sp>
        <p:nvSpPr>
          <p:cNvPr id="21" name="terac-name">
            <a:extLst xmlns:a="http://schemas.openxmlformats.org/drawingml/2006/main">
              <a:ext uri="{FF2B5EF4-FFF2-40B4-BE49-F238E27FC236}">
                <a16:creationId xmlns:a16="http://schemas.microsoft.com/office/drawing/2014/main" id="{DBFCAAE9-9BA7-4D3F-A4B5-C598BAF55CB9}"/>
              </a:ext>
            </a:extLst>
          </p:cNvPr>
          <p:cNvSpPr>
            <a:spLocks xmlns:a="http://schemas.openxmlformats.org/drawingml/2006/main" noGrp="1"/>
          </p:cNvSpPr>
          <p:nvPr/>
        </p:nvSpPr>
        <p:spPr>
          <a:xfrm xmlns:a="http://schemas.openxmlformats.org/drawingml/2006/main">
            <a:off x="6477000" y="5181600"/>
            <a:ext cx="519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63" b="1">
                <a:solidFill>
                  <a:srgbClr val="062942"/>
                </a:solidFill>
                <a:latin typeface="Avenir Next"/>
                <a:ea typeface="Avenir Next"/>
                <a:cs typeface="Avenir Next"/>
              </a:defRPr>
            </a:pPr>
            <a:r>
              <a:rPr sz="1763" b="1">
                <a:solidFill>
                  <a:srgbClr val="062942"/>
                </a:solidFill>
                <a:latin typeface="Avenir Next"/>
                <a:ea typeface="Avenir Next"/>
                <a:cs typeface="Avenir Next"/>
              </a:rPr>
              <a:t>Terac</a:t>
            </a:r>
          </a:p>
        </p:txBody>
      </p:sp>
      <p:sp>
        <p:nvSpPr>
          <p:cNvPr id="22" name="terac-talking-points">
            <a:extLst xmlns:a="http://schemas.openxmlformats.org/drawingml/2006/main">
              <a:ext uri="{FF2B5EF4-FFF2-40B4-BE49-F238E27FC236}">
                <a16:creationId xmlns:a16="http://schemas.microsoft.com/office/drawing/2014/main" id="{F1E4D04A-0A0C-48FE-8E77-288A450D2F25}"/>
              </a:ext>
            </a:extLst>
          </p:cNvPr>
          <p:cNvSpPr>
            <a:spLocks xmlns:a="http://schemas.openxmlformats.org/drawingml/2006/main" noGrp="1"/>
          </p:cNvSpPr>
          <p:nvPr/>
        </p:nvSpPr>
        <p:spPr>
          <a:xfrm xmlns:a="http://schemas.openxmlformats.org/drawingml/2006/main">
            <a:off x="6477000" y="5553075"/>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Human expertise on demand</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Helped hire ~80% of engineers, including first hires</a:t>
            </a:r>
          </a:p>
          <a:p xmlns:a="http://schemas.openxmlformats.org/drawingml/2006/main">
            <a:pPr algn="l">
              <a:lnSpc>
                <a:spcPct val="122000"/>
              </a:lnSpc>
              <a:buNone/>
              <a:defRPr sz="1395" b="0">
                <a:solidFill>
                  <a:srgbClr val="062942"/>
                </a:solidFill>
                <a:latin typeface="Avenir Next"/>
                <a:ea typeface="Avenir Next"/>
                <a:cs typeface="Avenir Next"/>
              </a:defRPr>
            </a:pPr>
            <a:r>
              <a:rPr sz="1395" b="0">
                <a:solidFill>
                  <a:srgbClr val="062942"/>
                </a:solidFill>
                <a:latin typeface="Avenir Next"/>
                <a:ea typeface="Avenir Next"/>
                <a:cs typeface="Avenir Next"/>
              </a:rPr>
              <a:t>That work earned the chance to invest more</a:t>
            </a:r>
          </a:p>
        </p:txBody>
      </p:sp>
    </p:spTree>
    <p:extLst>
      <p:ext uri="{BB962C8B-B14F-4D97-AF65-F5344CB8AC3E}">
        <p14:creationId xmlns:p14="http://schemas.microsoft.com/office/powerpoint/2010/main" val="1168387577"/>
      </p:ext>
    </p:extLst>
  </p:cSld>
</p:sld>
</file>

<file path=ppt/slides/slide3.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1014cfa95aa4fd5"/>
          <a:stretch xmlns:a="http://schemas.openxmlformats.org/drawingml/2006/main"/>
        </p:blipFill>
        <p:spPr>
          <a:xfrm xmlns:a="http://schemas.openxmlformats.org/drawingml/2006/main">
            <a:off x="85293" y="0"/>
            <a:ext cx="12021415" cy="6858000"/>
          </a:xfrm>
          <a:prstGeom xmlns:a="http://schemas.openxmlformats.org/drawingml/2006/main" prst="rect">
            <a:avLst/>
          </a:prstGeom>
        </p:spPr>
      </p:pic>
      <p:sp>
        <p:nvSpPr>
          <p:cNvPr id="2" name="header-label">
            <a:extLst xmlns:a="http://schemas.openxmlformats.org/drawingml/2006/main">
              <a:ext uri="{FF2B5EF4-FFF2-40B4-BE49-F238E27FC236}">
                <a16:creationId xmlns:a16="http://schemas.microsoft.com/office/drawing/2014/main" id="{BEE2D74D-2395-4860-A20D-41535EE84A48}"/>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ACCESS</a:t>
            </a:r>
          </a:p>
        </p:txBody>
      </p:sp>
      <p:sp>
        <p:nvSpPr>
          <p:cNvPr id="3" name="header-rule">
            <a:extLst xmlns:a="http://schemas.openxmlformats.org/drawingml/2006/main">
              <a:ext uri="{FF2B5EF4-FFF2-40B4-BE49-F238E27FC236}">
                <a16:creationId xmlns:a16="http://schemas.microsoft.com/office/drawing/2014/main" id="{8984BDDE-D789-4C19-AEEE-EE65DC805848}"/>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4" name="header-star">
            <a:extLst xmlns:a="http://schemas.openxmlformats.org/drawingml/2006/main">
              <a:ext uri="{FF2B5EF4-FFF2-40B4-BE49-F238E27FC236}">
                <a16:creationId xmlns:a16="http://schemas.microsoft.com/office/drawing/2014/main" id="{D5204B08-D1ED-4F29-9093-12FF58C90BB5}"/>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5" name="access-title">
            <a:extLst xmlns:a="http://schemas.openxmlformats.org/drawingml/2006/main">
              <a:ext uri="{FF2B5EF4-FFF2-40B4-BE49-F238E27FC236}">
                <a16:creationId xmlns:a16="http://schemas.microsoft.com/office/drawing/2014/main" id="{A7A52650-5EA3-4947-A1DB-E3450DFB83DC}"/>
              </a:ext>
            </a:extLst>
          </p:cNvPr>
          <p:cNvSpPr>
            <a:spLocks xmlns:a="http://schemas.openxmlformats.org/drawingml/2006/main" noGrp="1"/>
          </p:cNvSpPr>
          <p:nvPr/>
        </p:nvSpPr>
        <p:spPr>
          <a:xfrm xmlns:a="http://schemas.openxmlformats.org/drawingml/2006/main">
            <a:off x="523875" y="771525"/>
            <a:ext cx="1109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62942"/>
                </a:solidFill>
                <a:latin typeface="STIX Two Text"/>
                <a:ea typeface="STIX Two Text"/>
                <a:cs typeface="STIX Two Text"/>
              </a:defRPr>
            </a:pPr>
            <a:r>
              <a:rPr sz="2700" b="1">
                <a:solidFill>
                  <a:srgbClr val="062942"/>
                </a:solidFill>
                <a:latin typeface="STIX Two Text"/>
                <a:ea typeface="STIX Two Text"/>
                <a:cs typeface="STIX Two Text"/>
              </a:rPr>
              <a:t>Our strongest access begins before the round</a:t>
            </a:r>
          </a:p>
          <a:p xmlns:a="http://schemas.openxmlformats.org/drawingml/2006/main">
            <a:pPr algn="l">
              <a:lnSpc>
                <a:spcPct val="112000"/>
              </a:lnSpc>
              <a:buNone/>
              <a:defRPr sz="2700" b="1">
                <a:solidFill>
                  <a:srgbClr val="062942"/>
                </a:solidFill>
                <a:latin typeface="STIX Two Text"/>
                <a:ea typeface="STIX Two Text"/>
                <a:cs typeface="STIX Two Text"/>
              </a:defRPr>
            </a:pPr>
            <a:r>
              <a:rPr sz="2700" b="1">
                <a:solidFill>
                  <a:srgbClr val="062942"/>
                </a:solidFill>
                <a:latin typeface="STIX Two Text"/>
                <a:ea typeface="STIX Two Text"/>
                <a:cs typeface="STIX Two Text"/>
              </a:rPr>
              <a:t>and is earned through the work</a:t>
            </a:r>
          </a:p>
        </p:txBody>
      </p:sp>
      <p:sp>
        <p:nvSpPr>
          <p:cNvPr id="6" name="access-title-rule">
            <a:extLst xmlns:a="http://schemas.openxmlformats.org/drawingml/2006/main">
              <a:ext uri="{FF2B5EF4-FFF2-40B4-BE49-F238E27FC236}">
                <a16:creationId xmlns:a16="http://schemas.microsoft.com/office/drawing/2014/main" id="{D1102817-6377-4769-A15D-510965C77E5D}"/>
              </a:ext>
            </a:extLst>
          </p:cNvPr>
          <p:cNvSpPr>
            <a:spLocks xmlns:a="http://schemas.openxmlformats.org/drawingml/2006/main" noGrp="1"/>
          </p:cNvSpPr>
          <p:nvPr/>
        </p:nvSpPr>
        <p:spPr>
          <a:xfrm xmlns:a="http://schemas.openxmlformats.org/drawingml/2006/main">
            <a:off x="523875" y="2000250"/>
            <a:ext cx="11144250" cy="0"/>
          </a:xfrm>
          <a:prstGeom xmlns:a="http://schemas.openxmlformats.org/drawingml/2006/main" prst="line">
            <a:avLst/>
          </a:prstGeom>
          <a:noFill xmlns:a="http://schemas.openxmlformats.org/drawingml/2006/main"/>
          <a:ln xmlns:a="http://schemas.openxmlformats.org/drawingml/2006/main" w="9525">
            <a:solidFill>
              <a:srgbClr val="062942">
                <a:alpha val="40000"/>
              </a:srgbClr>
            </a:solidFill>
            <a:prstDash val="solid"/>
          </a:ln>
        </p:spPr>
      </p:sp>
      <p:sp>
        <p:nvSpPr>
          <p:cNvPr id="7" name="ari-heading">
            <a:extLst xmlns:a="http://schemas.openxmlformats.org/drawingml/2006/main">
              <a:ext uri="{FF2B5EF4-FFF2-40B4-BE49-F238E27FC236}">
                <a16:creationId xmlns:a16="http://schemas.microsoft.com/office/drawing/2014/main" id="{FB169B95-960E-4D79-BAFE-455732BA2219}"/>
              </a:ext>
            </a:extLst>
          </p:cNvPr>
          <p:cNvSpPr>
            <a:spLocks xmlns:a="http://schemas.openxmlformats.org/drawingml/2006/main" noGrp="1"/>
          </p:cNvSpPr>
          <p:nvPr/>
        </p:nvSpPr>
        <p:spPr>
          <a:xfrm xmlns:a="http://schemas.openxmlformats.org/drawingml/2006/main">
            <a:off x="523875" y="24098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062942"/>
                </a:solidFill>
                <a:latin typeface="Avenir Next"/>
                <a:ea typeface="Avenir Next"/>
                <a:cs typeface="Avenir Next"/>
              </a:defRPr>
            </a:pPr>
            <a:r>
              <a:rPr sz="1725" b="1">
                <a:solidFill>
                  <a:srgbClr val="062942"/>
                </a:solidFill>
                <a:latin typeface="Avenir Next"/>
                <a:ea typeface="Avenir Next"/>
                <a:cs typeface="Avenir Next"/>
              </a:rPr>
              <a:t>Ari / HappyRobot / Flai</a:t>
            </a:r>
          </a:p>
        </p:txBody>
      </p:sp>
      <p:sp>
        <p:nvSpPr>
          <p:cNvPr id="8" name="applied-heading">
            <a:extLst xmlns:a="http://schemas.openxmlformats.org/drawingml/2006/main">
              <a:ext uri="{FF2B5EF4-FFF2-40B4-BE49-F238E27FC236}">
                <a16:creationId xmlns:a16="http://schemas.microsoft.com/office/drawing/2014/main" id="{6DFFF659-6D94-4DD6-B342-E248336D0875}"/>
              </a:ext>
            </a:extLst>
          </p:cNvPr>
          <p:cNvSpPr>
            <a:spLocks xmlns:a="http://schemas.openxmlformats.org/drawingml/2006/main" noGrp="1"/>
          </p:cNvSpPr>
          <p:nvPr/>
        </p:nvSpPr>
        <p:spPr>
          <a:xfrm xmlns:a="http://schemas.openxmlformats.org/drawingml/2006/main">
            <a:off x="4333875" y="24098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062942"/>
                </a:solidFill>
                <a:latin typeface="Avenir Next"/>
                <a:ea typeface="Avenir Next"/>
                <a:cs typeface="Avenir Next"/>
              </a:defRPr>
            </a:pPr>
            <a:r>
              <a:rPr sz="1725" b="1">
                <a:solidFill>
                  <a:srgbClr val="062942"/>
                </a:solidFill>
                <a:latin typeface="Avenir Next"/>
                <a:ea typeface="Avenir Next"/>
                <a:cs typeface="Avenir Next"/>
              </a:rPr>
              <a:t>Applied Intuition</a:t>
            </a:r>
          </a:p>
        </p:txBody>
      </p:sp>
      <p:sp>
        <p:nvSpPr>
          <p:cNvPr id="9" name="origami-heading">
            <a:extLst xmlns:a="http://schemas.openxmlformats.org/drawingml/2006/main">
              <a:ext uri="{FF2B5EF4-FFF2-40B4-BE49-F238E27FC236}">
                <a16:creationId xmlns:a16="http://schemas.microsoft.com/office/drawing/2014/main" id="{6C33EF3B-FF3F-4C1F-8F0B-CAA7ECB1850A}"/>
              </a:ext>
            </a:extLst>
          </p:cNvPr>
          <p:cNvSpPr>
            <a:spLocks xmlns:a="http://schemas.openxmlformats.org/drawingml/2006/main" noGrp="1"/>
          </p:cNvSpPr>
          <p:nvPr/>
        </p:nvSpPr>
        <p:spPr>
          <a:xfrm xmlns:a="http://schemas.openxmlformats.org/drawingml/2006/main">
            <a:off x="8143875" y="24098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1">
                <a:solidFill>
                  <a:srgbClr val="062942"/>
                </a:solidFill>
                <a:latin typeface="Avenir Next"/>
                <a:ea typeface="Avenir Next"/>
                <a:cs typeface="Avenir Next"/>
              </a:defRPr>
            </a:pPr>
            <a:r>
              <a:rPr sz="1725" b="1">
                <a:solidFill>
                  <a:srgbClr val="062942"/>
                </a:solidFill>
                <a:latin typeface="Avenir Next"/>
                <a:ea typeface="Avenir Next"/>
                <a:cs typeface="Avenir Next"/>
              </a:rPr>
              <a:t>Origami / Bluejay</a:t>
            </a:r>
          </a:p>
        </p:txBody>
      </p:sp>
      <p:sp>
        <p:nvSpPr>
          <p:cNvPr id="10" name="ari-story">
            <a:extLst xmlns:a="http://schemas.openxmlformats.org/drawingml/2006/main">
              <a:ext uri="{FF2B5EF4-FFF2-40B4-BE49-F238E27FC236}">
                <a16:creationId xmlns:a16="http://schemas.microsoft.com/office/drawing/2014/main" id="{570EAAA8-BF5B-42C9-A5D0-C7346A362B74}"/>
              </a:ext>
            </a:extLst>
          </p:cNvPr>
          <p:cNvSpPr>
            <a:spLocks xmlns:a="http://schemas.openxmlformats.org/drawingml/2006/main" noGrp="1"/>
          </p:cNvSpPr>
          <p:nvPr/>
        </p:nvSpPr>
        <p:spPr>
          <a:xfrm xmlns:a="http://schemas.openxmlformats.org/drawingml/2006/main">
            <a:off x="523875" y="3095625"/>
            <a:ext cx="3286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We helped Ari join HappyRobot as its </a:t>
            </a:r>
            <a:r>
              <a:rPr sz="1800" b="1">
                <a:solidFill>
                  <a:srgbClr val="062942"/>
                </a:solidFill>
                <a:latin typeface="STIX Two Text"/>
                <a:ea typeface="STIX Two Text"/>
                <a:cs typeface="STIX Two Text"/>
              </a:rPr>
              <a:t>second engineer</a:t>
            </a:r>
            <a:r>
              <a:rPr sz="1800" b="0">
                <a:solidFill>
                  <a:srgbClr val="062942"/>
                </a:solidFill>
                <a:latin typeface="STIX Two Text"/>
                <a:ea typeface="STIX Two Text"/>
                <a:cs typeface="STIX Two Text"/>
              </a:rPr>
              <a:t>.</a:t>
            </a:r>
          </a:p>
          <a:p xmlns:a="http://schemas.openxmlformats.org/drawingml/2006/main">
            <a:r>
              <a:t/>
            </a:r>
          </a:p>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When he started Flai, we helped with </a:t>
            </a:r>
            <a:r>
              <a:rPr sz="1800" b="1">
                <a:solidFill>
                  <a:srgbClr val="062942"/>
                </a:solidFill>
                <a:latin typeface="STIX Two Text"/>
                <a:ea typeface="STIX Two Text"/>
                <a:cs typeface="STIX Two Text"/>
              </a:rPr>
              <a:t>YC and the team</a:t>
            </a:r>
            <a:r>
              <a:rPr sz="1800" b="0">
                <a:solidFill>
                  <a:srgbClr val="062942"/>
                </a:solidFill>
                <a:latin typeface="STIX Two Text"/>
                <a:ea typeface="STIX Two Text"/>
                <a:cs typeface="STIX Two Text"/>
              </a:rPr>
              <a:t>.</a:t>
            </a:r>
          </a:p>
        </p:txBody>
      </p:sp>
      <p:sp>
        <p:nvSpPr>
          <p:cNvPr id="11" name="applied-story">
            <a:extLst xmlns:a="http://schemas.openxmlformats.org/drawingml/2006/main">
              <a:ext uri="{FF2B5EF4-FFF2-40B4-BE49-F238E27FC236}">
                <a16:creationId xmlns:a16="http://schemas.microsoft.com/office/drawing/2014/main" id="{34D5FD24-12AC-441B-BF56-CD2179118488}"/>
              </a:ext>
            </a:extLst>
          </p:cNvPr>
          <p:cNvSpPr>
            <a:spLocks xmlns:a="http://schemas.openxmlformats.org/drawingml/2006/main" noGrp="1"/>
          </p:cNvSpPr>
          <p:nvPr/>
        </p:nvSpPr>
        <p:spPr>
          <a:xfrm xmlns:a="http://schemas.openxmlformats.org/drawingml/2006/main">
            <a:off x="4333875" y="3095625"/>
            <a:ext cx="32861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We saw Pedro, Justin and Daniel operate at Applied for years. That informed our conviction in Place Labs and Intelligent Machines.</a:t>
            </a:r>
          </a:p>
          <a:p xmlns:a="http://schemas.openxmlformats.org/drawingml/2006/main">
            <a:r>
              <a:t/>
            </a:r>
          </a:p>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We introduced Intelligent Machines’ </a:t>
            </a:r>
            <a:r>
              <a:rPr sz="1800" b="1">
                <a:solidFill>
                  <a:srgbClr val="062942"/>
                </a:solidFill>
                <a:latin typeface="STIX Two Text"/>
                <a:ea typeface="STIX Two Text"/>
                <a:cs typeface="STIX Two Text"/>
              </a:rPr>
              <a:t>first customer</a:t>
            </a:r>
            <a:r>
              <a:rPr sz="1800" b="0">
                <a:solidFill>
                  <a:srgbClr val="062942"/>
                </a:solidFill>
                <a:latin typeface="STIX Two Text"/>
                <a:ea typeface="STIX Two Text"/>
                <a:cs typeface="STIX Two Text"/>
              </a:rPr>
              <a:t>.</a:t>
            </a:r>
          </a:p>
        </p:txBody>
      </p:sp>
      <p:sp>
        <p:nvSpPr>
          <p:cNvPr id="12" name="origami-story">
            <a:extLst xmlns:a="http://schemas.openxmlformats.org/drawingml/2006/main">
              <a:ext uri="{FF2B5EF4-FFF2-40B4-BE49-F238E27FC236}">
                <a16:creationId xmlns:a16="http://schemas.microsoft.com/office/drawing/2014/main" id="{64C3AC9A-522D-4F1B-B5D7-A16143C89BE7}"/>
              </a:ext>
            </a:extLst>
          </p:cNvPr>
          <p:cNvSpPr>
            <a:spLocks xmlns:a="http://schemas.openxmlformats.org/drawingml/2006/main" noGrp="1"/>
          </p:cNvSpPr>
          <p:nvPr/>
        </p:nvSpPr>
        <p:spPr>
          <a:xfrm xmlns:a="http://schemas.openxmlformats.org/drawingml/2006/main">
            <a:off x="8143875" y="3095625"/>
            <a:ext cx="328612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We introduced Luke as Origami’s </a:t>
            </a:r>
            <a:r>
              <a:rPr sz="1800" b="1">
                <a:solidFill>
                  <a:srgbClr val="062942"/>
                </a:solidFill>
                <a:latin typeface="STIX Two Text"/>
                <a:ea typeface="STIX Two Text"/>
                <a:cs typeface="STIX Two Text"/>
              </a:rPr>
              <a:t>first hire</a:t>
            </a:r>
            <a:r>
              <a:rPr sz="1800" b="0">
                <a:solidFill>
                  <a:srgbClr val="062942"/>
                </a:solidFill>
                <a:latin typeface="STIX Two Text"/>
                <a:ea typeface="STIX Two Text"/>
                <a:cs typeface="STIX Two Text"/>
              </a:rPr>
              <a:t>. Luke introduced us to Faraz, Bluejay’s CTO.</a:t>
            </a:r>
          </a:p>
          <a:p xmlns:a="http://schemas.openxmlformats.org/drawingml/2006/main">
            <a:r>
              <a:t/>
            </a:r>
          </a:p>
          <a:p xmlns:a="http://schemas.openxmlformats.org/drawingml/2006/main">
            <a:pPr algn="l">
              <a:lnSpc>
                <a:spcPct val="119000"/>
              </a:lnSpc>
              <a:buNone/>
              <a:defRPr sz="1800" b="0">
                <a:solidFill>
                  <a:srgbClr val="062942"/>
                </a:solidFill>
                <a:latin typeface="STIX Two Text"/>
                <a:ea typeface="STIX Two Text"/>
                <a:cs typeface="STIX Two Text"/>
              </a:defRPr>
            </a:pPr>
            <a:r>
              <a:rPr sz="1800" b="0">
                <a:solidFill>
                  <a:srgbClr val="062942"/>
                </a:solidFill>
                <a:latin typeface="STIX Two Text"/>
                <a:ea typeface="STIX Two Text"/>
                <a:cs typeface="STIX Two Text"/>
              </a:rPr>
              <a:t>The depth of our work with Finn made us seek a </a:t>
            </a:r>
            <a:r>
              <a:rPr sz="1800" b="1">
                <a:solidFill>
                  <a:srgbClr val="062942"/>
                </a:solidFill>
                <a:latin typeface="STIX Two Text"/>
                <a:ea typeface="STIX Two Text"/>
                <a:cs typeface="STIX Two Text"/>
              </a:rPr>
              <a:t>repeatable format</a:t>
            </a:r>
            <a:r>
              <a:rPr sz="1800" b="0">
                <a:solidFill>
                  <a:srgbClr val="062942"/>
                </a:solidFill>
                <a:latin typeface="STIX Two Text"/>
                <a:ea typeface="STIX Two Text"/>
                <a:cs typeface="STIX Two Text"/>
              </a:rPr>
              <a:t>.</a:t>
            </a:r>
          </a:p>
        </p:txBody>
      </p:sp>
      <p:sp>
        <p:nvSpPr>
          <p:cNvPr id="13" name="puentes-bridge">
            <a:extLst xmlns:a="http://schemas.openxmlformats.org/drawingml/2006/main">
              <a:ext uri="{FF2B5EF4-FFF2-40B4-BE49-F238E27FC236}">
                <a16:creationId xmlns:a16="http://schemas.microsoft.com/office/drawing/2014/main" id="{7E6BD1F8-8A82-4FF2-A590-42C52F3B87FC}"/>
              </a:ext>
            </a:extLst>
          </p:cNvPr>
          <p:cNvSpPr>
            <a:spLocks xmlns:a="http://schemas.openxmlformats.org/drawingml/2006/main" noGrp="1"/>
          </p:cNvSpPr>
          <p:nvPr/>
        </p:nvSpPr>
        <p:spPr>
          <a:xfrm xmlns:a="http://schemas.openxmlformats.org/drawingml/2006/main">
            <a:off x="8143875" y="6038850"/>
            <a:ext cx="328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1">
                <a:solidFill>
                  <a:srgbClr val="062942"/>
                </a:solidFill>
                <a:latin typeface="STIX Two Text"/>
                <a:ea typeface="STIX Two Text"/>
                <a:cs typeface="STIX Two Text"/>
              </a:defRPr>
            </a:pPr>
            <a:r>
              <a:rPr sz="1575" b="1">
                <a:solidFill>
                  <a:srgbClr val="062942"/>
                </a:solidFill>
                <a:latin typeface="STIX Two Text"/>
                <a:ea typeface="STIX Two Text"/>
                <a:cs typeface="STIX Two Text"/>
              </a:rPr>
              <a:t>Months later, the first Puentes cohort</a:t>
            </a:r>
          </a:p>
        </p:txBody>
      </p:sp>
    </p:spTree>
    <p:extLst>
      <p:ext uri="{BB962C8B-B14F-4D97-AF65-F5344CB8AC3E}">
        <p14:creationId xmlns:p14="http://schemas.microsoft.com/office/powerpoint/2010/main" val="1986510080"/>
      </p:ext>
    </p:extLst>
  </p:cSld>
</p:sld>
</file>

<file path=ppt/slides/slide4.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6bd4dfbdb2eb4512"/>
          <a:stretch xmlns:a="http://schemas.openxmlformats.org/drawingml/2006/main"/>
        </p:blipFill>
        <p:spPr>
          <a:xfrm xmlns:a="http://schemas.openxmlformats.org/drawingml/2006/main">
            <a:off x="85293" y="0"/>
            <a:ext cx="12021415" cy="6858000"/>
          </a:xfrm>
          <a:prstGeom xmlns:a="http://schemas.openxmlformats.org/drawingml/2006/main" prst="rect">
            <a:avLst/>
          </a:prstGeom>
        </p:spPr>
      </p:pic>
      <p:sp>
        <p:nvSpPr>
          <p:cNvPr id="2" name="paper-wash">
            <a:extLst xmlns:a="http://schemas.openxmlformats.org/drawingml/2006/main">
              <a:ext uri="{FF2B5EF4-FFF2-40B4-BE49-F238E27FC236}">
                <a16:creationId xmlns:a16="http://schemas.microsoft.com/office/drawing/2014/main" id="{5CA1E262-FD5A-4218-83DC-940D82A4B5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FE1C6">
              <a:alpha val="3000"/>
            </a:srgbClr>
          </a:solidFill>
          <a:ln xmlns:a="http://schemas.openxmlformats.org/drawingml/2006/main" w="0">
            <a:noFill/>
            <a:prstDash val="solid"/>
          </a:ln>
        </p:spPr>
      </p:sp>
      <p:sp>
        <p:nvSpPr>
          <p:cNvPr id="3" name="header-marker">
            <a:extLst xmlns:a="http://schemas.openxmlformats.org/drawingml/2006/main">
              <a:ext uri="{FF2B5EF4-FFF2-40B4-BE49-F238E27FC236}">
                <a16:creationId xmlns:a16="http://schemas.microsoft.com/office/drawing/2014/main" id="{28DC2708-8598-4BD6-A157-49AABAF86784}"/>
              </a:ext>
            </a:extLst>
          </p:cNvPr>
          <p:cNvSpPr>
            <a:spLocks xmlns:a="http://schemas.openxmlformats.org/drawingml/2006/main" noGrp="1"/>
          </p:cNvSpPr>
          <p:nvPr/>
        </p:nvSpPr>
        <p:spPr>
          <a:xfrm xmlns:a="http://schemas.openxmlformats.org/drawingml/2006/main">
            <a:off x="476250" y="285750"/>
            <a:ext cx="66675" cy="66675"/>
          </a:xfrm>
          <a:prstGeom xmlns:a="http://schemas.openxmlformats.org/drawingml/2006/main" prst="rect">
            <a:avLst/>
          </a:prstGeom>
          <a:solidFill xmlns:a="http://schemas.openxmlformats.org/drawingml/2006/main">
            <a:srgbClr val="062942"/>
          </a:solidFill>
          <a:ln xmlns:a="http://schemas.openxmlformats.org/drawingml/2006/main" w="0">
            <a:noFill/>
            <a:prstDash val="solid"/>
          </a:ln>
        </p:spPr>
      </p:sp>
      <p:sp>
        <p:nvSpPr>
          <p:cNvPr id="4" name="header-label">
            <a:extLst xmlns:a="http://schemas.openxmlformats.org/drawingml/2006/main">
              <a:ext uri="{FF2B5EF4-FFF2-40B4-BE49-F238E27FC236}">
                <a16:creationId xmlns:a16="http://schemas.microsoft.com/office/drawing/2014/main" id="{04A660BF-F893-4EEC-B6A8-6A91520E2048}"/>
              </a:ext>
            </a:extLst>
          </p:cNvPr>
          <p:cNvSpPr>
            <a:spLocks xmlns:a="http://schemas.openxmlformats.org/drawingml/2006/main" noGrp="1"/>
          </p:cNvSpPr>
          <p:nvPr/>
        </p:nvSpPr>
        <p:spPr>
          <a:xfrm xmlns:a="http://schemas.openxmlformats.org/drawingml/2006/main">
            <a:off x="685800" y="266700"/>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38" b="1" i="0">
                <a:solidFill>
                  <a:srgbClr val="062942"/>
                </a:solidFill>
                <a:latin typeface="Menlo"/>
                <a:ea typeface="Menlo"/>
                <a:cs typeface="Menlo"/>
              </a:defRPr>
            </a:pPr>
            <a:r>
              <a:rPr sz="638" b="1" i="0">
                <a:solidFill>
                  <a:srgbClr val="062942"/>
                </a:solidFill>
                <a:latin typeface="Menlo"/>
                <a:ea typeface="Menlo"/>
                <a:cs typeface="Menlo"/>
              </a:rPr>
              <a:t>ANTIGRAVITY CAPITAL  /  ACCESS</a:t>
            </a:r>
          </a:p>
        </p:txBody>
      </p:sp>
      <p:sp>
        <p:nvSpPr>
          <p:cNvPr id="5" name="header-rule">
            <a:extLst xmlns:a="http://schemas.openxmlformats.org/drawingml/2006/main">
              <a:ext uri="{FF2B5EF4-FFF2-40B4-BE49-F238E27FC236}">
                <a16:creationId xmlns:a16="http://schemas.microsoft.com/office/drawing/2014/main" id="{0C14B1AE-F749-4150-B944-CC4745F02B30}"/>
              </a:ext>
            </a:extLst>
          </p:cNvPr>
          <p:cNvSpPr>
            <a:spLocks xmlns:a="http://schemas.openxmlformats.org/drawingml/2006/main" noGrp="1"/>
          </p:cNvSpPr>
          <p:nvPr/>
        </p:nvSpPr>
        <p:spPr>
          <a:xfrm xmlns:a="http://schemas.openxmlformats.org/drawingml/2006/main" flipH="0" flipV="0">
            <a:off x="2914650" y="319088"/>
            <a:ext cx="8467725" cy="0"/>
          </a:xfrm>
          <a:prstGeom xmlns:a="http://schemas.openxmlformats.org/drawingml/2006/main" prst="line">
            <a:avLst/>
          </a:prstGeom>
          <a:noFill xmlns:a="http://schemas.openxmlformats.org/drawingml/2006/main"/>
          <a:ln xmlns:a="http://schemas.openxmlformats.org/drawingml/2006/main" w="9525">
            <a:solidFill>
              <a:srgbClr val="062942">
                <a:alpha val="62000"/>
              </a:srgbClr>
            </a:solidFill>
            <a:prstDash val="solid"/>
          </a:ln>
        </p:spPr>
      </p:sp>
      <p:sp>
        <p:nvSpPr>
          <p:cNvPr id="6" name="header-star">
            <a:extLst xmlns:a="http://schemas.openxmlformats.org/drawingml/2006/main">
              <a:ext uri="{FF2B5EF4-FFF2-40B4-BE49-F238E27FC236}">
                <a16:creationId xmlns:a16="http://schemas.microsoft.com/office/drawing/2014/main" id="{A13A095C-8E04-4981-A333-81176F58B251}"/>
              </a:ext>
            </a:extLst>
          </p:cNvPr>
          <p:cNvSpPr>
            <a:spLocks xmlns:a="http://schemas.openxmlformats.org/drawingml/2006/main" noGrp="1"/>
          </p:cNvSpPr>
          <p:nvPr/>
        </p:nvSpPr>
        <p:spPr>
          <a:xfrm xmlns:a="http://schemas.openxmlformats.org/drawingml/2006/main">
            <a:off x="11506200" y="190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i="0">
                <a:solidFill>
                  <a:srgbClr val="062942"/>
                </a:solidFill>
                <a:latin typeface="STIX Two Text"/>
                <a:ea typeface="STIX Two Text"/>
                <a:cs typeface="STIX Two Text"/>
              </a:defRPr>
            </a:pPr>
            <a:r>
              <a:rPr sz="1800" b="1" i="0">
                <a:solidFill>
                  <a:srgbClr val="062942"/>
                </a:solidFill>
                <a:latin typeface="STIX Two Text"/>
                <a:ea typeface="STIX Two Text"/>
                <a:cs typeface="STIX Two Text"/>
              </a:rPr>
              <a:t>✦</a:t>
            </a:r>
          </a:p>
        </p:txBody>
      </p:sp>
      <p:sp>
        <p:nvSpPr>
          <p:cNvPr id="7" name="section-kicker">
            <a:extLst xmlns:a="http://schemas.openxmlformats.org/drawingml/2006/main">
              <a:ext uri="{FF2B5EF4-FFF2-40B4-BE49-F238E27FC236}">
                <a16:creationId xmlns:a16="http://schemas.microsoft.com/office/drawing/2014/main" id="{1AF5CFA8-9165-4CF1-AF66-0188B15E7549}"/>
              </a:ext>
            </a:extLst>
          </p:cNvPr>
          <p:cNvSpPr>
            <a:spLocks xmlns:a="http://schemas.openxmlformats.org/drawingml/2006/main" noGrp="1"/>
          </p:cNvSpPr>
          <p:nvPr/>
        </p:nvSpPr>
        <p:spPr>
          <a:xfrm xmlns:a="http://schemas.openxmlformats.org/drawingml/2006/main">
            <a:off x="523875" y="590550"/>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13" b="1" i="0">
                <a:solidFill>
                  <a:srgbClr val="062942"/>
                </a:solidFill>
                <a:latin typeface="Menlo"/>
                <a:ea typeface="Menlo"/>
                <a:cs typeface="Menlo"/>
              </a:defRPr>
            </a:pPr>
            <a:r>
              <a:rPr sz="713" b="1" i="0">
                <a:solidFill>
                  <a:srgbClr val="062942"/>
                </a:solidFill>
                <a:latin typeface="Menlo"/>
                <a:ea typeface="Menlo"/>
                <a:cs typeface="Menlo"/>
              </a:rPr>
              <a:t>PUENTES</a:t>
            </a:r>
          </a:p>
        </p:txBody>
      </p:sp>
      <p:sp>
        <p:nvSpPr>
          <p:cNvPr id="8" name="headline-line-1">
            <a:extLst xmlns:a="http://schemas.openxmlformats.org/drawingml/2006/main">
              <a:ext uri="{FF2B5EF4-FFF2-40B4-BE49-F238E27FC236}">
                <a16:creationId xmlns:a16="http://schemas.microsoft.com/office/drawing/2014/main" id="{525EAFC2-A6CA-4160-9BC3-ABDDFC6FBC2C}"/>
              </a:ext>
            </a:extLst>
          </p:cNvPr>
          <p:cNvSpPr>
            <a:spLocks xmlns:a="http://schemas.openxmlformats.org/drawingml/2006/main" noGrp="1"/>
          </p:cNvSpPr>
          <p:nvPr/>
        </p:nvSpPr>
        <p:spPr>
          <a:xfrm xmlns:a="http://schemas.openxmlformats.org/drawingml/2006/main">
            <a:off x="523875" y="8001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88" b="1" i="0">
                <a:solidFill>
                  <a:srgbClr val="062942"/>
                </a:solidFill>
                <a:latin typeface="STIX Two Text"/>
                <a:ea typeface="STIX Two Text"/>
                <a:cs typeface="STIX Two Text"/>
              </a:defRPr>
            </a:pPr>
            <a:r>
              <a:rPr sz="2288" b="1" i="0">
                <a:solidFill>
                  <a:srgbClr val="062942"/>
                </a:solidFill>
                <a:latin typeface="STIX Two Text"/>
                <a:ea typeface="STIX Two Text"/>
                <a:cs typeface="STIX Two Text"/>
              </a:rPr>
              <a:t>Puentes brings Latin America’s next wave of AI builders</a:t>
            </a:r>
          </a:p>
        </p:txBody>
      </p:sp>
      <p:sp>
        <p:nvSpPr>
          <p:cNvPr id="9" name="headline-line-2">
            <a:extLst xmlns:a="http://schemas.openxmlformats.org/drawingml/2006/main">
              <a:ext uri="{FF2B5EF4-FFF2-40B4-BE49-F238E27FC236}">
                <a16:creationId xmlns:a16="http://schemas.microsoft.com/office/drawing/2014/main" id="{3BA2E4E6-8162-43B9-91D7-E50B739D7D56}"/>
              </a:ext>
            </a:extLst>
          </p:cNvPr>
          <p:cNvSpPr>
            <a:spLocks xmlns:a="http://schemas.openxmlformats.org/drawingml/2006/main" noGrp="1"/>
          </p:cNvSpPr>
          <p:nvPr/>
        </p:nvSpPr>
        <p:spPr>
          <a:xfrm xmlns:a="http://schemas.openxmlformats.org/drawingml/2006/main">
            <a:off x="523875" y="11334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88" b="1" i="0">
                <a:solidFill>
                  <a:srgbClr val="062942"/>
                </a:solidFill>
                <a:latin typeface="STIX Two Text"/>
                <a:ea typeface="STIX Two Text"/>
                <a:cs typeface="STIX Two Text"/>
              </a:defRPr>
            </a:pPr>
            <a:r>
              <a:rPr sz="2288" b="1" i="0">
                <a:solidFill>
                  <a:srgbClr val="062942"/>
                </a:solidFill>
                <a:latin typeface="STIX Two Text"/>
                <a:ea typeface="STIX Two Text"/>
                <a:cs typeface="STIX Two Text"/>
              </a:rPr>
              <a:t>into San Francisco’s strongest teams.</a:t>
            </a:r>
          </a:p>
        </p:txBody>
      </p:sp>
      <p:sp>
        <p:nvSpPr>
          <p:cNvPr id="10" name="argument-rule">
            <a:extLst xmlns:a="http://schemas.openxmlformats.org/drawingml/2006/main">
              <a:ext uri="{FF2B5EF4-FFF2-40B4-BE49-F238E27FC236}">
                <a16:creationId xmlns:a16="http://schemas.microsoft.com/office/drawing/2014/main" id="{30D2B546-CF33-4116-BBE2-B694EF11C24F}"/>
              </a:ext>
            </a:extLst>
          </p:cNvPr>
          <p:cNvSpPr>
            <a:spLocks xmlns:a="http://schemas.openxmlformats.org/drawingml/2006/main" noGrp="1"/>
          </p:cNvSpPr>
          <p:nvPr/>
        </p:nvSpPr>
        <p:spPr>
          <a:xfrm xmlns:a="http://schemas.openxmlformats.org/drawingml/2006/main" flipH="0" flipV="0">
            <a:off x="523875" y="1676400"/>
            <a:ext cx="11144250" cy="0"/>
          </a:xfrm>
          <a:prstGeom xmlns:a="http://schemas.openxmlformats.org/drawingml/2006/main" prst="line">
            <a:avLst/>
          </a:prstGeom>
          <a:noFill xmlns:a="http://schemas.openxmlformats.org/drawingml/2006/main"/>
          <a:ln xmlns:a="http://schemas.openxmlformats.org/drawingml/2006/main" w="7144">
            <a:solidFill>
              <a:srgbClr val="062942">
                <a:alpha val="45000"/>
              </a:srgbClr>
            </a:solidFill>
            <a:prstDash val="solid"/>
          </a:ln>
        </p:spPr>
      </p:sp>
      <p:sp>
        <p:nvSpPr>
          <p:cNvPr id="11" name="current-network-label">
            <a:extLst xmlns:a="http://schemas.openxmlformats.org/drawingml/2006/main">
              <a:ext uri="{FF2B5EF4-FFF2-40B4-BE49-F238E27FC236}">
                <a16:creationId xmlns:a16="http://schemas.microsoft.com/office/drawing/2014/main" id="{35FA1C7D-0D84-4824-8B31-2945ACACFB19}"/>
              </a:ext>
            </a:extLst>
          </p:cNvPr>
          <p:cNvSpPr>
            <a:spLocks xmlns:a="http://schemas.openxmlformats.org/drawingml/2006/main" noGrp="1"/>
          </p:cNvSpPr>
          <p:nvPr/>
        </p:nvSpPr>
        <p:spPr>
          <a:xfrm xmlns:a="http://schemas.openxmlformats.org/drawingml/2006/main">
            <a:off x="523875" y="1857375"/>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13" b="1" i="0">
                <a:solidFill>
                  <a:srgbClr val="062942"/>
                </a:solidFill>
                <a:latin typeface="Menlo"/>
                <a:ea typeface="Menlo"/>
                <a:cs typeface="Menlo"/>
              </a:defRPr>
            </a:pPr>
            <a:r>
              <a:rPr sz="713" b="1" i="0">
                <a:solidFill>
                  <a:srgbClr val="062942"/>
                </a:solidFill>
                <a:latin typeface="Menlo"/>
                <a:ea typeface="Menlo"/>
                <a:cs typeface="Menlo"/>
              </a:rPr>
              <a:t>33 FELLOWS TODAY</a:t>
            </a:r>
          </a:p>
        </p:txBody>
      </p:sp>
      <p:sp>
        <p:nvSpPr>
          <p:cNvPr id="12" name="network-horizon-separator">
            <a:extLst xmlns:a="http://schemas.openxmlformats.org/drawingml/2006/main">
              <a:ext uri="{FF2B5EF4-FFF2-40B4-BE49-F238E27FC236}">
                <a16:creationId xmlns:a16="http://schemas.microsoft.com/office/drawing/2014/main" id="{C68728E8-0625-4757-9A1B-8D2A22C1FE92}"/>
              </a:ext>
            </a:extLst>
          </p:cNvPr>
          <p:cNvSpPr>
            <a:spLocks xmlns:a="http://schemas.openxmlformats.org/drawingml/2006/main" noGrp="1"/>
          </p:cNvSpPr>
          <p:nvPr/>
        </p:nvSpPr>
        <p:spPr>
          <a:xfrm xmlns:a="http://schemas.openxmlformats.org/drawingml/2006/main">
            <a:off x="1914525" y="18573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713" b="1" i="0">
                <a:solidFill>
                  <a:srgbClr val="062942"/>
                </a:solidFill>
                <a:latin typeface="Menlo"/>
                <a:ea typeface="Menlo"/>
                <a:cs typeface="Menlo"/>
              </a:defRPr>
            </a:pPr>
            <a:r>
              <a:rPr sz="713" b="1" i="0">
                <a:solidFill>
                  <a:srgbClr val="062942"/>
                </a:solidFill>
                <a:latin typeface="Menlo"/>
                <a:ea typeface="Menlo"/>
                <a:cs typeface="Menlo"/>
              </a:rPr>
              <a:t>/</a:t>
            </a:r>
          </a:p>
        </p:txBody>
      </p:sp>
      <p:sp>
        <p:nvSpPr>
          <p:cNvPr id="13" name="future-network-label">
            <a:extLst xmlns:a="http://schemas.openxmlformats.org/drawingml/2006/main">
              <a:ext uri="{FF2B5EF4-FFF2-40B4-BE49-F238E27FC236}">
                <a16:creationId xmlns:a16="http://schemas.microsoft.com/office/drawing/2014/main" id="{042889C3-A770-4B2F-B32E-274CF44808FE}"/>
              </a:ext>
            </a:extLst>
          </p:cNvPr>
          <p:cNvSpPr>
            <a:spLocks xmlns:a="http://schemas.openxmlformats.org/drawingml/2006/main" noGrp="1"/>
          </p:cNvSpPr>
          <p:nvPr/>
        </p:nvSpPr>
        <p:spPr>
          <a:xfrm xmlns:a="http://schemas.openxmlformats.org/drawingml/2006/main">
            <a:off x="2095500" y="18573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13" b="1" i="0">
                <a:solidFill>
                  <a:srgbClr val="062942">
                    <a:alpha val="72000"/>
                  </a:srgbClr>
                </a:solidFill>
                <a:latin typeface="Menlo"/>
                <a:ea typeface="Menlo"/>
                <a:cs typeface="Menlo"/>
              </a:defRPr>
            </a:pPr>
            <a:r>
              <a:rPr sz="713" b="1" i="0">
                <a:solidFill>
                  <a:srgbClr val="062942">
                    <a:alpha val="72000"/>
                  </a:srgbClr>
                </a:solidFill>
                <a:latin typeface="Menlo"/>
                <a:ea typeface="Menlo"/>
                <a:cs typeface="Menlo"/>
              </a:rPr>
              <a:t>150 FELLOWS BY 2028</a:t>
            </a:r>
          </a:p>
        </p:txBody>
      </p:sp>
      <p:sp>
        <p:nvSpPr>
          <p:cNvPr id="14" name="">
            <a:extLst xmlns:a="http://schemas.openxmlformats.org/drawingml/2006/main">
              <a:ext uri="{FF2B5EF4-FFF2-40B4-BE49-F238E27FC236}">
                <a16:creationId xmlns:a16="http://schemas.microsoft.com/office/drawing/2014/main" id="{47B14E70-ED2B-4DCE-8ABD-164BAFF26469}"/>
              </a:ext>
            </a:extLst>
          </p:cNvPr>
          <p:cNvSpPr>
            <a:spLocks xmlns:a="http://schemas.openxmlformats.org/drawingml/2006/main" noGrp="1"/>
          </p:cNvSpPr>
          <p:nvPr/>
        </p:nvSpPr>
        <p:spPr>
          <a:xfrm xmlns:a="http://schemas.openxmlformats.org/drawingml/2006/main">
            <a:off x="589598" y="2523173"/>
            <a:ext cx="40005" cy="40005"/>
          </a:xfrm>
          <a:prstGeom xmlns:a="http://schemas.openxmlformats.org/drawingml/2006/main" prst="ellipse">
            <a:avLst/>
          </a:prstGeom>
          <a:solidFill xmlns:a="http://schemas.openxmlformats.org/drawingml/2006/main">
            <a:srgbClr val="B65F1F">
              <a:alpha val="64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E5F852-8F5A-4581-8DD1-6083654DE46C}"/>
              </a:ext>
            </a:extLst>
          </p:cNvPr>
          <p:cNvSpPr>
            <a:spLocks xmlns:a="http://schemas.openxmlformats.org/drawingml/2006/main" noGrp="1"/>
          </p:cNvSpPr>
          <p:nvPr/>
        </p:nvSpPr>
        <p:spPr>
          <a:xfrm xmlns:a="http://schemas.openxmlformats.org/drawingml/2006/main">
            <a:off x="1773555" y="2135505"/>
            <a:ext cx="34290" cy="3429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7B1EE7-D856-43FC-9DCC-7A334944030C}"/>
              </a:ext>
            </a:extLst>
          </p:cNvPr>
          <p:cNvSpPr>
            <a:spLocks xmlns:a="http://schemas.openxmlformats.org/drawingml/2006/main" noGrp="1"/>
          </p:cNvSpPr>
          <p:nvPr/>
        </p:nvSpPr>
        <p:spPr>
          <a:xfrm xmlns:a="http://schemas.openxmlformats.org/drawingml/2006/main">
            <a:off x="3110865" y="2339340"/>
            <a:ext cx="45720" cy="4572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D34CE06-7A4D-4224-A3B5-72F2B6C7D31A}"/>
              </a:ext>
            </a:extLst>
          </p:cNvPr>
          <p:cNvSpPr>
            <a:spLocks xmlns:a="http://schemas.openxmlformats.org/drawingml/2006/main" noGrp="1"/>
          </p:cNvSpPr>
          <p:nvPr/>
        </p:nvSpPr>
        <p:spPr>
          <a:xfrm xmlns:a="http://schemas.openxmlformats.org/drawingml/2006/main">
            <a:off x="4509135" y="2127885"/>
            <a:ext cx="30480" cy="3048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B765926-A76A-4422-82DA-C08F757FC3ED}"/>
              </a:ext>
            </a:extLst>
          </p:cNvPr>
          <p:cNvSpPr>
            <a:spLocks xmlns:a="http://schemas.openxmlformats.org/drawingml/2006/main" noGrp="1"/>
          </p:cNvSpPr>
          <p:nvPr/>
        </p:nvSpPr>
        <p:spPr>
          <a:xfrm xmlns:a="http://schemas.openxmlformats.org/drawingml/2006/main">
            <a:off x="5810250" y="2343150"/>
            <a:ext cx="38100" cy="3810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5634228-42AF-4F94-ACC3-43047B59EC77}"/>
              </a:ext>
            </a:extLst>
          </p:cNvPr>
          <p:cNvSpPr>
            <a:spLocks xmlns:a="http://schemas.openxmlformats.org/drawingml/2006/main" noGrp="1"/>
          </p:cNvSpPr>
          <p:nvPr/>
        </p:nvSpPr>
        <p:spPr>
          <a:xfrm xmlns:a="http://schemas.openxmlformats.org/drawingml/2006/main">
            <a:off x="7237095" y="2179320"/>
            <a:ext cx="41910" cy="4191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916ED5D-91BC-457B-831C-3A4F03B386EF}"/>
              </a:ext>
            </a:extLst>
          </p:cNvPr>
          <p:cNvSpPr>
            <a:spLocks xmlns:a="http://schemas.openxmlformats.org/drawingml/2006/main" noGrp="1"/>
          </p:cNvSpPr>
          <p:nvPr/>
        </p:nvSpPr>
        <p:spPr>
          <a:xfrm xmlns:a="http://schemas.openxmlformats.org/drawingml/2006/main">
            <a:off x="1174433" y="3193733"/>
            <a:ext cx="32385" cy="32385"/>
          </a:xfrm>
          <a:prstGeom xmlns:a="http://schemas.openxmlformats.org/drawingml/2006/main" prst="ellipse">
            <a:avLst/>
          </a:prstGeom>
          <a:solidFill xmlns:a="http://schemas.openxmlformats.org/drawingml/2006/main">
            <a:srgbClr val="B65F1F">
              <a:alpha val="64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BB2C4A-5BAB-47AF-AEFB-290F25F76594}"/>
              </a:ext>
            </a:extLst>
          </p:cNvPr>
          <p:cNvSpPr>
            <a:spLocks xmlns:a="http://schemas.openxmlformats.org/drawingml/2006/main" noGrp="1"/>
          </p:cNvSpPr>
          <p:nvPr/>
        </p:nvSpPr>
        <p:spPr>
          <a:xfrm xmlns:a="http://schemas.openxmlformats.org/drawingml/2006/main">
            <a:off x="2618423" y="3313748"/>
            <a:ext cx="40005" cy="4000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725B29-8534-4149-85DB-A65F1A5FD954}"/>
              </a:ext>
            </a:extLst>
          </p:cNvPr>
          <p:cNvSpPr>
            <a:spLocks xmlns:a="http://schemas.openxmlformats.org/drawingml/2006/main" noGrp="1"/>
          </p:cNvSpPr>
          <p:nvPr/>
        </p:nvSpPr>
        <p:spPr>
          <a:xfrm xmlns:a="http://schemas.openxmlformats.org/drawingml/2006/main">
            <a:off x="4024313" y="3167063"/>
            <a:ext cx="28575" cy="2857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4DD6DEC-72C2-4A1A-8772-DC5EDEB8E6E7}"/>
              </a:ext>
            </a:extLst>
          </p:cNvPr>
          <p:cNvSpPr>
            <a:spLocks xmlns:a="http://schemas.openxmlformats.org/drawingml/2006/main" noGrp="1"/>
          </p:cNvSpPr>
          <p:nvPr/>
        </p:nvSpPr>
        <p:spPr>
          <a:xfrm xmlns:a="http://schemas.openxmlformats.org/drawingml/2006/main">
            <a:off x="5332095" y="3331845"/>
            <a:ext cx="41910" cy="4191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3DACC14-5FED-4427-83E0-32E394BD878E}"/>
              </a:ext>
            </a:extLst>
          </p:cNvPr>
          <p:cNvSpPr>
            <a:spLocks xmlns:a="http://schemas.openxmlformats.org/drawingml/2006/main" noGrp="1"/>
          </p:cNvSpPr>
          <p:nvPr/>
        </p:nvSpPr>
        <p:spPr>
          <a:xfrm xmlns:a="http://schemas.openxmlformats.org/drawingml/2006/main">
            <a:off x="6736080" y="3164205"/>
            <a:ext cx="34290" cy="3429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A4BE06E-B732-401A-84D4-5ED3CE789CAB}"/>
              </a:ext>
            </a:extLst>
          </p:cNvPr>
          <p:cNvSpPr>
            <a:spLocks xmlns:a="http://schemas.openxmlformats.org/drawingml/2006/main" noGrp="1"/>
          </p:cNvSpPr>
          <p:nvPr/>
        </p:nvSpPr>
        <p:spPr>
          <a:xfrm xmlns:a="http://schemas.openxmlformats.org/drawingml/2006/main">
            <a:off x="7471410" y="3404235"/>
            <a:ext cx="49530" cy="4953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0D021C3-F8EA-49B3-9B68-D5229359B1F4}"/>
              </a:ext>
            </a:extLst>
          </p:cNvPr>
          <p:cNvSpPr>
            <a:spLocks xmlns:a="http://schemas.openxmlformats.org/drawingml/2006/main" noGrp="1"/>
          </p:cNvSpPr>
          <p:nvPr/>
        </p:nvSpPr>
        <p:spPr>
          <a:xfrm xmlns:a="http://schemas.openxmlformats.org/drawingml/2006/main">
            <a:off x="669608" y="4022408"/>
            <a:ext cx="32385" cy="32385"/>
          </a:xfrm>
          <a:prstGeom xmlns:a="http://schemas.openxmlformats.org/drawingml/2006/main" prst="ellipse">
            <a:avLst/>
          </a:prstGeom>
          <a:solidFill xmlns:a="http://schemas.openxmlformats.org/drawingml/2006/main">
            <a:srgbClr val="B65F1F">
              <a:alpha val="64000"/>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C954B90-688E-4BD5-A193-CA9A73B8807F}"/>
              </a:ext>
            </a:extLst>
          </p:cNvPr>
          <p:cNvSpPr>
            <a:spLocks xmlns:a="http://schemas.openxmlformats.org/drawingml/2006/main" noGrp="1"/>
          </p:cNvSpPr>
          <p:nvPr/>
        </p:nvSpPr>
        <p:spPr>
          <a:xfrm xmlns:a="http://schemas.openxmlformats.org/drawingml/2006/main">
            <a:off x="1798320" y="4246245"/>
            <a:ext cx="41910" cy="4191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7B04AD1-9900-4D58-A7B4-42C3D9E1DF90}"/>
              </a:ext>
            </a:extLst>
          </p:cNvPr>
          <p:cNvSpPr>
            <a:spLocks xmlns:a="http://schemas.openxmlformats.org/drawingml/2006/main" noGrp="1"/>
          </p:cNvSpPr>
          <p:nvPr/>
        </p:nvSpPr>
        <p:spPr>
          <a:xfrm xmlns:a="http://schemas.openxmlformats.org/drawingml/2006/main">
            <a:off x="3167063" y="4052888"/>
            <a:ext cx="28575" cy="2857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EB5D57D-D4B2-4C8B-92BA-FA5A5DE8F789}"/>
              </a:ext>
            </a:extLst>
          </p:cNvPr>
          <p:cNvSpPr>
            <a:spLocks xmlns:a="http://schemas.openxmlformats.org/drawingml/2006/main" noGrp="1"/>
          </p:cNvSpPr>
          <p:nvPr/>
        </p:nvSpPr>
        <p:spPr>
          <a:xfrm xmlns:a="http://schemas.openxmlformats.org/drawingml/2006/main">
            <a:off x="4511040" y="4291965"/>
            <a:ext cx="45720" cy="4572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F497870-5BDA-4851-BB1B-9459B1C7B58D}"/>
              </a:ext>
            </a:extLst>
          </p:cNvPr>
          <p:cNvSpPr>
            <a:spLocks xmlns:a="http://schemas.openxmlformats.org/drawingml/2006/main" noGrp="1"/>
          </p:cNvSpPr>
          <p:nvPr/>
        </p:nvSpPr>
        <p:spPr>
          <a:xfrm xmlns:a="http://schemas.openxmlformats.org/drawingml/2006/main">
            <a:off x="5869305" y="4030980"/>
            <a:ext cx="34290" cy="3429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CF46FE2-0757-43BE-BF27-DD0B64D0E847}"/>
              </a:ext>
            </a:extLst>
          </p:cNvPr>
          <p:cNvSpPr>
            <a:spLocks xmlns:a="http://schemas.openxmlformats.org/drawingml/2006/main" noGrp="1"/>
          </p:cNvSpPr>
          <p:nvPr/>
        </p:nvSpPr>
        <p:spPr>
          <a:xfrm xmlns:a="http://schemas.openxmlformats.org/drawingml/2006/main">
            <a:off x="7257098" y="4256723"/>
            <a:ext cx="40005" cy="4000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7BB641-7165-49C5-873B-A323A9D4BCBA}"/>
              </a:ext>
            </a:extLst>
          </p:cNvPr>
          <p:cNvSpPr>
            <a:spLocks xmlns:a="http://schemas.openxmlformats.org/drawingml/2006/main" noGrp="1"/>
          </p:cNvSpPr>
          <p:nvPr/>
        </p:nvSpPr>
        <p:spPr>
          <a:xfrm xmlns:a="http://schemas.openxmlformats.org/drawingml/2006/main">
            <a:off x="1234440" y="4749165"/>
            <a:ext cx="45720" cy="45720"/>
          </a:xfrm>
          <a:prstGeom xmlns:a="http://schemas.openxmlformats.org/drawingml/2006/main" prst="ellipse">
            <a:avLst/>
          </a:prstGeom>
          <a:solidFill xmlns:a="http://schemas.openxmlformats.org/drawingml/2006/main">
            <a:srgbClr val="B65F1F">
              <a:alpha val="64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FC1EE4-F514-47BC-A462-5F0920A4EEEC}"/>
              </a:ext>
            </a:extLst>
          </p:cNvPr>
          <p:cNvSpPr>
            <a:spLocks xmlns:a="http://schemas.openxmlformats.org/drawingml/2006/main" noGrp="1"/>
          </p:cNvSpPr>
          <p:nvPr/>
        </p:nvSpPr>
        <p:spPr>
          <a:xfrm xmlns:a="http://schemas.openxmlformats.org/drawingml/2006/main">
            <a:off x="2643188" y="4852988"/>
            <a:ext cx="28575" cy="2857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48531A-ABA6-4499-9210-DCCA126691AC}"/>
              </a:ext>
            </a:extLst>
          </p:cNvPr>
          <p:cNvSpPr>
            <a:spLocks xmlns:a="http://schemas.openxmlformats.org/drawingml/2006/main" noGrp="1"/>
          </p:cNvSpPr>
          <p:nvPr/>
        </p:nvSpPr>
        <p:spPr>
          <a:xfrm xmlns:a="http://schemas.openxmlformats.org/drawingml/2006/main">
            <a:off x="4010025" y="4724400"/>
            <a:ext cx="38100" cy="38100"/>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694A58B-3BD1-4AFE-A9A8-B188B1C093CE}"/>
              </a:ext>
            </a:extLst>
          </p:cNvPr>
          <p:cNvSpPr>
            <a:spLocks xmlns:a="http://schemas.openxmlformats.org/drawingml/2006/main" noGrp="1"/>
          </p:cNvSpPr>
          <p:nvPr/>
        </p:nvSpPr>
        <p:spPr>
          <a:xfrm xmlns:a="http://schemas.openxmlformats.org/drawingml/2006/main">
            <a:off x="5422583" y="4879658"/>
            <a:ext cx="32385" cy="3238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D7611AD-18CC-4934-9AF7-5E2F94BC109B}"/>
              </a:ext>
            </a:extLst>
          </p:cNvPr>
          <p:cNvSpPr>
            <a:spLocks xmlns:a="http://schemas.openxmlformats.org/drawingml/2006/main" noGrp="1"/>
          </p:cNvSpPr>
          <p:nvPr/>
        </p:nvSpPr>
        <p:spPr>
          <a:xfrm xmlns:a="http://schemas.openxmlformats.org/drawingml/2006/main">
            <a:off x="6836093" y="4712018"/>
            <a:ext cx="43815" cy="43815"/>
          </a:xfrm>
          <a:prstGeom xmlns:a="http://schemas.openxmlformats.org/drawingml/2006/main" prst="ellipse">
            <a:avLst/>
          </a:prstGeom>
          <a:solidFill xmlns:a="http://schemas.openxmlformats.org/drawingml/2006/main">
            <a:srgbClr val="062942">
              <a:alpha val="38000"/>
            </a:srgbClr>
          </a:solidFill>
          <a:ln xmlns:a="http://schemas.openxmlformats.org/drawingml/2006/main" w="0">
            <a:noFill/>
            <a:prstDash val="solid"/>
          </a:ln>
        </p:spPr>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55bccf23ae264daf"/>
          <a:stretch xmlns:a="http://schemas.openxmlformats.org/drawingml/2006/main"/>
        </p:blipFill>
        <p:spPr>
          <a:xfrm xmlns:a="http://schemas.openxmlformats.org/drawingml/2006/main">
            <a:off x="600075" y="2114550"/>
            <a:ext cx="857250" cy="857250"/>
          </a:xfrm>
          <a:prstGeom xmlns:a="http://schemas.openxmlformats.org/drawingml/2006/main" prst="rect">
            <a:avLst/>
          </a:prstGeom>
        </p:spPr>
      </p:pic>
      <p:sp>
        <p:nvSpPr>
          <p:cNvPr id="38" name="name-monto">
            <a:extLst xmlns:a="http://schemas.openxmlformats.org/drawingml/2006/main">
              <a:ext uri="{FF2B5EF4-FFF2-40B4-BE49-F238E27FC236}">
                <a16:creationId xmlns:a16="http://schemas.microsoft.com/office/drawing/2014/main" id="{F73A722F-1018-408E-A02A-E5E954FCDE4A}"/>
              </a:ext>
            </a:extLst>
          </p:cNvPr>
          <p:cNvSpPr>
            <a:spLocks xmlns:a="http://schemas.openxmlformats.org/drawingml/2006/main" noGrp="1"/>
          </p:cNvSpPr>
          <p:nvPr/>
        </p:nvSpPr>
        <p:spPr>
          <a:xfrm xmlns:a="http://schemas.openxmlformats.org/drawingml/2006/main">
            <a:off x="504825" y="29813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Monto</a:t>
            </a:r>
          </a:p>
        </p:txBody>
      </p:sp>
      <p:sp>
        <p:nvSpPr>
          <p:cNvPr id="39" name="company-monto">
            <a:extLst xmlns:a="http://schemas.openxmlformats.org/drawingml/2006/main">
              <a:ext uri="{FF2B5EF4-FFF2-40B4-BE49-F238E27FC236}">
                <a16:creationId xmlns:a16="http://schemas.microsoft.com/office/drawing/2014/main" id="{57F0DF77-54E4-4549-86E5-B29EF2BECADB}"/>
              </a:ext>
            </a:extLst>
          </p:cNvPr>
          <p:cNvSpPr>
            <a:spLocks xmlns:a="http://schemas.openxmlformats.org/drawingml/2006/main" noGrp="1"/>
          </p:cNvSpPr>
          <p:nvPr/>
        </p:nvSpPr>
        <p:spPr>
          <a:xfrm xmlns:a="http://schemas.openxmlformats.org/drawingml/2006/main">
            <a:off x="457200" y="3181350"/>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VERCEL</a:t>
            </a:r>
          </a:p>
        </p:txBody>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707d149090bf4a9d"/>
          <a:stretch xmlns:a="http://schemas.openxmlformats.org/drawingml/2006/main"/>
        </p:blipFill>
        <p:spPr>
          <a:xfrm xmlns:a="http://schemas.openxmlformats.org/drawingml/2006/main">
            <a:off x="2000250" y="2114550"/>
            <a:ext cx="857250" cy="857250"/>
          </a:xfrm>
          <a:prstGeom xmlns:a="http://schemas.openxmlformats.org/drawingml/2006/main" prst="rect">
            <a:avLst/>
          </a:prstGeom>
        </p:spPr>
      </p:pic>
      <p:sp>
        <p:nvSpPr>
          <p:cNvPr id="41" name="name-pablo">
            <a:extLst xmlns:a="http://schemas.openxmlformats.org/drawingml/2006/main">
              <a:ext uri="{FF2B5EF4-FFF2-40B4-BE49-F238E27FC236}">
                <a16:creationId xmlns:a16="http://schemas.microsoft.com/office/drawing/2014/main" id="{BFC1B0A0-5295-420C-8F85-AAB4CB49A976}"/>
              </a:ext>
            </a:extLst>
          </p:cNvPr>
          <p:cNvSpPr>
            <a:spLocks xmlns:a="http://schemas.openxmlformats.org/drawingml/2006/main" noGrp="1"/>
          </p:cNvSpPr>
          <p:nvPr/>
        </p:nvSpPr>
        <p:spPr>
          <a:xfrm xmlns:a="http://schemas.openxmlformats.org/drawingml/2006/main">
            <a:off x="1905000" y="29813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Pablo</a:t>
            </a:r>
          </a:p>
        </p:txBody>
      </p:sp>
      <p:sp>
        <p:nvSpPr>
          <p:cNvPr id="42" name="company-pablo">
            <a:extLst xmlns:a="http://schemas.openxmlformats.org/drawingml/2006/main">
              <a:ext uri="{FF2B5EF4-FFF2-40B4-BE49-F238E27FC236}">
                <a16:creationId xmlns:a16="http://schemas.microsoft.com/office/drawing/2014/main" id="{9B0549B6-8370-4600-8EAC-95D0B71DB227}"/>
              </a:ext>
            </a:extLst>
          </p:cNvPr>
          <p:cNvSpPr>
            <a:spLocks xmlns:a="http://schemas.openxmlformats.org/drawingml/2006/main" noGrp="1"/>
          </p:cNvSpPr>
          <p:nvPr/>
        </p:nvSpPr>
        <p:spPr>
          <a:xfrm xmlns:a="http://schemas.openxmlformats.org/drawingml/2006/main">
            <a:off x="1857375" y="3181350"/>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REPLIT</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c61e202bc1234569"/>
          <a:stretch xmlns:a="http://schemas.openxmlformats.org/drawingml/2006/main"/>
        </p:blipFill>
        <p:spPr>
          <a:xfrm xmlns:a="http://schemas.openxmlformats.org/drawingml/2006/main">
            <a:off x="3400425" y="2114550"/>
            <a:ext cx="857250" cy="857250"/>
          </a:xfrm>
          <a:prstGeom xmlns:a="http://schemas.openxmlformats.org/drawingml/2006/main" prst="rect">
            <a:avLst/>
          </a:prstGeom>
        </p:spPr>
      </p:pic>
      <p:sp>
        <p:nvSpPr>
          <p:cNvPr id="44" name="name-tomas">
            <a:extLst xmlns:a="http://schemas.openxmlformats.org/drawingml/2006/main">
              <a:ext uri="{FF2B5EF4-FFF2-40B4-BE49-F238E27FC236}">
                <a16:creationId xmlns:a16="http://schemas.microsoft.com/office/drawing/2014/main" id="{58AFC406-BCA8-4C26-BF89-CB5A063689D4}"/>
              </a:ext>
            </a:extLst>
          </p:cNvPr>
          <p:cNvSpPr>
            <a:spLocks xmlns:a="http://schemas.openxmlformats.org/drawingml/2006/main" noGrp="1"/>
          </p:cNvSpPr>
          <p:nvPr/>
        </p:nvSpPr>
        <p:spPr>
          <a:xfrm xmlns:a="http://schemas.openxmlformats.org/drawingml/2006/main">
            <a:off x="3305175" y="29813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Tomás</a:t>
            </a:r>
          </a:p>
        </p:txBody>
      </p:sp>
      <p:sp>
        <p:nvSpPr>
          <p:cNvPr id="45" name="company-tomas">
            <a:extLst xmlns:a="http://schemas.openxmlformats.org/drawingml/2006/main">
              <a:ext uri="{FF2B5EF4-FFF2-40B4-BE49-F238E27FC236}">
                <a16:creationId xmlns:a16="http://schemas.microsoft.com/office/drawing/2014/main" id="{C7816EFC-61A7-4E3B-BF95-00248D23403C}"/>
              </a:ext>
            </a:extLst>
          </p:cNvPr>
          <p:cNvSpPr>
            <a:spLocks xmlns:a="http://schemas.openxmlformats.org/drawingml/2006/main" noGrp="1"/>
          </p:cNvSpPr>
          <p:nvPr/>
        </p:nvSpPr>
        <p:spPr>
          <a:xfrm xmlns:a="http://schemas.openxmlformats.org/drawingml/2006/main">
            <a:off x="3257550" y="3181350"/>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COGNITION</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219c83eea99f4220"/>
          <a:stretch xmlns:a="http://schemas.openxmlformats.org/drawingml/2006/main"/>
        </p:blipFill>
        <p:spPr>
          <a:xfrm xmlns:a="http://schemas.openxmlformats.org/drawingml/2006/main">
            <a:off x="4800600" y="2114550"/>
            <a:ext cx="857250" cy="857250"/>
          </a:xfrm>
          <a:prstGeom xmlns:a="http://schemas.openxmlformats.org/drawingml/2006/main" prst="rect">
            <a:avLst/>
          </a:prstGeom>
        </p:spPr>
      </p:pic>
      <p:sp>
        <p:nvSpPr>
          <p:cNvPr id="47" name="name-mateo">
            <a:extLst xmlns:a="http://schemas.openxmlformats.org/drawingml/2006/main">
              <a:ext uri="{FF2B5EF4-FFF2-40B4-BE49-F238E27FC236}">
                <a16:creationId xmlns:a16="http://schemas.microsoft.com/office/drawing/2014/main" id="{5E01ABBC-8450-4BAE-A403-17F76AA86B8C}"/>
              </a:ext>
            </a:extLst>
          </p:cNvPr>
          <p:cNvSpPr>
            <a:spLocks xmlns:a="http://schemas.openxmlformats.org/drawingml/2006/main" noGrp="1"/>
          </p:cNvSpPr>
          <p:nvPr/>
        </p:nvSpPr>
        <p:spPr>
          <a:xfrm xmlns:a="http://schemas.openxmlformats.org/drawingml/2006/main">
            <a:off x="4705350" y="29813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Mateo</a:t>
            </a:r>
          </a:p>
        </p:txBody>
      </p:sp>
      <p:sp>
        <p:nvSpPr>
          <p:cNvPr id="48" name="company-mateo">
            <a:extLst xmlns:a="http://schemas.openxmlformats.org/drawingml/2006/main">
              <a:ext uri="{FF2B5EF4-FFF2-40B4-BE49-F238E27FC236}">
                <a16:creationId xmlns:a16="http://schemas.microsoft.com/office/drawing/2014/main" id="{85BF6713-7B06-4139-9F5C-9C8427E8D69A}"/>
              </a:ext>
            </a:extLst>
          </p:cNvPr>
          <p:cNvSpPr>
            <a:spLocks xmlns:a="http://schemas.openxmlformats.org/drawingml/2006/main" noGrp="1"/>
          </p:cNvSpPr>
          <p:nvPr/>
        </p:nvSpPr>
        <p:spPr>
          <a:xfrm xmlns:a="http://schemas.openxmlformats.org/drawingml/2006/main">
            <a:off x="4657725" y="3181350"/>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KREA</a:t>
            </a:r>
          </a:p>
        </p:txBody>
      </p:sp>
      <p:pic>
        <p:nvPicPr>
          <p:cNvPr id="163" name=""/>
          <p:cNvPicPr>
            <a:picLocks xmlns:a="http://schemas.openxmlformats.org/drawingml/2006/main" noChangeAspect="1"/>
          </p:cNvPicPr>
          <p:nvPr/>
        </p:nvPicPr>
        <p:blipFill>
          <a:blip xmlns:r="http://schemas.openxmlformats.org/officeDocument/2006/relationships" xmlns:a="http://schemas.openxmlformats.org/drawingml/2006/main" r:embed="R39ec4dd68b4747ed"/>
          <a:stretch xmlns:a="http://schemas.openxmlformats.org/drawingml/2006/main"/>
        </p:blipFill>
        <p:spPr>
          <a:xfrm xmlns:a="http://schemas.openxmlformats.org/drawingml/2006/main">
            <a:off x="6200775" y="2114550"/>
            <a:ext cx="857250" cy="857250"/>
          </a:xfrm>
          <a:prstGeom xmlns:a="http://schemas.openxmlformats.org/drawingml/2006/main" prst="rect">
            <a:avLst/>
          </a:prstGeom>
        </p:spPr>
      </p:pic>
      <p:sp>
        <p:nvSpPr>
          <p:cNvPr id="50" name="name-andres">
            <a:extLst xmlns:a="http://schemas.openxmlformats.org/drawingml/2006/main">
              <a:ext uri="{FF2B5EF4-FFF2-40B4-BE49-F238E27FC236}">
                <a16:creationId xmlns:a16="http://schemas.microsoft.com/office/drawing/2014/main" id="{D5002AE9-FD16-4D73-8E70-805938830388}"/>
              </a:ext>
            </a:extLst>
          </p:cNvPr>
          <p:cNvSpPr>
            <a:spLocks xmlns:a="http://schemas.openxmlformats.org/drawingml/2006/main" noGrp="1"/>
          </p:cNvSpPr>
          <p:nvPr/>
        </p:nvSpPr>
        <p:spPr>
          <a:xfrm xmlns:a="http://schemas.openxmlformats.org/drawingml/2006/main">
            <a:off x="6105525" y="29813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Andrés</a:t>
            </a:r>
          </a:p>
        </p:txBody>
      </p:sp>
      <p:sp>
        <p:nvSpPr>
          <p:cNvPr id="51" name="company-andres">
            <a:extLst xmlns:a="http://schemas.openxmlformats.org/drawingml/2006/main">
              <a:ext uri="{FF2B5EF4-FFF2-40B4-BE49-F238E27FC236}">
                <a16:creationId xmlns:a16="http://schemas.microsoft.com/office/drawing/2014/main" id="{8FDF471D-A91A-41E2-9F42-48371966714F}"/>
              </a:ext>
            </a:extLst>
          </p:cNvPr>
          <p:cNvSpPr>
            <a:spLocks xmlns:a="http://schemas.openxmlformats.org/drawingml/2006/main" noGrp="1"/>
          </p:cNvSpPr>
          <p:nvPr/>
        </p:nvSpPr>
        <p:spPr>
          <a:xfrm xmlns:a="http://schemas.openxmlformats.org/drawingml/2006/main">
            <a:off x="6057900" y="3181350"/>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CIRCLEBACK</a:t>
            </a:r>
          </a:p>
        </p:txBody>
      </p:sp>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9d84ed906047418f"/>
          <a:stretch xmlns:a="http://schemas.openxmlformats.org/drawingml/2006/main"/>
        </p:blipFill>
        <p:spPr>
          <a:xfrm xmlns:a="http://schemas.openxmlformats.org/drawingml/2006/main">
            <a:off x="600075" y="3476625"/>
            <a:ext cx="857250" cy="857250"/>
          </a:xfrm>
          <a:prstGeom xmlns:a="http://schemas.openxmlformats.org/drawingml/2006/main" prst="rect">
            <a:avLst/>
          </a:prstGeom>
        </p:spPr>
      </p:pic>
      <p:sp>
        <p:nvSpPr>
          <p:cNvPr id="53" name="name-lais">
            <a:extLst xmlns:a="http://schemas.openxmlformats.org/drawingml/2006/main">
              <a:ext uri="{FF2B5EF4-FFF2-40B4-BE49-F238E27FC236}">
                <a16:creationId xmlns:a16="http://schemas.microsoft.com/office/drawing/2014/main" id="{32DC5400-1F0B-4345-AD44-FBF947B8D1AB}"/>
              </a:ext>
            </a:extLst>
          </p:cNvPr>
          <p:cNvSpPr>
            <a:spLocks xmlns:a="http://schemas.openxmlformats.org/drawingml/2006/main" noGrp="1"/>
          </p:cNvSpPr>
          <p:nvPr/>
        </p:nvSpPr>
        <p:spPr>
          <a:xfrm xmlns:a="http://schemas.openxmlformats.org/drawingml/2006/main">
            <a:off x="504825" y="43434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Laís</a:t>
            </a:r>
          </a:p>
        </p:txBody>
      </p:sp>
      <p:sp>
        <p:nvSpPr>
          <p:cNvPr id="54" name="company-lais">
            <a:extLst xmlns:a="http://schemas.openxmlformats.org/drawingml/2006/main">
              <a:ext uri="{FF2B5EF4-FFF2-40B4-BE49-F238E27FC236}">
                <a16:creationId xmlns:a16="http://schemas.microsoft.com/office/drawing/2014/main" id="{DC89D5E8-651A-4EE4-89FF-DC5FDFB5FAF0}"/>
              </a:ext>
            </a:extLst>
          </p:cNvPr>
          <p:cNvSpPr>
            <a:spLocks xmlns:a="http://schemas.openxmlformats.org/drawingml/2006/main" noGrp="1"/>
          </p:cNvSpPr>
          <p:nvPr/>
        </p:nvSpPr>
        <p:spPr>
          <a:xfrm xmlns:a="http://schemas.openxmlformats.org/drawingml/2006/main">
            <a:off x="457200" y="45434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TEACHY</a:t>
            </a:r>
          </a:p>
        </p:txBody>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dd84a982cf7c4639"/>
          <a:stretch xmlns:a="http://schemas.openxmlformats.org/drawingml/2006/main"/>
        </p:blipFill>
        <p:spPr>
          <a:xfrm xmlns:a="http://schemas.openxmlformats.org/drawingml/2006/main">
            <a:off x="2000250" y="3476625"/>
            <a:ext cx="857250" cy="857250"/>
          </a:xfrm>
          <a:prstGeom xmlns:a="http://schemas.openxmlformats.org/drawingml/2006/main" prst="rect">
            <a:avLst/>
          </a:prstGeom>
        </p:spPr>
      </p:pic>
      <p:sp>
        <p:nvSpPr>
          <p:cNvPr id="56" name="name-samuel">
            <a:extLst xmlns:a="http://schemas.openxmlformats.org/drawingml/2006/main">
              <a:ext uri="{FF2B5EF4-FFF2-40B4-BE49-F238E27FC236}">
                <a16:creationId xmlns:a16="http://schemas.microsoft.com/office/drawing/2014/main" id="{C8E92282-F91E-4B04-A843-3A39A50CDED1}"/>
              </a:ext>
            </a:extLst>
          </p:cNvPr>
          <p:cNvSpPr>
            <a:spLocks xmlns:a="http://schemas.openxmlformats.org/drawingml/2006/main" noGrp="1"/>
          </p:cNvSpPr>
          <p:nvPr/>
        </p:nvSpPr>
        <p:spPr>
          <a:xfrm xmlns:a="http://schemas.openxmlformats.org/drawingml/2006/main">
            <a:off x="1905000" y="43434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Samuel</a:t>
            </a:r>
          </a:p>
        </p:txBody>
      </p:sp>
      <p:sp>
        <p:nvSpPr>
          <p:cNvPr id="57" name="company-samuel">
            <a:extLst xmlns:a="http://schemas.openxmlformats.org/drawingml/2006/main">
              <a:ext uri="{FF2B5EF4-FFF2-40B4-BE49-F238E27FC236}">
                <a16:creationId xmlns:a16="http://schemas.microsoft.com/office/drawing/2014/main" id="{D57F9E9C-7E84-4EFD-B899-72EE0B1B76BD}"/>
              </a:ext>
            </a:extLst>
          </p:cNvPr>
          <p:cNvSpPr>
            <a:spLocks xmlns:a="http://schemas.openxmlformats.org/drawingml/2006/main" noGrp="1"/>
          </p:cNvSpPr>
          <p:nvPr/>
        </p:nvSpPr>
        <p:spPr>
          <a:xfrm xmlns:a="http://schemas.openxmlformats.org/drawingml/2006/main">
            <a:off x="1857375" y="45434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DELPHI</a:t>
            </a:r>
          </a:p>
        </p:txBody>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304fd742b8c94156"/>
          <a:stretch xmlns:a="http://schemas.openxmlformats.org/drawingml/2006/main"/>
        </p:blipFill>
        <p:spPr>
          <a:xfrm xmlns:a="http://schemas.openxmlformats.org/drawingml/2006/main">
            <a:off x="3400425" y="3476625"/>
            <a:ext cx="857250" cy="857250"/>
          </a:xfrm>
          <a:prstGeom xmlns:a="http://schemas.openxmlformats.org/drawingml/2006/main" prst="rect">
            <a:avLst/>
          </a:prstGeom>
        </p:spPr>
      </p:pic>
      <p:sp>
        <p:nvSpPr>
          <p:cNvPr id="59" name="name-ignacio">
            <a:extLst xmlns:a="http://schemas.openxmlformats.org/drawingml/2006/main">
              <a:ext uri="{FF2B5EF4-FFF2-40B4-BE49-F238E27FC236}">
                <a16:creationId xmlns:a16="http://schemas.microsoft.com/office/drawing/2014/main" id="{F94E55BF-EDF2-48C3-BAF2-C7C4AC6554D8}"/>
              </a:ext>
            </a:extLst>
          </p:cNvPr>
          <p:cNvSpPr>
            <a:spLocks xmlns:a="http://schemas.openxmlformats.org/drawingml/2006/main" noGrp="1"/>
          </p:cNvSpPr>
          <p:nvPr/>
        </p:nvSpPr>
        <p:spPr>
          <a:xfrm xmlns:a="http://schemas.openxmlformats.org/drawingml/2006/main">
            <a:off x="3305175" y="43434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Ignacio</a:t>
            </a:r>
          </a:p>
        </p:txBody>
      </p:sp>
      <p:sp>
        <p:nvSpPr>
          <p:cNvPr id="60" name="company-ignacio">
            <a:extLst xmlns:a="http://schemas.openxmlformats.org/drawingml/2006/main">
              <a:ext uri="{FF2B5EF4-FFF2-40B4-BE49-F238E27FC236}">
                <a16:creationId xmlns:a16="http://schemas.microsoft.com/office/drawing/2014/main" id="{8E500A66-8C1A-497B-9636-5C632D55CBDF}"/>
              </a:ext>
            </a:extLst>
          </p:cNvPr>
          <p:cNvSpPr>
            <a:spLocks xmlns:a="http://schemas.openxmlformats.org/drawingml/2006/main" noGrp="1"/>
          </p:cNvSpPr>
          <p:nvPr/>
        </p:nvSpPr>
        <p:spPr>
          <a:xfrm xmlns:a="http://schemas.openxmlformats.org/drawingml/2006/main">
            <a:off x="3257550" y="45434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FLAI</a:t>
            </a:r>
          </a:p>
        </p:txBody>
      </p:sp>
      <p:sp>
        <p:nvSpPr>
          <p:cNvPr id="61" name="portfolio-ignacio">
            <a:extLst xmlns:a="http://schemas.openxmlformats.org/drawingml/2006/main">
              <a:ext uri="{FF2B5EF4-FFF2-40B4-BE49-F238E27FC236}">
                <a16:creationId xmlns:a16="http://schemas.microsoft.com/office/drawing/2014/main" id="{3B5F91EF-5F9F-4C69-B373-D647B8CAC85D}"/>
              </a:ext>
            </a:extLst>
          </p:cNvPr>
          <p:cNvSpPr>
            <a:spLocks xmlns:a="http://schemas.openxmlformats.org/drawingml/2006/main" noGrp="1"/>
          </p:cNvSpPr>
          <p:nvPr/>
        </p:nvSpPr>
        <p:spPr>
          <a:xfrm xmlns:a="http://schemas.openxmlformats.org/drawingml/2006/main" flipH="0" flipV="0">
            <a:off x="3629025" y="4676775"/>
            <a:ext cx="400050" cy="0"/>
          </a:xfrm>
          <a:prstGeom xmlns:a="http://schemas.openxmlformats.org/drawingml/2006/main" prst="line">
            <a:avLst/>
          </a:prstGeom>
          <a:noFill xmlns:a="http://schemas.openxmlformats.org/drawingml/2006/main"/>
          <a:ln xmlns:a="http://schemas.openxmlformats.org/drawingml/2006/main" w="9525">
            <a:solidFill>
              <a:srgbClr val="B65F1F">
                <a:alpha val="70000"/>
              </a:srgbClr>
            </a:solidFill>
            <a:prstDash val="solid"/>
          </a:ln>
        </p:spPr>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af31edecc6d40e5"/>
          <a:stretch xmlns:a="http://schemas.openxmlformats.org/drawingml/2006/main"/>
        </p:blipFill>
        <p:spPr>
          <a:xfrm xmlns:a="http://schemas.openxmlformats.org/drawingml/2006/main">
            <a:off x="4800600" y="3476625"/>
            <a:ext cx="857250" cy="857250"/>
          </a:xfrm>
          <a:prstGeom xmlns:a="http://schemas.openxmlformats.org/drawingml/2006/main" prst="rect">
            <a:avLst/>
          </a:prstGeom>
        </p:spPr>
      </p:pic>
      <p:sp>
        <p:nvSpPr>
          <p:cNvPr id="63" name="name-german">
            <a:extLst xmlns:a="http://schemas.openxmlformats.org/drawingml/2006/main">
              <a:ext uri="{FF2B5EF4-FFF2-40B4-BE49-F238E27FC236}">
                <a16:creationId xmlns:a16="http://schemas.microsoft.com/office/drawing/2014/main" id="{3CA50EA8-E250-43E4-9E9B-E99FF58D6878}"/>
              </a:ext>
            </a:extLst>
          </p:cNvPr>
          <p:cNvSpPr>
            <a:spLocks xmlns:a="http://schemas.openxmlformats.org/drawingml/2006/main" noGrp="1"/>
          </p:cNvSpPr>
          <p:nvPr/>
        </p:nvSpPr>
        <p:spPr>
          <a:xfrm xmlns:a="http://schemas.openxmlformats.org/drawingml/2006/main">
            <a:off x="4705350" y="43434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Germán</a:t>
            </a:r>
          </a:p>
        </p:txBody>
      </p:sp>
      <p:sp>
        <p:nvSpPr>
          <p:cNvPr id="64" name="company-german">
            <a:extLst xmlns:a="http://schemas.openxmlformats.org/drawingml/2006/main">
              <a:ext uri="{FF2B5EF4-FFF2-40B4-BE49-F238E27FC236}">
                <a16:creationId xmlns:a16="http://schemas.microsoft.com/office/drawing/2014/main" id="{95ABD00B-26C2-4EF8-A874-7A6EB0AAF2C5}"/>
              </a:ext>
            </a:extLst>
          </p:cNvPr>
          <p:cNvSpPr>
            <a:spLocks xmlns:a="http://schemas.openxmlformats.org/drawingml/2006/main" noGrp="1"/>
          </p:cNvSpPr>
          <p:nvPr/>
        </p:nvSpPr>
        <p:spPr>
          <a:xfrm xmlns:a="http://schemas.openxmlformats.org/drawingml/2006/main">
            <a:off x="4657725" y="45434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TERAC</a:t>
            </a:r>
          </a:p>
        </p:txBody>
      </p:sp>
      <p:sp>
        <p:nvSpPr>
          <p:cNvPr id="65" name="portfolio-german">
            <a:extLst xmlns:a="http://schemas.openxmlformats.org/drawingml/2006/main">
              <a:ext uri="{FF2B5EF4-FFF2-40B4-BE49-F238E27FC236}">
                <a16:creationId xmlns:a16="http://schemas.microsoft.com/office/drawing/2014/main" id="{DF90985D-DA1A-4C13-8157-938EE4C6004B}"/>
              </a:ext>
            </a:extLst>
          </p:cNvPr>
          <p:cNvSpPr>
            <a:spLocks xmlns:a="http://schemas.openxmlformats.org/drawingml/2006/main" noGrp="1"/>
          </p:cNvSpPr>
          <p:nvPr/>
        </p:nvSpPr>
        <p:spPr>
          <a:xfrm xmlns:a="http://schemas.openxmlformats.org/drawingml/2006/main" flipH="0" flipV="0">
            <a:off x="5029200" y="4676775"/>
            <a:ext cx="400050" cy="0"/>
          </a:xfrm>
          <a:prstGeom xmlns:a="http://schemas.openxmlformats.org/drawingml/2006/main" prst="line">
            <a:avLst/>
          </a:prstGeom>
          <a:noFill xmlns:a="http://schemas.openxmlformats.org/drawingml/2006/main"/>
          <a:ln xmlns:a="http://schemas.openxmlformats.org/drawingml/2006/main" w="9525">
            <a:solidFill>
              <a:srgbClr val="B65F1F">
                <a:alpha val="70000"/>
              </a:srgbClr>
            </a:solidFill>
            <a:prstDash val="solid"/>
          </a:ln>
        </p:spPr>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b6c58139d0864b92"/>
          <a:stretch xmlns:a="http://schemas.openxmlformats.org/drawingml/2006/main"/>
        </p:blipFill>
        <p:spPr>
          <a:xfrm xmlns:a="http://schemas.openxmlformats.org/drawingml/2006/main">
            <a:off x="6200775" y="3476625"/>
            <a:ext cx="857250" cy="857250"/>
          </a:xfrm>
          <a:prstGeom xmlns:a="http://schemas.openxmlformats.org/drawingml/2006/main" prst="rect">
            <a:avLst/>
          </a:prstGeom>
        </p:spPr>
      </p:pic>
      <p:sp>
        <p:nvSpPr>
          <p:cNvPr id="67" name="name-agus">
            <a:extLst xmlns:a="http://schemas.openxmlformats.org/drawingml/2006/main">
              <a:ext uri="{FF2B5EF4-FFF2-40B4-BE49-F238E27FC236}">
                <a16:creationId xmlns:a16="http://schemas.microsoft.com/office/drawing/2014/main" id="{9C620845-7AA7-49C8-91C8-6CB1F9ADF894}"/>
              </a:ext>
            </a:extLst>
          </p:cNvPr>
          <p:cNvSpPr>
            <a:spLocks xmlns:a="http://schemas.openxmlformats.org/drawingml/2006/main" noGrp="1"/>
          </p:cNvSpPr>
          <p:nvPr/>
        </p:nvSpPr>
        <p:spPr>
          <a:xfrm xmlns:a="http://schemas.openxmlformats.org/drawingml/2006/main">
            <a:off x="6105525" y="43434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i="0">
                <a:solidFill>
                  <a:srgbClr val="062942"/>
                </a:solidFill>
                <a:latin typeface="Avenir Next"/>
                <a:ea typeface="Avenir Next"/>
                <a:cs typeface="Avenir Next"/>
              </a:defRPr>
            </a:pPr>
            <a:r>
              <a:rPr sz="1125" b="1" i="0">
                <a:solidFill>
                  <a:srgbClr val="062942"/>
                </a:solidFill>
                <a:latin typeface="Avenir Next"/>
                <a:ea typeface="Avenir Next"/>
                <a:cs typeface="Avenir Next"/>
              </a:rPr>
              <a:t>Agus</a:t>
            </a:r>
          </a:p>
        </p:txBody>
      </p:sp>
      <p:sp>
        <p:nvSpPr>
          <p:cNvPr id="68" name="company-agus">
            <a:extLst xmlns:a="http://schemas.openxmlformats.org/drawingml/2006/main">
              <a:ext uri="{FF2B5EF4-FFF2-40B4-BE49-F238E27FC236}">
                <a16:creationId xmlns:a16="http://schemas.microsoft.com/office/drawing/2014/main" id="{E8D17741-4180-4714-A52B-5CA8E7F40070}"/>
              </a:ext>
            </a:extLst>
          </p:cNvPr>
          <p:cNvSpPr>
            <a:spLocks xmlns:a="http://schemas.openxmlformats.org/drawingml/2006/main" noGrp="1"/>
          </p:cNvSpPr>
          <p:nvPr/>
        </p:nvSpPr>
        <p:spPr>
          <a:xfrm xmlns:a="http://schemas.openxmlformats.org/drawingml/2006/main">
            <a:off x="6057900" y="45434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660" b="1" i="0">
                <a:solidFill>
                  <a:srgbClr val="062942"/>
                </a:solidFill>
                <a:latin typeface="Menlo"/>
                <a:ea typeface="Menlo"/>
                <a:cs typeface="Menlo"/>
              </a:defRPr>
            </a:pPr>
            <a:r>
              <a:rPr sz="660" b="1" i="0">
                <a:solidFill>
                  <a:srgbClr val="062942"/>
                </a:solidFill>
                <a:latin typeface="Menlo"/>
                <a:ea typeface="Menlo"/>
                <a:cs typeface="Menlo"/>
              </a:rPr>
              <a:t>BEM</a:t>
            </a:r>
          </a:p>
        </p:txBody>
      </p:sp>
      <p:sp>
        <p:nvSpPr>
          <p:cNvPr id="69" name="portfolio-agus">
            <a:extLst xmlns:a="http://schemas.openxmlformats.org/drawingml/2006/main">
              <a:ext uri="{FF2B5EF4-FFF2-40B4-BE49-F238E27FC236}">
                <a16:creationId xmlns:a16="http://schemas.microsoft.com/office/drawing/2014/main" id="{177051C8-B356-4425-8290-F4CFF4C45689}"/>
              </a:ext>
            </a:extLst>
          </p:cNvPr>
          <p:cNvSpPr>
            <a:spLocks xmlns:a="http://schemas.openxmlformats.org/drawingml/2006/main" noGrp="1"/>
          </p:cNvSpPr>
          <p:nvPr/>
        </p:nvSpPr>
        <p:spPr>
          <a:xfrm xmlns:a="http://schemas.openxmlformats.org/drawingml/2006/main" flipH="0" flipV="0">
            <a:off x="6429375" y="4676775"/>
            <a:ext cx="400050" cy="0"/>
          </a:xfrm>
          <a:prstGeom xmlns:a="http://schemas.openxmlformats.org/drawingml/2006/main" prst="line">
            <a:avLst/>
          </a:prstGeom>
          <a:noFill xmlns:a="http://schemas.openxmlformats.org/drawingml/2006/main"/>
          <a:ln xmlns:a="http://schemas.openxmlformats.org/drawingml/2006/main" w="9525">
            <a:solidFill>
              <a:srgbClr val="B65F1F">
                <a:alpha val="70000"/>
              </a:srgbClr>
            </a:solidFill>
            <a:prstDash val="solid"/>
          </a:ln>
        </p:spPr>
      </p:sp>
      <p:sp>
        <p:nvSpPr>
          <p:cNvPr id="70" name="opportunity-label">
            <a:extLst xmlns:a="http://schemas.openxmlformats.org/drawingml/2006/main">
              <a:ext uri="{FF2B5EF4-FFF2-40B4-BE49-F238E27FC236}">
                <a16:creationId xmlns:a16="http://schemas.microsoft.com/office/drawing/2014/main" id="{C509B9CE-66B2-4121-B869-25CE8C3CBC19}"/>
              </a:ext>
            </a:extLst>
          </p:cNvPr>
          <p:cNvSpPr>
            <a:spLocks xmlns:a="http://schemas.openxmlformats.org/drawingml/2006/main" noGrp="1"/>
          </p:cNvSpPr>
          <p:nvPr/>
        </p:nvSpPr>
        <p:spPr>
          <a:xfrm xmlns:a="http://schemas.openxmlformats.org/drawingml/2006/main">
            <a:off x="8191500" y="1857375"/>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8" b="1" i="0">
                <a:solidFill>
                  <a:srgbClr val="062942">
                    <a:alpha val="78000"/>
                  </a:srgbClr>
                </a:solidFill>
                <a:latin typeface="Menlo"/>
                <a:ea typeface="Menlo"/>
                <a:cs typeface="Menlo"/>
              </a:defRPr>
            </a:pPr>
            <a:r>
              <a:rPr sz="668" b="1" i="0">
                <a:solidFill>
                  <a:srgbClr val="062942">
                    <a:alpha val="78000"/>
                  </a:srgbClr>
                </a:solidFill>
                <a:latin typeface="Menlo"/>
                <a:ea typeface="Menlo"/>
                <a:cs typeface="Menlo"/>
              </a:rPr>
              <a:t>OPPORTUNITY</a:t>
            </a:r>
          </a:p>
        </p:txBody>
      </p:sp>
      <p:sp>
        <p:nvSpPr>
          <p:cNvPr id="71" name="opportunity-body">
            <a:extLst xmlns:a="http://schemas.openxmlformats.org/drawingml/2006/main">
              <a:ext uri="{FF2B5EF4-FFF2-40B4-BE49-F238E27FC236}">
                <a16:creationId xmlns:a16="http://schemas.microsoft.com/office/drawing/2014/main" id="{6B79841F-3A27-4FF2-91E8-6F235D17A682}"/>
              </a:ext>
            </a:extLst>
          </p:cNvPr>
          <p:cNvSpPr>
            <a:spLocks xmlns:a="http://schemas.openxmlformats.org/drawingml/2006/main" noGrp="1"/>
          </p:cNvSpPr>
          <p:nvPr/>
        </p:nvSpPr>
        <p:spPr>
          <a:xfrm xmlns:a="http://schemas.openxmlformats.org/drawingml/2006/main">
            <a:off x="8191500" y="2085975"/>
            <a:ext cx="319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40" b="0" i="0">
                <a:solidFill>
                  <a:srgbClr val="062942"/>
                </a:solidFill>
                <a:latin typeface="STIX Two Text"/>
                <a:ea typeface="STIX Two Text"/>
                <a:cs typeface="STIX Two Text"/>
              </a:defRPr>
            </a:pPr>
            <a:r>
              <a:rPr sz="1140" b="0" i="0">
                <a:solidFill>
                  <a:srgbClr val="062942"/>
                </a:solidFill>
                <a:latin typeface="STIX Two Text"/>
                <a:ea typeface="STIX Two Text"/>
                <a:cs typeface="STIX Two Text"/>
              </a:rPr>
              <a:t>We believe in fellows early and create opportunities that can change their lives.</a:t>
            </a:r>
          </a:p>
        </p:txBody>
      </p:sp>
      <p:sp>
        <p:nvSpPr>
          <p:cNvPr id="72" name="early-teams-label">
            <a:extLst xmlns:a="http://schemas.openxmlformats.org/drawingml/2006/main">
              <a:ext uri="{FF2B5EF4-FFF2-40B4-BE49-F238E27FC236}">
                <a16:creationId xmlns:a16="http://schemas.microsoft.com/office/drawing/2014/main" id="{A9CD1CD6-4383-4EA5-9A80-C9946EF47C6B}"/>
              </a:ext>
            </a:extLst>
          </p:cNvPr>
          <p:cNvSpPr>
            <a:spLocks xmlns:a="http://schemas.openxmlformats.org/drawingml/2006/main" noGrp="1"/>
          </p:cNvSpPr>
          <p:nvPr/>
        </p:nvSpPr>
        <p:spPr>
          <a:xfrm xmlns:a="http://schemas.openxmlformats.org/drawingml/2006/main">
            <a:off x="8191500" y="28765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8" b="1" i="0">
                <a:solidFill>
                  <a:srgbClr val="062942">
                    <a:alpha val="78000"/>
                  </a:srgbClr>
                </a:solidFill>
                <a:latin typeface="Menlo"/>
                <a:ea typeface="Menlo"/>
                <a:cs typeface="Menlo"/>
              </a:defRPr>
            </a:pPr>
            <a:r>
              <a:rPr sz="668" b="1" i="0">
                <a:solidFill>
                  <a:srgbClr val="062942">
                    <a:alpha val="78000"/>
                  </a:srgbClr>
                </a:solidFill>
                <a:latin typeface="Menlo"/>
                <a:ea typeface="Menlo"/>
                <a:cs typeface="Menlo"/>
              </a:rPr>
              <a:t>EARLY TEAMS</a:t>
            </a:r>
          </a:p>
        </p:txBody>
      </p:sp>
      <p:sp>
        <p:nvSpPr>
          <p:cNvPr id="73" name="early-teams-body">
            <a:extLst xmlns:a="http://schemas.openxmlformats.org/drawingml/2006/main">
              <a:ext uri="{FF2B5EF4-FFF2-40B4-BE49-F238E27FC236}">
                <a16:creationId xmlns:a16="http://schemas.microsoft.com/office/drawing/2014/main" id="{3A36B6E2-5057-4C9E-BF09-83039C238600}"/>
              </a:ext>
            </a:extLst>
          </p:cNvPr>
          <p:cNvSpPr>
            <a:spLocks xmlns:a="http://schemas.openxmlformats.org/drawingml/2006/main" noGrp="1"/>
          </p:cNvSpPr>
          <p:nvPr/>
        </p:nvSpPr>
        <p:spPr>
          <a:xfrm xmlns:a="http://schemas.openxmlformats.org/drawingml/2006/main">
            <a:off x="8191500" y="3105150"/>
            <a:ext cx="319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40" b="0" i="0">
                <a:solidFill>
                  <a:srgbClr val="062942"/>
                </a:solidFill>
                <a:latin typeface="STIX Two Text"/>
                <a:ea typeface="STIX Two Text"/>
                <a:cs typeface="STIX Two Text"/>
              </a:defRPr>
            </a:pPr>
            <a:r>
              <a:rPr sz="1140" b="0" i="0">
                <a:solidFill>
                  <a:srgbClr val="062942"/>
                </a:solidFill>
                <a:latin typeface="STIX Two Text"/>
                <a:ea typeface="STIX Two Text"/>
                <a:cs typeface="STIX Two Text"/>
              </a:rPr>
              <a:t>We help our founders hire AI-fluent builders with unusual judgment and range.</a:t>
            </a:r>
          </a:p>
        </p:txBody>
      </p:sp>
      <p:sp>
        <p:nvSpPr>
          <p:cNvPr id="74" name="access-label">
            <a:extLst xmlns:a="http://schemas.openxmlformats.org/drawingml/2006/main">
              <a:ext uri="{FF2B5EF4-FFF2-40B4-BE49-F238E27FC236}">
                <a16:creationId xmlns:a16="http://schemas.microsoft.com/office/drawing/2014/main" id="{8F60F1EF-B4C0-4F0A-A33C-34A2EEA7657E}"/>
              </a:ext>
            </a:extLst>
          </p:cNvPr>
          <p:cNvSpPr>
            <a:spLocks xmlns:a="http://schemas.openxmlformats.org/drawingml/2006/main" noGrp="1"/>
          </p:cNvSpPr>
          <p:nvPr/>
        </p:nvSpPr>
        <p:spPr>
          <a:xfrm xmlns:a="http://schemas.openxmlformats.org/drawingml/2006/main">
            <a:off x="8191500" y="3895725"/>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8" b="1" i="0">
                <a:solidFill>
                  <a:srgbClr val="062942">
                    <a:alpha val="78000"/>
                  </a:srgbClr>
                </a:solidFill>
                <a:latin typeface="Menlo"/>
                <a:ea typeface="Menlo"/>
                <a:cs typeface="Menlo"/>
              </a:defRPr>
            </a:pPr>
            <a:r>
              <a:rPr sz="668" b="1" i="0">
                <a:solidFill>
                  <a:srgbClr val="062942">
                    <a:alpha val="78000"/>
                  </a:srgbClr>
                </a:solidFill>
                <a:latin typeface="Menlo"/>
                <a:ea typeface="Menlo"/>
                <a:cs typeface="Menlo"/>
              </a:rPr>
              <a:t>ACCESS</a:t>
            </a:r>
          </a:p>
        </p:txBody>
      </p:sp>
      <p:sp>
        <p:nvSpPr>
          <p:cNvPr id="75" name="access-body">
            <a:extLst xmlns:a="http://schemas.openxmlformats.org/drawingml/2006/main">
              <a:ext uri="{FF2B5EF4-FFF2-40B4-BE49-F238E27FC236}">
                <a16:creationId xmlns:a16="http://schemas.microsoft.com/office/drawing/2014/main" id="{23446C20-06B0-46A8-B706-BB0CF0E2F423}"/>
              </a:ext>
            </a:extLst>
          </p:cNvPr>
          <p:cNvSpPr>
            <a:spLocks xmlns:a="http://schemas.openxmlformats.org/drawingml/2006/main" noGrp="1"/>
          </p:cNvSpPr>
          <p:nvPr/>
        </p:nvSpPr>
        <p:spPr>
          <a:xfrm xmlns:a="http://schemas.openxmlformats.org/drawingml/2006/main">
            <a:off x="8191500" y="4124325"/>
            <a:ext cx="319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40" b="0" i="0">
                <a:solidFill>
                  <a:srgbClr val="062942"/>
                </a:solidFill>
                <a:latin typeface="STIX Two Text"/>
                <a:ea typeface="STIX Two Text"/>
                <a:cs typeface="STIX Two Text"/>
              </a:defRPr>
            </a:pPr>
            <a:r>
              <a:rPr sz="1140" b="0" i="0">
                <a:solidFill>
                  <a:srgbClr val="062942"/>
                </a:solidFill>
                <a:latin typeface="STIX Two Text"/>
                <a:ea typeface="STIX Two Text"/>
                <a:cs typeface="STIX Two Text"/>
              </a:rPr>
              <a:t>We earn our place in the networks where new companies form.</a:t>
            </a:r>
          </a:p>
        </p:txBody>
      </p:sp>
      <p:sp>
        <p:nvSpPr>
          <p:cNvPr id="76" name="metrics-rule">
            <a:extLst xmlns:a="http://schemas.openxmlformats.org/drawingml/2006/main">
              <a:ext uri="{FF2B5EF4-FFF2-40B4-BE49-F238E27FC236}">
                <a16:creationId xmlns:a16="http://schemas.microsoft.com/office/drawing/2014/main" id="{D422B6D7-5FB5-4F28-A585-4DFE4750D9D6}"/>
              </a:ext>
            </a:extLst>
          </p:cNvPr>
          <p:cNvSpPr>
            <a:spLocks xmlns:a="http://schemas.openxmlformats.org/drawingml/2006/main" noGrp="1"/>
          </p:cNvSpPr>
          <p:nvPr/>
        </p:nvSpPr>
        <p:spPr>
          <a:xfrm xmlns:a="http://schemas.openxmlformats.org/drawingml/2006/main" flipH="0" flipV="0">
            <a:off x="523875" y="5095875"/>
            <a:ext cx="11144250" cy="0"/>
          </a:xfrm>
          <a:prstGeom xmlns:a="http://schemas.openxmlformats.org/drawingml/2006/main" prst="line">
            <a:avLst/>
          </a:prstGeom>
          <a:noFill xmlns:a="http://schemas.openxmlformats.org/drawingml/2006/main"/>
          <a:ln xmlns:a="http://schemas.openxmlformats.org/drawingml/2006/main" w="7144">
            <a:solidFill>
              <a:srgbClr val="062942">
                <a:alpha val="45000"/>
              </a:srgbClr>
            </a:solidFill>
            <a:prstDash val="solid"/>
          </a:ln>
        </p:spPr>
      </p:sp>
      <p:sp>
        <p:nvSpPr>
          <p:cNvPr id="77" name="">
            <a:extLst xmlns:a="http://schemas.openxmlformats.org/drawingml/2006/main">
              <a:ext uri="{FF2B5EF4-FFF2-40B4-BE49-F238E27FC236}">
                <a16:creationId xmlns:a16="http://schemas.microsoft.com/office/drawing/2014/main" id="{144AC6DD-4CDC-43E7-B7B2-2A6388BCAF00}"/>
              </a:ext>
            </a:extLst>
          </p:cNvPr>
          <p:cNvSpPr>
            <a:spLocks xmlns:a="http://schemas.openxmlformats.org/drawingml/2006/main" noGrp="1"/>
          </p:cNvSpPr>
          <p:nvPr/>
        </p:nvSpPr>
        <p:spPr>
          <a:xfrm xmlns:a="http://schemas.openxmlformats.org/drawingml/2006/main">
            <a:off x="523875" y="52482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i="0">
                <a:solidFill>
                  <a:srgbClr val="B65F1F"/>
                </a:solidFill>
                <a:latin typeface="STIX Two Text"/>
                <a:ea typeface="STIX Two Text"/>
                <a:cs typeface="STIX Two Text"/>
              </a:defRPr>
            </a:pPr>
            <a:r>
              <a:rPr sz="2325" b="1" i="0">
                <a:solidFill>
                  <a:srgbClr val="B65F1F"/>
                </a:solidFill>
                <a:latin typeface="STIX Two Text"/>
                <a:ea typeface="STIX Two Text"/>
                <a:cs typeface="STIX Two Text"/>
              </a:rPr>
              <a:t>20</a:t>
            </a:r>
          </a:p>
        </p:txBody>
      </p:sp>
      <p:sp>
        <p:nvSpPr>
          <p:cNvPr id="78" name="">
            <a:extLst xmlns:a="http://schemas.openxmlformats.org/drawingml/2006/main">
              <a:ext uri="{FF2B5EF4-FFF2-40B4-BE49-F238E27FC236}">
                <a16:creationId xmlns:a16="http://schemas.microsoft.com/office/drawing/2014/main" id="{311E57EF-6960-4E08-AF3F-ACE76135A555}"/>
              </a:ext>
            </a:extLst>
          </p:cNvPr>
          <p:cNvSpPr>
            <a:spLocks xmlns:a="http://schemas.openxmlformats.org/drawingml/2006/main" noGrp="1"/>
          </p:cNvSpPr>
          <p:nvPr/>
        </p:nvSpPr>
        <p:spPr>
          <a:xfrm xmlns:a="http://schemas.openxmlformats.org/drawingml/2006/main">
            <a:off x="990600" y="5324475"/>
            <a:ext cx="2000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 b="1" i="0">
                <a:solidFill>
                  <a:srgbClr val="062942"/>
                </a:solidFill>
                <a:latin typeface="Menlo"/>
                <a:ea typeface="Menlo"/>
                <a:cs typeface="Menlo"/>
              </a:defRPr>
            </a:pPr>
            <a:r>
              <a:rPr sz="585" b="1" i="0">
                <a:solidFill>
                  <a:srgbClr val="062942"/>
                </a:solidFill>
                <a:latin typeface="Menlo"/>
                <a:ea typeface="Menlo"/>
                <a:cs typeface="Menlo"/>
              </a:rPr>
              <a:t>FELLOWS NOW LIVING IN SF</a:t>
            </a:r>
          </a:p>
        </p:txBody>
      </p:sp>
      <p:sp>
        <p:nvSpPr>
          <p:cNvPr id="79" name="">
            <a:extLst xmlns:a="http://schemas.openxmlformats.org/drawingml/2006/main">
              <a:ext uri="{FF2B5EF4-FFF2-40B4-BE49-F238E27FC236}">
                <a16:creationId xmlns:a16="http://schemas.microsoft.com/office/drawing/2014/main" id="{25CCC896-E6DB-4A1B-A4CB-3001A5A3C3B0}"/>
              </a:ext>
            </a:extLst>
          </p:cNvPr>
          <p:cNvSpPr>
            <a:spLocks xmlns:a="http://schemas.openxmlformats.org/drawingml/2006/main" noGrp="1"/>
          </p:cNvSpPr>
          <p:nvPr/>
        </p:nvSpPr>
        <p:spPr>
          <a:xfrm xmlns:a="http://schemas.openxmlformats.org/drawingml/2006/main">
            <a:off x="990600" y="549592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0" name="">
            <a:extLst xmlns:a="http://schemas.openxmlformats.org/drawingml/2006/main">
              <a:ext uri="{FF2B5EF4-FFF2-40B4-BE49-F238E27FC236}">
                <a16:creationId xmlns:a16="http://schemas.microsoft.com/office/drawing/2014/main" id="{00826DCD-A052-4250-9D35-35C5D73EEA10}"/>
              </a:ext>
            </a:extLst>
          </p:cNvPr>
          <p:cNvSpPr>
            <a:spLocks xmlns:a="http://schemas.openxmlformats.org/drawingml/2006/main" noGrp="1"/>
          </p:cNvSpPr>
          <p:nvPr/>
        </p:nvSpPr>
        <p:spPr>
          <a:xfrm xmlns:a="http://schemas.openxmlformats.org/drawingml/2006/main">
            <a:off x="3171825" y="5248275"/>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i="0">
                <a:solidFill>
                  <a:srgbClr val="B65F1F"/>
                </a:solidFill>
                <a:latin typeface="STIX Two Text"/>
                <a:ea typeface="STIX Two Text"/>
                <a:cs typeface="STIX Two Text"/>
              </a:defRPr>
            </a:pPr>
            <a:r>
              <a:rPr sz="2325" b="1" i="0">
                <a:solidFill>
                  <a:srgbClr val="B65F1F"/>
                </a:solidFill>
                <a:latin typeface="STIX Two Text"/>
                <a:ea typeface="STIX Two Text"/>
                <a:cs typeface="STIX Two Text"/>
              </a:rPr>
              <a:t>7</a:t>
            </a:r>
          </a:p>
        </p:txBody>
      </p:sp>
      <p:sp>
        <p:nvSpPr>
          <p:cNvPr id="81" name="">
            <a:extLst xmlns:a="http://schemas.openxmlformats.org/drawingml/2006/main">
              <a:ext uri="{FF2B5EF4-FFF2-40B4-BE49-F238E27FC236}">
                <a16:creationId xmlns:a16="http://schemas.microsoft.com/office/drawing/2014/main" id="{A89C57F4-B33C-4FFE-AB57-51428BCE4F95}"/>
              </a:ext>
            </a:extLst>
          </p:cNvPr>
          <p:cNvSpPr>
            <a:spLocks xmlns:a="http://schemas.openxmlformats.org/drawingml/2006/main" noGrp="1"/>
          </p:cNvSpPr>
          <p:nvPr/>
        </p:nvSpPr>
        <p:spPr>
          <a:xfrm xmlns:a="http://schemas.openxmlformats.org/drawingml/2006/main">
            <a:off x="3467100" y="5324475"/>
            <a:ext cx="1952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 b="1" i="0">
                <a:solidFill>
                  <a:srgbClr val="062942"/>
                </a:solidFill>
                <a:latin typeface="Menlo"/>
                <a:ea typeface="Menlo"/>
                <a:cs typeface="Menlo"/>
              </a:defRPr>
            </a:pPr>
            <a:r>
              <a:rPr sz="585" b="1" i="0">
                <a:solidFill>
                  <a:srgbClr val="062942"/>
                </a:solidFill>
                <a:latin typeface="Menlo"/>
                <a:ea typeface="Menlo"/>
                <a:cs typeface="Menlo"/>
              </a:rPr>
              <a:t>FELLOWS BUILDING OUR COMPANIES</a:t>
            </a:r>
          </a:p>
        </p:txBody>
      </p:sp>
      <p:sp>
        <p:nvSpPr>
          <p:cNvPr id="82" name="">
            <a:extLst xmlns:a="http://schemas.openxmlformats.org/drawingml/2006/main">
              <a:ext uri="{FF2B5EF4-FFF2-40B4-BE49-F238E27FC236}">
                <a16:creationId xmlns:a16="http://schemas.microsoft.com/office/drawing/2014/main" id="{2B563FE9-A1B0-497B-820A-3AF56C89AE6A}"/>
              </a:ext>
            </a:extLst>
          </p:cNvPr>
          <p:cNvSpPr>
            <a:spLocks xmlns:a="http://schemas.openxmlformats.org/drawingml/2006/main" noGrp="1"/>
          </p:cNvSpPr>
          <p:nvPr/>
        </p:nvSpPr>
        <p:spPr>
          <a:xfrm xmlns:a="http://schemas.openxmlformats.org/drawingml/2006/main">
            <a:off x="3467100" y="5495925"/>
            <a:ext cx="1952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10" b="0" i="0">
                <a:solidFill>
                  <a:srgbClr val="062942"/>
                </a:solidFill>
                <a:latin typeface="STIX Two Text"/>
                <a:ea typeface="STIX Two Text"/>
                <a:cs typeface="STIX Two Text"/>
              </a:defRPr>
            </a:pPr>
            <a:r>
              <a:rPr sz="810" b="0" i="0">
                <a:solidFill>
                  <a:srgbClr val="062942"/>
                </a:solidFill>
                <a:latin typeface="STIX Two Text"/>
                <a:ea typeface="STIX Two Text"/>
                <a:cs typeface="STIX Two Text"/>
              </a:rPr>
              <a:t>Bem, Flai, and Terac</a:t>
            </a:r>
          </a:p>
        </p:txBody>
      </p:sp>
      <p:sp>
        <p:nvSpPr>
          <p:cNvPr id="83" name="">
            <a:extLst xmlns:a="http://schemas.openxmlformats.org/drawingml/2006/main">
              <a:ext uri="{FF2B5EF4-FFF2-40B4-BE49-F238E27FC236}">
                <a16:creationId xmlns:a16="http://schemas.microsoft.com/office/drawing/2014/main" id="{400F746A-BCCD-449B-8B13-A578D96612E4}"/>
              </a:ext>
            </a:extLst>
          </p:cNvPr>
          <p:cNvSpPr>
            <a:spLocks xmlns:a="http://schemas.openxmlformats.org/drawingml/2006/main" noGrp="1"/>
          </p:cNvSpPr>
          <p:nvPr/>
        </p:nvSpPr>
        <p:spPr>
          <a:xfrm xmlns:a="http://schemas.openxmlformats.org/drawingml/2006/main">
            <a:off x="5619750" y="5248275"/>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i="0">
                <a:solidFill>
                  <a:srgbClr val="B65F1F"/>
                </a:solidFill>
                <a:latin typeface="STIX Two Text"/>
                <a:ea typeface="STIX Two Text"/>
                <a:cs typeface="STIX Two Text"/>
              </a:defRPr>
            </a:pPr>
            <a:r>
              <a:rPr sz="2325" b="1" i="0">
                <a:solidFill>
                  <a:srgbClr val="B65F1F"/>
                </a:solidFill>
                <a:latin typeface="STIX Two Text"/>
                <a:ea typeface="STIX Two Text"/>
                <a:cs typeface="STIX Two Text"/>
              </a:rPr>
              <a:t>3</a:t>
            </a:r>
          </a:p>
        </p:txBody>
      </p:sp>
      <p:sp>
        <p:nvSpPr>
          <p:cNvPr id="84" name="">
            <a:extLst xmlns:a="http://schemas.openxmlformats.org/drawingml/2006/main">
              <a:ext uri="{FF2B5EF4-FFF2-40B4-BE49-F238E27FC236}">
                <a16:creationId xmlns:a16="http://schemas.microsoft.com/office/drawing/2014/main" id="{28E126E4-EEAE-47FF-BC07-05466B832914}"/>
              </a:ext>
            </a:extLst>
          </p:cNvPr>
          <p:cNvSpPr>
            <a:spLocks xmlns:a="http://schemas.openxmlformats.org/drawingml/2006/main" noGrp="1"/>
          </p:cNvSpPr>
          <p:nvPr/>
        </p:nvSpPr>
        <p:spPr>
          <a:xfrm xmlns:a="http://schemas.openxmlformats.org/drawingml/2006/main">
            <a:off x="5915025" y="5324475"/>
            <a:ext cx="1952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 b="1" i="0">
                <a:solidFill>
                  <a:srgbClr val="062942"/>
                </a:solidFill>
                <a:latin typeface="Menlo"/>
                <a:ea typeface="Menlo"/>
                <a:cs typeface="Menlo"/>
              </a:defRPr>
            </a:pPr>
            <a:r>
              <a:rPr sz="585" b="1" i="0">
                <a:solidFill>
                  <a:srgbClr val="062942"/>
                </a:solidFill>
                <a:latin typeface="Menlo"/>
                <a:ea typeface="Menlo"/>
                <a:cs typeface="Menlo"/>
              </a:rPr>
              <a:t>FELLOWS FOUNDING COMPANIES</a:t>
            </a:r>
          </a:p>
        </p:txBody>
      </p:sp>
      <p:sp>
        <p:nvSpPr>
          <p:cNvPr id="85" name="">
            <a:extLst xmlns:a="http://schemas.openxmlformats.org/drawingml/2006/main">
              <a:ext uri="{FF2B5EF4-FFF2-40B4-BE49-F238E27FC236}">
                <a16:creationId xmlns:a16="http://schemas.microsoft.com/office/drawing/2014/main" id="{73559B2D-C581-4844-B142-D9DE4D1BFF1C}"/>
              </a:ext>
            </a:extLst>
          </p:cNvPr>
          <p:cNvSpPr>
            <a:spLocks xmlns:a="http://schemas.openxmlformats.org/drawingml/2006/main" noGrp="1"/>
          </p:cNvSpPr>
          <p:nvPr/>
        </p:nvSpPr>
        <p:spPr>
          <a:xfrm xmlns:a="http://schemas.openxmlformats.org/drawingml/2006/main">
            <a:off x="5915025" y="5495925"/>
            <a:ext cx="1952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6" name="ecosystem-top-rule">
            <a:extLst xmlns:a="http://schemas.openxmlformats.org/drawingml/2006/main">
              <a:ext uri="{FF2B5EF4-FFF2-40B4-BE49-F238E27FC236}">
                <a16:creationId xmlns:a16="http://schemas.microsoft.com/office/drawing/2014/main" id="{6E5F3643-441F-4381-AB2B-10C558DFE45E}"/>
              </a:ext>
            </a:extLst>
          </p:cNvPr>
          <p:cNvSpPr>
            <a:spLocks xmlns:a="http://schemas.openxmlformats.org/drawingml/2006/main" noGrp="1"/>
          </p:cNvSpPr>
          <p:nvPr/>
        </p:nvSpPr>
        <p:spPr>
          <a:xfrm xmlns:a="http://schemas.openxmlformats.org/drawingml/2006/main" flipH="0" flipV="0">
            <a:off x="523875" y="5981700"/>
            <a:ext cx="11144250" cy="0"/>
          </a:xfrm>
          <a:prstGeom xmlns:a="http://schemas.openxmlformats.org/drawingml/2006/main" prst="line">
            <a:avLst/>
          </a:prstGeom>
          <a:noFill xmlns:a="http://schemas.openxmlformats.org/drawingml/2006/main"/>
          <a:ln xmlns:a="http://schemas.openxmlformats.org/drawingml/2006/main" w="5239">
            <a:solidFill>
              <a:srgbClr val="062942">
                <a:alpha val="28000"/>
              </a:srgbClr>
            </a:solidFill>
            <a:prstDash val="solid"/>
          </a:ln>
        </p:spPr>
      </p:sp>
      <p:sp>
        <p:nvSpPr>
          <p:cNvPr id="87" name="ecosystem-label">
            <a:extLst xmlns:a="http://schemas.openxmlformats.org/drawingml/2006/main">
              <a:ext uri="{FF2B5EF4-FFF2-40B4-BE49-F238E27FC236}">
                <a16:creationId xmlns:a16="http://schemas.microsoft.com/office/drawing/2014/main" id="{A026D10A-3538-4A0A-B582-7336CA520201}"/>
              </a:ext>
            </a:extLst>
          </p:cNvPr>
          <p:cNvSpPr>
            <a:spLocks xmlns:a="http://schemas.openxmlformats.org/drawingml/2006/main" noGrp="1"/>
          </p:cNvSpPr>
          <p:nvPr/>
        </p:nvSpPr>
        <p:spPr>
          <a:xfrm xmlns:a="http://schemas.openxmlformats.org/drawingml/2006/main">
            <a:off x="523875" y="6038850"/>
            <a:ext cx="10477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07" b="1" i="0">
                <a:solidFill>
                  <a:srgbClr val="062942">
                    <a:alpha val="72000"/>
                  </a:srgbClr>
                </a:solidFill>
                <a:latin typeface="Menlo"/>
                <a:ea typeface="Menlo"/>
                <a:cs typeface="Menlo"/>
              </a:defRPr>
            </a:pPr>
            <a:r>
              <a:rPr sz="607" b="1" i="0">
                <a:solidFill>
                  <a:srgbClr val="062942">
                    <a:alpha val="72000"/>
                  </a:srgbClr>
                </a:solidFill>
                <a:latin typeface="Menlo"/>
                <a:ea typeface="Menlo"/>
                <a:cs typeface="Menlo"/>
              </a:rPr>
              <a:t>GUESTS FROM</a:t>
            </a:r>
          </a:p>
        </p:txBody>
      </p:sp>
      <p:sp>
        <p:nvSpPr>
          <p:cNvPr id="88" name="ecosystem-participants">
            <a:extLst xmlns:a="http://schemas.openxmlformats.org/drawingml/2006/main">
              <a:ext uri="{FF2B5EF4-FFF2-40B4-BE49-F238E27FC236}">
                <a16:creationId xmlns:a16="http://schemas.microsoft.com/office/drawing/2014/main" id="{6A73B468-39D1-4DDB-B1F0-13051563A41C}"/>
              </a:ext>
            </a:extLst>
          </p:cNvPr>
          <p:cNvSpPr>
            <a:spLocks xmlns:a="http://schemas.openxmlformats.org/drawingml/2006/main" noGrp="1"/>
          </p:cNvSpPr>
          <p:nvPr/>
        </p:nvSpPr>
        <p:spPr>
          <a:xfrm xmlns:a="http://schemas.openxmlformats.org/drawingml/2006/main">
            <a:off x="2095500" y="6153150"/>
            <a:ext cx="9477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10" b="0" i="0">
                <a:solidFill>
                  <a:srgbClr val="062942">
                    <a:alpha val="82000"/>
                  </a:srgbClr>
                </a:solidFill>
                <a:latin typeface="Avenir Next"/>
                <a:ea typeface="Avenir Next"/>
                <a:cs typeface="Avenir Next"/>
              </a:defRPr>
            </a:pPr>
            <a:r>
              <a:rPr sz="810" b="0" i="0">
                <a:solidFill>
                  <a:srgbClr val="062942">
                    <a:alpha val="82000"/>
                  </a:srgbClr>
                </a:solidFill>
                <a:latin typeface="Avenir Next"/>
                <a:ea typeface="Avenir Next"/>
                <a:cs typeface="Avenir Next"/>
              </a:rPr>
              <a:t/>
            </a:r>
          </a:p>
        </p:txBody>
      </p:sp>
      <p:sp>
        <p:nvSpPr>
          <p:cNvPr id="89" name="ecosystem-bottom-rule">
            <a:extLst xmlns:a="http://schemas.openxmlformats.org/drawingml/2006/main">
              <a:ext uri="{FF2B5EF4-FFF2-40B4-BE49-F238E27FC236}">
                <a16:creationId xmlns:a16="http://schemas.microsoft.com/office/drawing/2014/main" id="{2A7935C3-41A1-4E3B-B45F-FE0150351335}"/>
              </a:ext>
            </a:extLst>
          </p:cNvPr>
          <p:cNvSpPr>
            <a:spLocks xmlns:a="http://schemas.openxmlformats.org/drawingml/2006/main" noGrp="1"/>
          </p:cNvSpPr>
          <p:nvPr/>
        </p:nvSpPr>
        <p:spPr>
          <a:xfrm xmlns:a="http://schemas.openxmlformats.org/drawingml/2006/main" flipH="0" flipV="0">
            <a:off x="523875" y="6486525"/>
            <a:ext cx="11144250" cy="0"/>
          </a:xfrm>
          <a:prstGeom xmlns:a="http://schemas.openxmlformats.org/drawingml/2006/main" prst="line">
            <a:avLst/>
          </a:prstGeom>
          <a:noFill xmlns:a="http://schemas.openxmlformats.org/drawingml/2006/main"/>
          <a:ln xmlns:a="http://schemas.openxmlformats.org/drawingml/2006/main" w="4763">
            <a:solidFill>
              <a:srgbClr val="062942">
                <a:alpha val="18000"/>
              </a:srgbClr>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c9e445be54b94b66"/>
          <a:stretch xmlns:a="http://schemas.openxmlformats.org/drawingml/2006/main"/>
        </p:blipFill>
        <p:spPr>
          <a:xfrm xmlns:a="http://schemas.openxmlformats.org/drawingml/2006/main">
            <a:off x="523875" y="6245612"/>
            <a:ext cx="495300" cy="138926"/>
          </a:xfrm>
          <a:prstGeom xmlns:a="http://schemas.openxmlformats.org/drawingml/2006/main" prst="rect">
            <a:avLst/>
          </a:prstGeom>
        </p:spPr>
      </p:pic>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58a9b737cc3b4e2f"/>
          <a:stretch xmlns:a="http://schemas.openxmlformats.org/drawingml/2006/main"/>
        </p:blipFill>
        <p:spPr>
          <a:xfrm xmlns:a="http://schemas.openxmlformats.org/drawingml/2006/main">
            <a:off x="1175238" y="6267367"/>
            <a:ext cx="838200" cy="95417"/>
          </a:xfrm>
          <a:prstGeom xmlns:a="http://schemas.openxmlformats.org/drawingml/2006/main" prst="rect">
            <a:avLst/>
          </a:prstGeom>
        </p:spPr>
      </p:pic>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f0bf36df02774885"/>
          <a:stretch xmlns:a="http://schemas.openxmlformats.org/drawingml/2006/main"/>
        </p:blipFill>
        <p:spPr>
          <a:xfrm xmlns:a="http://schemas.openxmlformats.org/drawingml/2006/main">
            <a:off x="2169502" y="6259777"/>
            <a:ext cx="904875" cy="110596"/>
          </a:xfrm>
          <a:prstGeom xmlns:a="http://schemas.openxmlformats.org/drawingml/2006/main" prst="rect">
            <a:avLst/>
          </a:prstGeom>
        </p:spPr>
      </p:pic>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9fddf50ff1e949e0"/>
          <a:stretch xmlns:a="http://schemas.openxmlformats.org/drawingml/2006/main"/>
        </p:blipFill>
        <p:spPr>
          <a:xfrm xmlns:a="http://schemas.openxmlformats.org/drawingml/2006/main">
            <a:off x="3230440" y="6253234"/>
            <a:ext cx="552450" cy="123683"/>
          </a:xfrm>
          <a:prstGeom xmlns:a="http://schemas.openxmlformats.org/drawingml/2006/main" prst="rect">
            <a:avLst/>
          </a:prstGeom>
        </p:spPr>
      </p:pic>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0288b1c1f540447e"/>
          <a:stretch xmlns:a="http://schemas.openxmlformats.org/drawingml/2006/main"/>
        </p:blipFill>
        <p:spPr>
          <a:xfrm xmlns:a="http://schemas.openxmlformats.org/drawingml/2006/main">
            <a:off x="3938954" y="6253556"/>
            <a:ext cx="457200" cy="123039"/>
          </a:xfrm>
          <a:prstGeom xmlns:a="http://schemas.openxmlformats.org/drawingml/2006/main" prst="rect">
            <a:avLst/>
          </a:prstGeom>
        </p:spPr>
      </p:pic>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8015dd4deac24603"/>
          <a:stretch xmlns:a="http://schemas.openxmlformats.org/drawingml/2006/main"/>
        </p:blipFill>
        <p:spPr>
          <a:xfrm xmlns:a="http://schemas.openxmlformats.org/drawingml/2006/main">
            <a:off x="4552217" y="6256764"/>
            <a:ext cx="733425" cy="116622"/>
          </a:xfrm>
          <a:prstGeom xmlns:a="http://schemas.openxmlformats.org/drawingml/2006/main" prst="rect">
            <a:avLst/>
          </a:prstGeom>
        </p:spPr>
      </p:pic>
      <p:pic>
        <p:nvPicPr>
          <p:cNvPr id="210" name=""/>
          <p:cNvPicPr>
            <a:picLocks xmlns:a="http://schemas.openxmlformats.org/drawingml/2006/main" noChangeAspect="1"/>
          </p:cNvPicPr>
          <p:nvPr/>
        </p:nvPicPr>
        <p:blipFill>
          <a:blip xmlns:r="http://schemas.openxmlformats.org/officeDocument/2006/relationships" xmlns:a="http://schemas.openxmlformats.org/drawingml/2006/main" r:embed="Rab88ba1adce54574"/>
          <a:stretch xmlns:a="http://schemas.openxmlformats.org/drawingml/2006/main"/>
        </p:blipFill>
        <p:spPr>
          <a:xfrm xmlns:a="http://schemas.openxmlformats.org/drawingml/2006/main">
            <a:off x="5441706" y="6249351"/>
            <a:ext cx="504825" cy="131447"/>
          </a:xfrm>
          <a:prstGeom xmlns:a="http://schemas.openxmlformats.org/drawingml/2006/main" prst="rect">
            <a:avLst/>
          </a:prstGeom>
        </p:spPr>
      </p:pic>
      <p:pic>
        <p:nvPicPr>
          <p:cNvPr id="211" name=""/>
          <p:cNvPicPr>
            <a:picLocks xmlns:a="http://schemas.openxmlformats.org/drawingml/2006/main" noChangeAspect="1"/>
          </p:cNvPicPr>
          <p:nvPr/>
        </p:nvPicPr>
        <p:blipFill>
          <a:blip xmlns:r="http://schemas.openxmlformats.org/officeDocument/2006/relationships" xmlns:a="http://schemas.openxmlformats.org/drawingml/2006/main" r:embed="R446fc987c05e4bb3"/>
          <a:stretch xmlns:a="http://schemas.openxmlformats.org/drawingml/2006/main"/>
        </p:blipFill>
        <p:spPr>
          <a:xfrm xmlns:a="http://schemas.openxmlformats.org/drawingml/2006/main">
            <a:off x="6102594" y="6259636"/>
            <a:ext cx="895350" cy="110878"/>
          </a:xfrm>
          <a:prstGeom xmlns:a="http://schemas.openxmlformats.org/drawingml/2006/main" prst="rect">
            <a:avLst/>
          </a:prstGeom>
        </p:spPr>
      </p:pic>
      <p:pic>
        <p:nvPicPr>
          <p:cNvPr id="212" name=""/>
          <p:cNvPicPr>
            <a:picLocks xmlns:a="http://schemas.openxmlformats.org/drawingml/2006/main" noChangeAspect="1"/>
          </p:cNvPicPr>
          <p:nvPr/>
        </p:nvPicPr>
        <p:blipFill>
          <a:blip xmlns:r="http://schemas.openxmlformats.org/officeDocument/2006/relationships" xmlns:a="http://schemas.openxmlformats.org/drawingml/2006/main" r:embed="R6b2c9fdbdc9b4fa1"/>
          <a:stretch xmlns:a="http://schemas.openxmlformats.org/drawingml/2006/main"/>
        </p:blipFill>
        <p:spPr>
          <a:xfrm xmlns:a="http://schemas.openxmlformats.org/drawingml/2006/main">
            <a:off x="7154008" y="6250739"/>
            <a:ext cx="600075" cy="128673"/>
          </a:xfrm>
          <a:prstGeom xmlns:a="http://schemas.openxmlformats.org/drawingml/2006/main" prst="rect">
            <a:avLst/>
          </a:prstGeom>
        </p:spPr>
      </p:pic>
      <p:pic>
        <p:nvPicPr>
          <p:cNvPr id="213" name=""/>
          <p:cNvPicPr>
            <a:picLocks xmlns:a="http://schemas.openxmlformats.org/drawingml/2006/main" noChangeAspect="1"/>
          </p:cNvPicPr>
          <p:nvPr/>
        </p:nvPicPr>
        <p:blipFill>
          <a:blip xmlns:r="http://schemas.openxmlformats.org/officeDocument/2006/relationships" xmlns:a="http://schemas.openxmlformats.org/drawingml/2006/main" r:embed="R49322ed3e74f423e"/>
          <a:stretch xmlns:a="http://schemas.openxmlformats.org/drawingml/2006/main"/>
        </p:blipFill>
        <p:spPr>
          <a:xfrm xmlns:a="http://schemas.openxmlformats.org/drawingml/2006/main">
            <a:off x="7910146" y="6257232"/>
            <a:ext cx="904875" cy="115685"/>
          </a:xfrm>
          <a:prstGeom xmlns:a="http://schemas.openxmlformats.org/drawingml/2006/main" prst="rect">
            <a:avLst/>
          </a:prstGeom>
        </p:spPr>
      </p:pic>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f1f948e76994427d"/>
          <a:stretch xmlns:a="http://schemas.openxmlformats.org/drawingml/2006/main"/>
        </p:blipFill>
        <p:spPr>
          <a:xfrm xmlns:a="http://schemas.openxmlformats.org/drawingml/2006/main">
            <a:off x="8971085" y="6231678"/>
            <a:ext cx="619125" cy="166794"/>
          </a:xfrm>
          <a:prstGeom xmlns:a="http://schemas.openxmlformats.org/drawingml/2006/main" prst="rect">
            <a:avLst/>
          </a:prstGeom>
        </p:spPr>
      </p:pic>
      <p:pic>
        <p:nvPicPr>
          <p:cNvPr id="215" name=""/>
          <p:cNvPicPr>
            <a:picLocks xmlns:a="http://schemas.openxmlformats.org/drawingml/2006/main" noChangeAspect="1"/>
          </p:cNvPicPr>
          <p:nvPr/>
        </p:nvPicPr>
        <p:blipFill>
          <a:blip xmlns:r="http://schemas.openxmlformats.org/officeDocument/2006/relationships" xmlns:a="http://schemas.openxmlformats.org/drawingml/2006/main" r:embed="Rad9fc28a2ccc4ef4"/>
          <a:stretch xmlns:a="http://schemas.openxmlformats.org/drawingml/2006/main"/>
        </p:blipFill>
        <p:spPr>
          <a:xfrm xmlns:a="http://schemas.openxmlformats.org/drawingml/2006/main">
            <a:off x="9746273" y="6209670"/>
            <a:ext cx="666750" cy="210811"/>
          </a:xfrm>
          <a:prstGeom xmlns:a="http://schemas.openxmlformats.org/drawingml/2006/main" prst="rect">
            <a:avLst/>
          </a:prstGeom>
        </p:spPr>
      </p:pic>
      <p:pic>
        <p:nvPicPr>
          <p:cNvPr id="216" name=""/>
          <p:cNvPicPr>
            <a:picLocks xmlns:a="http://schemas.openxmlformats.org/drawingml/2006/main" noChangeAspect="1"/>
          </p:cNvPicPr>
          <p:nvPr/>
        </p:nvPicPr>
        <p:blipFill>
          <a:blip xmlns:r="http://schemas.openxmlformats.org/officeDocument/2006/relationships" xmlns:a="http://schemas.openxmlformats.org/drawingml/2006/main" r:embed="R1d24f5d66c714e7c"/>
          <a:stretch xmlns:a="http://schemas.openxmlformats.org/drawingml/2006/main"/>
        </p:blipFill>
        <p:spPr>
          <a:xfrm xmlns:a="http://schemas.openxmlformats.org/drawingml/2006/main">
            <a:off x="10569087" y="6248440"/>
            <a:ext cx="485775" cy="133271"/>
          </a:xfrm>
          <a:prstGeom xmlns:a="http://schemas.openxmlformats.org/drawingml/2006/main" prst="rect">
            <a:avLst/>
          </a:prstGeom>
        </p:spPr>
      </p:pic>
      <p:pic>
        <p:nvPicPr>
          <p:cNvPr id="217" name=""/>
          <p:cNvPicPr>
            <a:picLocks xmlns:a="http://schemas.openxmlformats.org/drawingml/2006/main" noChangeAspect="1"/>
          </p:cNvPicPr>
          <p:nvPr/>
        </p:nvPicPr>
        <p:blipFill>
          <a:blip xmlns:r="http://schemas.openxmlformats.org/officeDocument/2006/relationships" xmlns:a="http://schemas.openxmlformats.org/drawingml/2006/main" r:embed="R07ac02796a894bbb"/>
          <a:stretch xmlns:a="http://schemas.openxmlformats.org/drawingml/2006/main"/>
        </p:blipFill>
        <p:spPr>
          <a:xfrm xmlns:a="http://schemas.openxmlformats.org/drawingml/2006/main">
            <a:off x="11210925" y="6247580"/>
            <a:ext cx="457200" cy="134991"/>
          </a:xfrm>
          <a:prstGeom xmlns:a="http://schemas.openxmlformats.org/drawingml/2006/main" prst="rect">
            <a:avLst/>
          </a:prstGeom>
        </p:spPr>
      </p:pic>
    </p:spTree>
    <p:extLst>
      <p:ext uri="{BB962C8B-B14F-4D97-AF65-F5344CB8AC3E}">
        <p14:creationId xmlns:p14="http://schemas.microsoft.com/office/powerpoint/2010/main" val="449183050"/>
      </p:ext>
    </p:extLst>
  </p:cSld>
</p:sld>
</file>

<file path=ppt/slides/slide5.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13" name="header-label">
            <a:extLst xmlns:a="http://schemas.openxmlformats.org/drawingml/2006/main">
              <a:ext uri="{FF2B5EF4-FFF2-40B4-BE49-F238E27FC236}">
                <a16:creationId xmlns:a16="http://schemas.microsoft.com/office/drawing/2014/main" id="{8897BB6D-B29E-4E51-BD3D-AD3BC81361C1}"/>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PUENTES</a:t>
            </a:r>
          </a:p>
        </p:txBody>
      </p:sp>
      <p:sp>
        <p:nvSpPr>
          <p:cNvPr id="2" name="header-rule">
            <a:extLst xmlns:a="http://schemas.openxmlformats.org/drawingml/2006/main">
              <a:ext uri="{FF2B5EF4-FFF2-40B4-BE49-F238E27FC236}">
                <a16:creationId xmlns:a16="http://schemas.microsoft.com/office/drawing/2014/main" id="{3B73C213-F68E-4C3E-83CE-3FCA8F0D1E46}"/>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8192AFDF-2439-4DC0-BE5B-8B0CE3B51930}"/>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terac-title">
            <a:extLst xmlns:a="http://schemas.openxmlformats.org/drawingml/2006/main">
              <a:ext uri="{FF2B5EF4-FFF2-40B4-BE49-F238E27FC236}">
                <a16:creationId xmlns:a16="http://schemas.microsoft.com/office/drawing/2014/main" id="{9CC01402-0847-43B4-81DF-77E76D7F783F}"/>
              </a:ext>
            </a:extLst>
          </p:cNvPr>
          <p:cNvSpPr>
            <a:spLocks xmlns:a="http://schemas.openxmlformats.org/drawingml/2006/main" noGrp="1"/>
          </p:cNvSpPr>
          <p:nvPr/>
        </p:nvSpPr>
        <p:spPr>
          <a:xfrm xmlns:a="http://schemas.openxmlformats.org/drawingml/2006/main">
            <a:off x="523875" y="80962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000" b="0">
                <a:solidFill>
                  <a:srgbClr val="062942"/>
                </a:solidFill>
                <a:latin typeface="STIX Two Text"/>
                <a:ea typeface="STIX Two Text"/>
                <a:cs typeface="STIX Two Text"/>
              </a:defRPr>
            </a:pPr>
            <a:r>
              <a:rPr sz="3000" b="0">
                <a:solidFill>
                  <a:srgbClr val="062942"/>
                </a:solidFill>
                <a:latin typeface="STIX Two Text"/>
                <a:ea typeface="STIX Two Text"/>
                <a:cs typeface="STIX Two Text"/>
              </a:rPr>
              <a:t>Helping build Terac’s engineering team</a:t>
            </a:r>
          </a:p>
        </p:txBody>
      </p:sp>
      <p:sp>
        <p:nvSpPr>
          <p:cNvPr id="5" name="terac-number">
            <a:extLst xmlns:a="http://schemas.openxmlformats.org/drawingml/2006/main">
              <a:ext uri="{FF2B5EF4-FFF2-40B4-BE49-F238E27FC236}">
                <a16:creationId xmlns:a16="http://schemas.microsoft.com/office/drawing/2014/main" id="{EF3470AF-7CED-40E5-AAC3-79D2FA681D1A}"/>
              </a:ext>
            </a:extLst>
          </p:cNvPr>
          <p:cNvSpPr>
            <a:spLocks xmlns:a="http://schemas.openxmlformats.org/drawingml/2006/main" noGrp="1"/>
          </p:cNvSpPr>
          <p:nvPr/>
        </p:nvSpPr>
        <p:spPr>
          <a:xfrm xmlns:a="http://schemas.openxmlformats.org/drawingml/2006/main">
            <a:off x="523875" y="1714500"/>
            <a:ext cx="590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6150" b="0">
                <a:solidFill>
                  <a:srgbClr val="B65F1F"/>
                </a:solidFill>
                <a:latin typeface="STIX Two Text"/>
                <a:ea typeface="STIX Two Text"/>
                <a:cs typeface="STIX Two Text"/>
              </a:defRPr>
            </a:pPr>
            <a:r>
              <a:rPr sz="6150" b="0">
                <a:solidFill>
                  <a:srgbClr val="B65F1F"/>
                </a:solidFill>
                <a:latin typeface="STIX Two Text"/>
                <a:ea typeface="STIX Two Text"/>
                <a:cs typeface="STIX Two Text"/>
              </a:rPr>
              <a:t>~80%</a:t>
            </a:r>
          </a:p>
        </p:txBody>
      </p:sp>
      <p:sp>
        <p:nvSpPr>
          <p:cNvPr id="6" name="terac-number-label">
            <a:extLst xmlns:a="http://schemas.openxmlformats.org/drawingml/2006/main">
              <a:ext uri="{FF2B5EF4-FFF2-40B4-BE49-F238E27FC236}">
                <a16:creationId xmlns:a16="http://schemas.microsoft.com/office/drawing/2014/main" id="{62B45023-5504-4D09-A9CB-F5EBB0E3B9FD}"/>
              </a:ext>
            </a:extLst>
          </p:cNvPr>
          <p:cNvSpPr>
            <a:spLocks xmlns:a="http://schemas.openxmlformats.org/drawingml/2006/main" noGrp="1"/>
          </p:cNvSpPr>
          <p:nvPr/>
        </p:nvSpPr>
        <p:spPr>
          <a:xfrm xmlns:a="http://schemas.openxmlformats.org/drawingml/2006/main">
            <a:off x="523875"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062942"/>
                </a:solidFill>
                <a:latin typeface="STIX Two Text"/>
                <a:ea typeface="STIX Two Text"/>
                <a:cs typeface="STIX Two Text"/>
              </a:defRPr>
            </a:pPr>
            <a:r>
              <a:rPr sz="2025" b="0">
                <a:solidFill>
                  <a:srgbClr val="062942"/>
                </a:solidFill>
                <a:latin typeface="STIX Two Text"/>
                <a:ea typeface="STIX Two Text"/>
                <a:cs typeface="STIX Two Text"/>
              </a:rPr>
              <a:t>of Terac’s engineering team hired with our help,</a:t>
            </a:r>
          </a:p>
          <a:p xmlns:a="http://schemas.openxmlformats.org/drawingml/2006/main">
            <a:pPr algn="l">
              <a:lnSpc>
                <a:spcPct val="118000"/>
              </a:lnSpc>
              <a:buNone/>
              <a:defRPr sz="2025" b="0">
                <a:solidFill>
                  <a:srgbClr val="062942"/>
                </a:solidFill>
                <a:latin typeface="STIX Two Text"/>
                <a:ea typeface="STIX Two Text"/>
                <a:cs typeface="STIX Two Text"/>
              </a:defRPr>
            </a:pPr>
            <a:r>
              <a:rPr sz="2025" b="0">
                <a:solidFill>
                  <a:srgbClr val="062942"/>
                </a:solidFill>
                <a:latin typeface="STIX Two Text"/>
                <a:ea typeface="STIX Two Text"/>
                <a:cs typeface="STIX Two Text"/>
              </a:rPr>
              <a:t>including the first employees</a:t>
            </a:r>
          </a:p>
        </p:txBody>
      </p:sp>
      <p:sp>
        <p:nvSpPr>
          <p:cNvPr id="7" name="terac-culture">
            <a:extLst xmlns:a="http://schemas.openxmlformats.org/drawingml/2006/main">
              <a:ext uri="{FF2B5EF4-FFF2-40B4-BE49-F238E27FC236}">
                <a16:creationId xmlns:a16="http://schemas.microsoft.com/office/drawing/2014/main" id="{EA9DB398-65E2-4CA9-A741-EF70285DE47B}"/>
              </a:ext>
            </a:extLst>
          </p:cNvPr>
          <p:cNvSpPr>
            <a:spLocks xmlns:a="http://schemas.openxmlformats.org/drawingml/2006/main" noGrp="1"/>
          </p:cNvSpPr>
          <p:nvPr/>
        </p:nvSpPr>
        <p:spPr>
          <a:xfrm xmlns:a="http://schemas.openxmlformats.org/drawingml/2006/main">
            <a:off x="523875" y="3971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1">
                <a:solidFill>
                  <a:srgbClr val="062942"/>
                </a:solidFill>
                <a:latin typeface="Avenir Next"/>
                <a:ea typeface="Avenir Next"/>
                <a:cs typeface="Avenir Next"/>
              </a:defRPr>
            </a:pPr>
            <a:r>
              <a:rPr sz="2025" b="1">
                <a:solidFill>
                  <a:srgbClr val="062942"/>
                </a:solidFill>
                <a:latin typeface="Avenir Next"/>
                <a:ea typeface="Avenir Next"/>
                <a:cs typeface="Avenir Next"/>
              </a:rPr>
              <a:t>Engineering culture from day one</a:t>
            </a:r>
          </a:p>
        </p:txBody>
      </p:sp>
      <p:sp>
        <p:nvSpPr>
          <p:cNvPr id="8" name="terac-relationship">
            <a:extLst xmlns:a="http://schemas.openxmlformats.org/drawingml/2006/main">
              <a:ext uri="{FF2B5EF4-FFF2-40B4-BE49-F238E27FC236}">
                <a16:creationId xmlns:a16="http://schemas.microsoft.com/office/drawing/2014/main" id="{1107F931-25A6-4202-8566-A451DAD963C7}"/>
              </a:ext>
            </a:extLst>
          </p:cNvPr>
          <p:cNvSpPr>
            <a:spLocks xmlns:a="http://schemas.openxmlformats.org/drawingml/2006/main" noGrp="1"/>
          </p:cNvSpPr>
          <p:nvPr/>
        </p:nvSpPr>
        <p:spPr>
          <a:xfrm xmlns:a="http://schemas.openxmlformats.org/drawingml/2006/main">
            <a:off x="523875" y="44958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0">
                <a:solidFill>
                  <a:srgbClr val="062942"/>
                </a:solidFill>
                <a:latin typeface="Avenir Next"/>
                <a:ea typeface="Avenir Next"/>
                <a:cs typeface="Avenir Next"/>
              </a:defRPr>
            </a:pPr>
            <a:r>
              <a:rPr sz="1950" b="0">
                <a:solidFill>
                  <a:srgbClr val="062942"/>
                </a:solidFill>
                <a:latin typeface="Avenir Next"/>
                <a:ea typeface="Avenir Next"/>
                <a:cs typeface="Avenir Next"/>
              </a:rPr>
              <a:t>Close involvement with Zac and the team</a:t>
            </a:r>
          </a:p>
        </p:txBody>
      </p:sp>
      <p:sp>
        <p:nvSpPr>
          <p:cNvPr id="9" name="terac-ownership">
            <a:extLst xmlns:a="http://schemas.openxmlformats.org/drawingml/2006/main">
              <a:ext uri="{FF2B5EF4-FFF2-40B4-BE49-F238E27FC236}">
                <a16:creationId xmlns:a16="http://schemas.microsoft.com/office/drawing/2014/main" id="{0DED073A-B566-48C9-A222-8B0F4690750B}"/>
              </a:ext>
            </a:extLst>
          </p:cNvPr>
          <p:cNvSpPr>
            <a:spLocks xmlns:a="http://schemas.openxmlformats.org/drawingml/2006/main" noGrp="1"/>
          </p:cNvSpPr>
          <p:nvPr/>
        </p:nvSpPr>
        <p:spPr>
          <a:xfrm xmlns:a="http://schemas.openxmlformats.org/drawingml/2006/main">
            <a:off x="523875" y="5257800"/>
            <a:ext cx="7524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062942"/>
                </a:solidFill>
                <a:latin typeface="STIX Two Text"/>
                <a:ea typeface="STIX Two Text"/>
                <a:cs typeface="STIX Two Text"/>
              </a:defRPr>
            </a:pPr>
            <a:r>
              <a:rPr sz="2025" b="0">
                <a:solidFill>
                  <a:srgbClr val="062942"/>
                </a:solidFill>
                <a:latin typeface="STIX Two Text"/>
                <a:ea typeface="STIX Two Text"/>
                <a:cs typeface="STIX Two Text"/>
              </a:rPr>
              <a:t>That work helped earn the opportunity to invest more.</a:t>
            </a:r>
          </a:p>
        </p:txBody>
      </p:sp>
      <p:sp>
        <p:nvSpPr>
          <p:cNvPr id="10" name="terac-status">
            <a:extLst xmlns:a="http://schemas.openxmlformats.org/drawingml/2006/main">
              <a:ext uri="{FF2B5EF4-FFF2-40B4-BE49-F238E27FC236}">
                <a16:creationId xmlns:a16="http://schemas.microsoft.com/office/drawing/2014/main" id="{B32659CE-DFF7-4AC9-9E51-CCC531575A6D}"/>
              </a:ext>
            </a:extLst>
          </p:cNvPr>
          <p:cNvSpPr>
            <a:spLocks xmlns:a="http://schemas.openxmlformats.org/drawingml/2006/main" noGrp="1"/>
          </p:cNvSpPr>
          <p:nvPr/>
        </p:nvSpPr>
        <p:spPr>
          <a:xfrm xmlns:a="http://schemas.openxmlformats.org/drawingml/2006/main">
            <a:off x="523875" y="636270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86675"/>
                </a:solidFill>
                <a:latin typeface="Avenir Next"/>
                <a:ea typeface="Avenir Next"/>
                <a:cs typeface="Avenir Next"/>
              </a:defRPr>
            </a:pPr>
            <a:r>
              <a:rPr sz="1125" b="0">
                <a:solidFill>
                  <a:srgbClr val="586675"/>
                </a:solidFill>
                <a:latin typeface="Avenir Next"/>
                <a:ea typeface="Avenir Next"/>
                <a:cs typeface="Avenir Next"/>
              </a:rPr>
              <a:t>The additional investment’s structure and terms are still in progress.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727e26ab1ff4793"/>
          <a:stretch xmlns:a="http://schemas.openxmlformats.org/drawingml/2006/main"/>
        </p:blipFill>
        <p:spPr>
          <a:xfrm xmlns:a="http://schemas.openxmlformats.org/drawingml/2006/main">
            <a:off x="8620125" y="2524125"/>
            <a:ext cx="2952750" cy="2952750"/>
          </a:xfrm>
          <a:prstGeom xmlns:a="http://schemas.openxmlformats.org/drawingml/2006/main" prst="rect">
            <a:avLst/>
          </a:prstGeom>
        </p:spPr>
      </p:pic>
      <p:sp>
        <p:nvSpPr>
          <p:cNvPr id="12" name="portrait-label">
            <a:extLst xmlns:a="http://schemas.openxmlformats.org/drawingml/2006/main">
              <a:ext uri="{FF2B5EF4-FFF2-40B4-BE49-F238E27FC236}">
                <a16:creationId xmlns:a16="http://schemas.microsoft.com/office/drawing/2014/main" id="{86856BA7-5B44-4B60-B2D6-D0DE0EC6812C}"/>
              </a:ext>
            </a:extLst>
          </p:cNvPr>
          <p:cNvSpPr>
            <a:spLocks xmlns:a="http://schemas.openxmlformats.org/drawingml/2006/main" noGrp="1"/>
          </p:cNvSpPr>
          <p:nvPr/>
        </p:nvSpPr>
        <p:spPr>
          <a:xfrm xmlns:a="http://schemas.openxmlformats.org/drawingml/2006/main">
            <a:off x="8620125" y="57245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a:solidFill>
                  <a:srgbClr val="062942"/>
                </a:solidFill>
                <a:latin typeface="Menlo"/>
                <a:ea typeface="Menlo"/>
                <a:cs typeface="Menlo"/>
              </a:defRPr>
            </a:pPr>
            <a:r>
              <a:rPr sz="1350" b="0">
                <a:solidFill>
                  <a:srgbClr val="062942"/>
                </a:solidFill>
                <a:latin typeface="Menlo"/>
                <a:ea typeface="Menlo"/>
                <a:cs typeface="Menlo"/>
              </a:rPr>
              <a:t>Germán Fernández / Terac</a:t>
            </a:r>
          </a:p>
        </p:txBody>
      </p:sp>
    </p:spTree>
    <p:extLst>
      <p:ext uri="{BB962C8B-B14F-4D97-AF65-F5344CB8AC3E}">
        <p14:creationId xmlns:p14="http://schemas.microsoft.com/office/powerpoint/2010/main" val="818698890"/>
      </p:ext>
    </p:extLst>
  </p:cSld>
</p:sld>
</file>

<file path=ppt/slides/slide6.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12" name="header-label">
            <a:extLst xmlns:a="http://schemas.openxmlformats.org/drawingml/2006/main">
              <a:ext uri="{FF2B5EF4-FFF2-40B4-BE49-F238E27FC236}">
                <a16:creationId xmlns:a16="http://schemas.microsoft.com/office/drawing/2014/main" id="{3EB42D52-C7D2-423D-8FAB-BA5DE5D96C62}"/>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PUENTES</a:t>
            </a:r>
          </a:p>
        </p:txBody>
      </p:sp>
      <p:sp>
        <p:nvSpPr>
          <p:cNvPr id="2" name="header-rule">
            <a:extLst xmlns:a="http://schemas.openxmlformats.org/drawingml/2006/main">
              <a:ext uri="{FF2B5EF4-FFF2-40B4-BE49-F238E27FC236}">
                <a16:creationId xmlns:a16="http://schemas.microsoft.com/office/drawing/2014/main" id="{9004825E-F1D9-4537-8DC5-58239D4E70AD}"/>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13FA513A-8A33-46FF-AE92-C0ABE826A7E2}"/>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tomas-title">
            <a:extLst xmlns:a="http://schemas.openxmlformats.org/drawingml/2006/main">
              <a:ext uri="{FF2B5EF4-FFF2-40B4-BE49-F238E27FC236}">
                <a16:creationId xmlns:a16="http://schemas.microsoft.com/office/drawing/2014/main" id="{D11BAD72-5D58-40EF-A01C-3ECF7AC6BCCC}"/>
              </a:ext>
            </a:extLst>
          </p:cNvPr>
          <p:cNvSpPr>
            <a:spLocks xmlns:a="http://schemas.openxmlformats.org/drawingml/2006/main" noGrp="1"/>
          </p:cNvSpPr>
          <p:nvPr/>
        </p:nvSpPr>
        <p:spPr>
          <a:xfrm xmlns:a="http://schemas.openxmlformats.org/drawingml/2006/main">
            <a:off x="523875" y="80962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150" b="0">
                <a:solidFill>
                  <a:srgbClr val="062942"/>
                </a:solidFill>
                <a:latin typeface="STIX Two Text"/>
                <a:ea typeface="STIX Two Text"/>
                <a:cs typeface="STIX Two Text"/>
              </a:defRPr>
            </a:pPr>
            <a:r>
              <a:rPr sz="3150" b="0">
                <a:solidFill>
                  <a:srgbClr val="062942"/>
                </a:solidFill>
                <a:latin typeface="STIX Two Text"/>
                <a:ea typeface="STIX Two Text"/>
                <a:cs typeface="STIX Two Text"/>
              </a:rPr>
              <a:t>Tomás Holtz at Cognition</a:t>
            </a:r>
          </a:p>
        </p:txBody>
      </p:sp>
      <p:sp>
        <p:nvSpPr>
          <p:cNvPr id="5" name="tomas-intro">
            <a:extLst xmlns:a="http://schemas.openxmlformats.org/drawingml/2006/main">
              <a:ext uri="{FF2B5EF4-FFF2-40B4-BE49-F238E27FC236}">
                <a16:creationId xmlns:a16="http://schemas.microsoft.com/office/drawing/2014/main" id="{BFF909C8-7592-445E-B5BA-4A58AF9E58CD}"/>
              </a:ext>
            </a:extLst>
          </p:cNvPr>
          <p:cNvSpPr>
            <a:spLocks xmlns:a="http://schemas.openxmlformats.org/drawingml/2006/main" noGrp="1"/>
          </p:cNvSpPr>
          <p:nvPr/>
        </p:nvSpPr>
        <p:spPr>
          <a:xfrm xmlns:a="http://schemas.openxmlformats.org/drawingml/2006/main">
            <a:off x="523875" y="1762125"/>
            <a:ext cx="752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700" b="0">
                <a:solidFill>
                  <a:srgbClr val="062942"/>
                </a:solidFill>
                <a:latin typeface="STIX Two Text"/>
                <a:ea typeface="STIX Two Text"/>
                <a:cs typeface="STIX Two Text"/>
              </a:defRPr>
            </a:pPr>
            <a:r>
              <a:rPr sz="2700" b="0">
                <a:solidFill>
                  <a:srgbClr val="062942"/>
                </a:solidFill>
                <a:latin typeface="STIX Two Text"/>
                <a:ea typeface="STIX Two Text"/>
                <a:cs typeface="STIX Two Text"/>
              </a:rPr>
              <a:t>One fellow joins a team.</a:t>
            </a:r>
          </a:p>
          <a:p xmlns:a="http://schemas.openxmlformats.org/drawingml/2006/main">
            <a:pPr algn="l">
              <a:lnSpc>
                <a:spcPct val="118000"/>
              </a:lnSpc>
              <a:buNone/>
              <a:defRPr sz="2700" b="0">
                <a:solidFill>
                  <a:srgbClr val="062942"/>
                </a:solidFill>
                <a:latin typeface="STIX Two Text"/>
                <a:ea typeface="STIX Two Text"/>
                <a:cs typeface="STIX Two Text"/>
              </a:defRPr>
            </a:pPr>
            <a:r>
              <a:rPr sz="2700" b="0">
                <a:solidFill>
                  <a:srgbClr val="062942"/>
                </a:solidFill>
                <a:latin typeface="STIX Two Text"/>
                <a:ea typeface="STIX Two Text"/>
                <a:cs typeface="STIX Two Text"/>
              </a:rPr>
              <a:t>The relationships extend.</a:t>
            </a:r>
          </a:p>
        </p:txBody>
      </p:sp>
      <p:sp>
        <p:nvSpPr>
          <p:cNvPr id="6" name="tomas-team">
            <a:extLst xmlns:a="http://schemas.openxmlformats.org/drawingml/2006/main">
              <a:ext uri="{FF2B5EF4-FFF2-40B4-BE49-F238E27FC236}">
                <a16:creationId xmlns:a16="http://schemas.microsoft.com/office/drawing/2014/main" id="{E545B1A4-7602-4FB9-A7EA-4A2B913C392E}"/>
              </a:ext>
            </a:extLst>
          </p:cNvPr>
          <p:cNvSpPr>
            <a:spLocks xmlns:a="http://schemas.openxmlformats.org/drawingml/2006/main" noGrp="1"/>
          </p:cNvSpPr>
          <p:nvPr/>
        </p:nvSpPr>
        <p:spPr>
          <a:xfrm xmlns:a="http://schemas.openxmlformats.org/drawingml/2006/main">
            <a:off x="523875" y="3248025"/>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1">
                <a:solidFill>
                  <a:srgbClr val="062942"/>
                </a:solidFill>
                <a:latin typeface="Avenir Next"/>
                <a:ea typeface="Avenir Next"/>
                <a:cs typeface="Avenir Next"/>
              </a:defRPr>
            </a:pPr>
            <a:r>
              <a:rPr sz="2025" b="1">
                <a:solidFill>
                  <a:srgbClr val="062942"/>
                </a:solidFill>
                <a:latin typeface="Avenir Next"/>
                <a:ea typeface="Avenir Next"/>
                <a:cs typeface="Avenir Next"/>
              </a:rPr>
              <a:t>Relationships across Cognition</a:t>
            </a:r>
          </a:p>
        </p:txBody>
      </p:sp>
      <p:sp>
        <p:nvSpPr>
          <p:cNvPr id="7" name="tomas-team-body">
            <a:extLst xmlns:a="http://schemas.openxmlformats.org/drawingml/2006/main">
              <a:ext uri="{FF2B5EF4-FFF2-40B4-BE49-F238E27FC236}">
                <a16:creationId xmlns:a16="http://schemas.microsoft.com/office/drawing/2014/main" id="{055C60FF-95C4-42F1-BE40-5A817DFDDFAF}"/>
              </a:ext>
            </a:extLst>
          </p:cNvPr>
          <p:cNvSpPr>
            <a:spLocks xmlns:a="http://schemas.openxmlformats.org/drawingml/2006/main" noGrp="1"/>
          </p:cNvSpPr>
          <p:nvPr/>
        </p:nvSpPr>
        <p:spPr>
          <a:xfrm xmlns:a="http://schemas.openxmlformats.org/drawingml/2006/main">
            <a:off x="523875" y="3714750"/>
            <a:ext cx="7524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0">
                <a:solidFill>
                  <a:srgbClr val="062942"/>
                </a:solidFill>
                <a:latin typeface="Avenir Next"/>
                <a:ea typeface="Avenir Next"/>
                <a:cs typeface="Avenir Next"/>
              </a:defRPr>
            </a:pPr>
            <a:r>
              <a:rPr sz="1950" b="0">
                <a:solidFill>
                  <a:srgbClr val="062942"/>
                </a:solidFill>
                <a:latin typeface="Avenir Next"/>
                <a:ea typeface="Avenir Next"/>
                <a:cs typeface="Avenir Next"/>
              </a:rPr>
              <a:t>New conversations across engineering and</a:t>
            </a:r>
          </a:p>
          <a:p xmlns:a="http://schemas.openxmlformats.org/drawingml/2006/main">
            <a:pPr algn="l">
              <a:lnSpc>
                <a:spcPct val="118000"/>
              </a:lnSpc>
              <a:buNone/>
              <a:defRPr sz="1950" b="0">
                <a:solidFill>
                  <a:srgbClr val="062942"/>
                </a:solidFill>
                <a:latin typeface="Avenir Next"/>
                <a:ea typeface="Avenir Next"/>
                <a:cs typeface="Avenir Next"/>
              </a:defRPr>
            </a:pPr>
            <a:r>
              <a:rPr sz="1950" b="0">
                <a:solidFill>
                  <a:srgbClr val="062942"/>
                </a:solidFill>
                <a:latin typeface="Avenir Next"/>
                <a:ea typeface="Avenir Next"/>
                <a:cs typeface="Avenir Next"/>
              </a:rPr>
              <a:t>business development.</a:t>
            </a:r>
          </a:p>
        </p:txBody>
      </p:sp>
      <p:sp>
        <p:nvSpPr>
          <p:cNvPr id="8" name="tomas-sv">
            <a:extLst xmlns:a="http://schemas.openxmlformats.org/drawingml/2006/main">
              <a:ext uri="{FF2B5EF4-FFF2-40B4-BE49-F238E27FC236}">
                <a16:creationId xmlns:a16="http://schemas.microsoft.com/office/drawing/2014/main" id="{DC3BA11A-6B2F-479E-8173-3FCD820A7E62}"/>
              </a:ext>
            </a:extLst>
          </p:cNvPr>
          <p:cNvSpPr>
            <a:spLocks xmlns:a="http://schemas.openxmlformats.org/drawingml/2006/main" noGrp="1"/>
          </p:cNvSpPr>
          <p:nvPr/>
        </p:nvSpPr>
        <p:spPr>
          <a:xfrm xmlns:a="http://schemas.openxmlformats.org/drawingml/2006/main">
            <a:off x="523875" y="4829175"/>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Avenir Next"/>
                <a:ea typeface="Avenir Next"/>
                <a:cs typeface="Avenir Next"/>
              </a:defRPr>
            </a:pPr>
            <a:r>
              <a:rPr sz="1950" b="1">
                <a:solidFill>
                  <a:srgbClr val="062942"/>
                </a:solidFill>
                <a:latin typeface="Avenir Next"/>
                <a:ea typeface="Avenir Next"/>
                <a:cs typeface="Avenir Next"/>
              </a:rPr>
              <a:t>A further connection through SV Angel</a:t>
            </a:r>
          </a:p>
        </p:txBody>
      </p:sp>
      <p:sp>
        <p:nvSpPr>
          <p:cNvPr id="9" name="tomas-sv-body">
            <a:extLst xmlns:a="http://schemas.openxmlformats.org/drawingml/2006/main">
              <a:ext uri="{FF2B5EF4-FFF2-40B4-BE49-F238E27FC236}">
                <a16:creationId xmlns:a16="http://schemas.microsoft.com/office/drawing/2014/main" id="{9C76A5BF-BF96-4A0A-987C-42B94B717A93}"/>
              </a:ext>
            </a:extLst>
          </p:cNvPr>
          <p:cNvSpPr>
            <a:spLocks xmlns:a="http://schemas.openxmlformats.org/drawingml/2006/main" noGrp="1"/>
          </p:cNvSpPr>
          <p:nvPr/>
        </p:nvSpPr>
        <p:spPr>
          <a:xfrm xmlns:a="http://schemas.openxmlformats.org/drawingml/2006/main">
            <a:off x="523875" y="5305425"/>
            <a:ext cx="7524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0">
                <a:solidFill>
                  <a:srgbClr val="062942"/>
                </a:solidFill>
                <a:latin typeface="Avenir Next"/>
                <a:ea typeface="Avenir Next"/>
                <a:cs typeface="Avenir Next"/>
              </a:defRPr>
            </a:pPr>
            <a:r>
              <a:rPr sz="1950" b="0">
                <a:solidFill>
                  <a:srgbClr val="062942"/>
                </a:solidFill>
                <a:latin typeface="Avenir Next"/>
                <a:ea typeface="Avenir Next"/>
                <a:cs typeface="Avenir Next"/>
              </a:rPr>
              <a:t>We are inviting an early Cognition employee</a:t>
            </a:r>
          </a:p>
          <a:p xmlns:a="http://schemas.openxmlformats.org/drawingml/2006/main">
            <a:pPr algn="l">
              <a:lnSpc>
                <a:spcPct val="118000"/>
              </a:lnSpc>
              <a:buNone/>
              <a:defRPr sz="1950" b="0">
                <a:solidFill>
                  <a:srgbClr val="062942"/>
                </a:solidFill>
                <a:latin typeface="Avenir Next"/>
                <a:ea typeface="Avenir Next"/>
                <a:cs typeface="Avenir Next"/>
              </a:defRPr>
            </a:pPr>
            <a:r>
              <a:rPr sz="1950" b="0">
                <a:solidFill>
                  <a:srgbClr val="062942"/>
                </a:solidFill>
                <a:latin typeface="Avenir Next"/>
                <a:ea typeface="Avenir Next"/>
                <a:cs typeface="Avenir Next"/>
              </a:rPr>
              <a:t>to the next Puentes cohort.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206c9f52f7147b4"/>
          <a:stretch xmlns:a="http://schemas.openxmlformats.org/drawingml/2006/main"/>
        </p:blipFill>
        <p:spPr>
          <a:xfrm xmlns:a="http://schemas.openxmlformats.org/drawingml/2006/main">
            <a:off x="8620125" y="2524125"/>
            <a:ext cx="2952750" cy="2952750"/>
          </a:xfrm>
          <a:prstGeom xmlns:a="http://schemas.openxmlformats.org/drawingml/2006/main" prst="rect">
            <a:avLst/>
          </a:prstGeom>
        </p:spPr>
      </p:pic>
      <p:sp>
        <p:nvSpPr>
          <p:cNvPr id="11" name="portrait-label">
            <a:extLst xmlns:a="http://schemas.openxmlformats.org/drawingml/2006/main">
              <a:ext uri="{FF2B5EF4-FFF2-40B4-BE49-F238E27FC236}">
                <a16:creationId xmlns:a16="http://schemas.microsoft.com/office/drawing/2014/main" id="{A3318844-E89C-4527-8A52-EB6562CD6280}"/>
              </a:ext>
            </a:extLst>
          </p:cNvPr>
          <p:cNvSpPr>
            <a:spLocks xmlns:a="http://schemas.openxmlformats.org/drawingml/2006/main" noGrp="1"/>
          </p:cNvSpPr>
          <p:nvPr/>
        </p:nvSpPr>
        <p:spPr>
          <a:xfrm xmlns:a="http://schemas.openxmlformats.org/drawingml/2006/main">
            <a:off x="8620125" y="57245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a:solidFill>
                  <a:srgbClr val="062942"/>
                </a:solidFill>
                <a:latin typeface="Menlo"/>
                <a:ea typeface="Menlo"/>
                <a:cs typeface="Menlo"/>
              </a:defRPr>
            </a:pPr>
            <a:r>
              <a:rPr sz="1350" b="0">
                <a:solidFill>
                  <a:srgbClr val="062942"/>
                </a:solidFill>
                <a:latin typeface="Menlo"/>
                <a:ea typeface="Menlo"/>
                <a:cs typeface="Menlo"/>
              </a:rPr>
              <a:t>Tomás Holtz / Cognition</a:t>
            </a:r>
          </a:p>
        </p:txBody>
      </p:sp>
    </p:spTree>
    <p:extLst>
      <p:ext uri="{BB962C8B-B14F-4D97-AF65-F5344CB8AC3E}">
        <p14:creationId xmlns:p14="http://schemas.microsoft.com/office/powerpoint/2010/main" val="1902312579"/>
      </p:ext>
    </p:extLst>
  </p:cSld>
</p:sld>
</file>

<file path=ppt/slides/slide7.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10" name="header-label">
            <a:extLst xmlns:a="http://schemas.openxmlformats.org/drawingml/2006/main">
              <a:ext uri="{FF2B5EF4-FFF2-40B4-BE49-F238E27FC236}">
                <a16:creationId xmlns:a16="http://schemas.microsoft.com/office/drawing/2014/main" id="{B9ED4122-872E-4B06-9A55-FDB086131D7C}"/>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PUENTES</a:t>
            </a:r>
          </a:p>
        </p:txBody>
      </p:sp>
      <p:sp>
        <p:nvSpPr>
          <p:cNvPr id="2" name="header-rule">
            <a:extLst xmlns:a="http://schemas.openxmlformats.org/drawingml/2006/main">
              <a:ext uri="{FF2B5EF4-FFF2-40B4-BE49-F238E27FC236}">
                <a16:creationId xmlns:a16="http://schemas.microsoft.com/office/drawing/2014/main" id="{054D30AB-0168-4980-8518-503865792E69}"/>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A321FE80-D4D3-4CF9-A8AD-B421EE4E60BB}"/>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samuel-title">
            <a:extLst xmlns:a="http://schemas.openxmlformats.org/drawingml/2006/main">
              <a:ext uri="{FF2B5EF4-FFF2-40B4-BE49-F238E27FC236}">
                <a16:creationId xmlns:a16="http://schemas.microsoft.com/office/drawing/2014/main" id="{2F7ED069-AB47-4BFB-94E0-A1D71D7EBC27}"/>
              </a:ext>
            </a:extLst>
          </p:cNvPr>
          <p:cNvSpPr>
            <a:spLocks xmlns:a="http://schemas.openxmlformats.org/drawingml/2006/main" noGrp="1"/>
          </p:cNvSpPr>
          <p:nvPr/>
        </p:nvSpPr>
        <p:spPr>
          <a:xfrm xmlns:a="http://schemas.openxmlformats.org/drawingml/2006/main">
            <a:off x="523875" y="80962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150" b="0">
                <a:solidFill>
                  <a:srgbClr val="062942"/>
                </a:solidFill>
                <a:latin typeface="STIX Two Text"/>
                <a:ea typeface="STIX Two Text"/>
                <a:cs typeface="STIX Two Text"/>
              </a:defRPr>
            </a:pPr>
            <a:r>
              <a:rPr sz="3150" b="0">
                <a:solidFill>
                  <a:srgbClr val="062942"/>
                </a:solidFill>
                <a:latin typeface="STIX Two Text"/>
                <a:ea typeface="STIX Two Text"/>
                <a:cs typeface="STIX Two Text"/>
              </a:rPr>
              <a:t>Samuel Rizzon</a:t>
            </a:r>
          </a:p>
        </p:txBody>
      </p:sp>
      <p:sp>
        <p:nvSpPr>
          <p:cNvPr id="5" name="samuel-home">
            <a:extLst xmlns:a="http://schemas.openxmlformats.org/drawingml/2006/main">
              <a:ext uri="{FF2B5EF4-FFF2-40B4-BE49-F238E27FC236}">
                <a16:creationId xmlns:a16="http://schemas.microsoft.com/office/drawing/2014/main" id="{5D6BF402-239C-48A9-B457-A043ABAEB16A}"/>
              </a:ext>
            </a:extLst>
          </p:cNvPr>
          <p:cNvSpPr>
            <a:spLocks xmlns:a="http://schemas.openxmlformats.org/drawingml/2006/main" noGrp="1"/>
          </p:cNvSpPr>
          <p:nvPr/>
        </p:nvSpPr>
        <p:spPr>
          <a:xfrm xmlns:a="http://schemas.openxmlformats.org/drawingml/2006/main">
            <a:off x="523875" y="1933575"/>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0">
                <a:solidFill>
                  <a:srgbClr val="062942"/>
                </a:solidFill>
                <a:latin typeface="STIX Two Text"/>
                <a:ea typeface="STIX Two Text"/>
                <a:cs typeface="STIX Two Text"/>
              </a:defRPr>
            </a:pPr>
            <a:r>
              <a:rPr sz="2325" b="0">
                <a:solidFill>
                  <a:srgbClr val="062942"/>
                </a:solidFill>
                <a:latin typeface="STIX Two Text"/>
                <a:ea typeface="STIX Two Text"/>
                <a:cs typeface="STIX Two Text"/>
              </a:rPr>
              <a:t>Moving to San Francisco with his wife,</a:t>
            </a:r>
          </a:p>
          <a:p xmlns:a="http://schemas.openxmlformats.org/drawingml/2006/main">
            <a:pPr algn="l">
              <a:lnSpc>
                <a:spcPct val="118000"/>
              </a:lnSpc>
              <a:buNone/>
              <a:defRPr sz="2325" b="0">
                <a:solidFill>
                  <a:srgbClr val="062942"/>
                </a:solidFill>
                <a:latin typeface="STIX Two Text"/>
                <a:ea typeface="STIX Two Text"/>
                <a:cs typeface="STIX Two Text"/>
              </a:defRPr>
            </a:pPr>
            <a:r>
              <a:rPr sz="2325" b="0">
                <a:solidFill>
                  <a:srgbClr val="062942"/>
                </a:solidFill>
                <a:latin typeface="STIX Two Text"/>
                <a:ea typeface="STIX Two Text"/>
                <a:cs typeface="STIX Two Text"/>
              </a:rPr>
              <a:t>with a son on the way.</a:t>
            </a:r>
          </a:p>
        </p:txBody>
      </p:sp>
      <p:sp>
        <p:nvSpPr>
          <p:cNvPr id="6" name="samuel-return">
            <a:extLst xmlns:a="http://schemas.openxmlformats.org/drawingml/2006/main">
              <a:ext uri="{FF2B5EF4-FFF2-40B4-BE49-F238E27FC236}">
                <a16:creationId xmlns:a16="http://schemas.microsoft.com/office/drawing/2014/main" id="{13BD73AC-8D66-4C30-890B-34A09CCA6D3A}"/>
              </a:ext>
            </a:extLst>
          </p:cNvPr>
          <p:cNvSpPr>
            <a:spLocks xmlns:a="http://schemas.openxmlformats.org/drawingml/2006/main" noGrp="1"/>
          </p:cNvSpPr>
          <p:nvPr/>
        </p:nvSpPr>
        <p:spPr>
          <a:xfrm xmlns:a="http://schemas.openxmlformats.org/drawingml/2006/main">
            <a:off x="523875" y="3362325"/>
            <a:ext cx="7715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062942"/>
                </a:solidFill>
                <a:latin typeface="Avenir Next"/>
                <a:ea typeface="Avenir Next"/>
                <a:cs typeface="Avenir Next"/>
              </a:defRPr>
            </a:pPr>
            <a:r>
              <a:rPr sz="2100" b="0">
                <a:solidFill>
                  <a:srgbClr val="062942"/>
                </a:solidFill>
                <a:latin typeface="Avenir Next"/>
                <a:ea typeface="Avenir Next"/>
                <a:cs typeface="Avenir Next"/>
              </a:rPr>
              <a:t>They drove to our São Paulo event and</a:t>
            </a:r>
          </a:p>
          <a:p xmlns:a="http://schemas.openxmlformats.org/drawingml/2006/main">
            <a:pPr algn="l">
              <a:lnSpc>
                <a:spcPct val="118000"/>
              </a:lnSpc>
              <a:buNone/>
              <a:defRPr sz="2100" b="0">
                <a:solidFill>
                  <a:srgbClr val="062942"/>
                </a:solidFill>
                <a:latin typeface="Avenir Next"/>
                <a:ea typeface="Avenir Next"/>
                <a:cs typeface="Avenir Next"/>
              </a:defRPr>
            </a:pPr>
            <a:r>
              <a:rPr sz="2100" b="0">
                <a:solidFill>
                  <a:srgbClr val="062942"/>
                </a:solidFill>
                <a:latin typeface="Avenir Next"/>
                <a:ea typeface="Avenir Next"/>
                <a:cs typeface="Avenir Next"/>
              </a:rPr>
              <a:t>offered to cook for future cohorts.</a:t>
            </a:r>
          </a:p>
        </p:txBody>
      </p:sp>
      <p:sp>
        <p:nvSpPr>
          <p:cNvPr id="7" name="samuel-point">
            <a:extLst xmlns:a="http://schemas.openxmlformats.org/drawingml/2006/main">
              <a:ext uri="{FF2B5EF4-FFF2-40B4-BE49-F238E27FC236}">
                <a16:creationId xmlns:a16="http://schemas.microsoft.com/office/drawing/2014/main" id="{A092A401-6E34-49F0-81F3-75DE793B05A7}"/>
              </a:ext>
            </a:extLst>
          </p:cNvPr>
          <p:cNvSpPr>
            <a:spLocks xmlns:a="http://schemas.openxmlformats.org/drawingml/2006/main" noGrp="1"/>
          </p:cNvSpPr>
          <p:nvPr/>
        </p:nvSpPr>
        <p:spPr>
          <a:xfrm xmlns:a="http://schemas.openxmlformats.org/drawingml/2006/main">
            <a:off x="523875" y="5162550"/>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0">
                <a:solidFill>
                  <a:srgbClr val="062942"/>
                </a:solidFill>
                <a:latin typeface="STIX Two Text"/>
                <a:ea typeface="STIX Two Text"/>
                <a:cs typeface="STIX Two Text"/>
              </a:defRPr>
            </a:pPr>
            <a:r>
              <a:rPr sz="2250" b="0">
                <a:solidFill>
                  <a:srgbClr val="062942"/>
                </a:solidFill>
                <a:latin typeface="STIX Two Text"/>
                <a:ea typeface="STIX Two Text"/>
                <a:cs typeface="STIX Two Text"/>
              </a:rPr>
              <a:t>Being first to believe can build a relationship</a:t>
            </a:r>
          </a:p>
          <a:p xmlns:a="http://schemas.openxmlformats.org/drawingml/2006/main">
            <a:pPr algn="l">
              <a:lnSpc>
                <a:spcPct val="118000"/>
              </a:lnSpc>
              <a:buNone/>
              <a:defRPr sz="2250" b="0">
                <a:solidFill>
                  <a:srgbClr val="062942"/>
                </a:solidFill>
                <a:latin typeface="STIX Two Text"/>
                <a:ea typeface="STIX Two Text"/>
                <a:cs typeface="STIX Two Text"/>
              </a:defRPr>
            </a:pPr>
            <a:r>
              <a:rPr sz="2250" b="0">
                <a:solidFill>
                  <a:srgbClr val="062942"/>
                </a:solidFill>
                <a:latin typeface="STIX Two Text"/>
                <a:ea typeface="STIX Two Text"/>
                <a:cs typeface="STIX Two Text"/>
              </a:rPr>
              <a:t>that capital alone cannot buy.</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2477946468b46e3"/>
          <a:stretch xmlns:a="http://schemas.openxmlformats.org/drawingml/2006/main"/>
        </p:blipFill>
        <p:spPr>
          <a:xfrm xmlns:a="http://schemas.openxmlformats.org/drawingml/2006/main">
            <a:off x="8620125" y="2524125"/>
            <a:ext cx="2952750" cy="2952750"/>
          </a:xfrm>
          <a:prstGeom xmlns:a="http://schemas.openxmlformats.org/drawingml/2006/main" prst="rect">
            <a:avLst/>
          </a:prstGeom>
        </p:spPr>
      </p:pic>
      <p:sp>
        <p:nvSpPr>
          <p:cNvPr id="9" name="portrait-label">
            <a:extLst xmlns:a="http://schemas.openxmlformats.org/drawingml/2006/main">
              <a:ext uri="{FF2B5EF4-FFF2-40B4-BE49-F238E27FC236}">
                <a16:creationId xmlns:a16="http://schemas.microsoft.com/office/drawing/2014/main" id="{4C1B07B6-6C4C-4B62-888B-D3969AACA8E9}"/>
              </a:ext>
            </a:extLst>
          </p:cNvPr>
          <p:cNvSpPr>
            <a:spLocks xmlns:a="http://schemas.openxmlformats.org/drawingml/2006/main" noGrp="1"/>
          </p:cNvSpPr>
          <p:nvPr/>
        </p:nvSpPr>
        <p:spPr>
          <a:xfrm xmlns:a="http://schemas.openxmlformats.org/drawingml/2006/main">
            <a:off x="8620125" y="57245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a:solidFill>
                  <a:srgbClr val="062942"/>
                </a:solidFill>
                <a:latin typeface="Menlo"/>
                <a:ea typeface="Menlo"/>
                <a:cs typeface="Menlo"/>
              </a:defRPr>
            </a:pPr>
            <a:r>
              <a:rPr sz="1350" b="0">
                <a:solidFill>
                  <a:srgbClr val="062942"/>
                </a:solidFill>
                <a:latin typeface="Menlo"/>
                <a:ea typeface="Menlo"/>
                <a:cs typeface="Menlo"/>
              </a:rPr>
              <a:t>Samuel Rizzon / Delphi</a:t>
            </a:r>
          </a:p>
        </p:txBody>
      </p:sp>
    </p:spTree>
    <p:extLst>
      <p:ext uri="{BB962C8B-B14F-4D97-AF65-F5344CB8AC3E}">
        <p14:creationId xmlns:p14="http://schemas.microsoft.com/office/powerpoint/2010/main" val="660163277"/>
      </p:ext>
    </p:extLst>
  </p:cSld>
</p:sld>
</file>

<file path=ppt/slides/slide8.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11" name="header-label">
            <a:extLst xmlns:a="http://schemas.openxmlformats.org/drawingml/2006/main">
              <a:ext uri="{FF2B5EF4-FFF2-40B4-BE49-F238E27FC236}">
                <a16:creationId xmlns:a16="http://schemas.microsoft.com/office/drawing/2014/main" id="{98EC6134-5F73-4766-9211-C76ACC8A19AC}"/>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WHAT COMES NEXT</a:t>
            </a:r>
          </a:p>
        </p:txBody>
      </p:sp>
      <p:sp>
        <p:nvSpPr>
          <p:cNvPr id="2" name="header-rule">
            <a:extLst xmlns:a="http://schemas.openxmlformats.org/drawingml/2006/main">
              <a:ext uri="{FF2B5EF4-FFF2-40B4-BE49-F238E27FC236}">
                <a16:creationId xmlns:a16="http://schemas.microsoft.com/office/drawing/2014/main" id="{18CC9A5A-15E1-4D2F-864E-D48BD8ADA0A4}"/>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0A4B39BE-9E71-4EC1-9887-32E3F4DAAFCC}"/>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next-title">
            <a:extLst xmlns:a="http://schemas.openxmlformats.org/drawingml/2006/main">
              <a:ext uri="{FF2B5EF4-FFF2-40B4-BE49-F238E27FC236}">
                <a16:creationId xmlns:a16="http://schemas.microsoft.com/office/drawing/2014/main" id="{03B8E501-91E8-4F41-8AAC-D6CA2D683E5A}"/>
              </a:ext>
            </a:extLst>
          </p:cNvPr>
          <p:cNvSpPr>
            <a:spLocks xmlns:a="http://schemas.openxmlformats.org/drawingml/2006/main" noGrp="1"/>
          </p:cNvSpPr>
          <p:nvPr/>
        </p:nvSpPr>
        <p:spPr>
          <a:xfrm xmlns:a="http://schemas.openxmlformats.org/drawingml/2006/main">
            <a:off x="523875" y="80962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150" b="0">
                <a:solidFill>
                  <a:srgbClr val="062942"/>
                </a:solidFill>
                <a:latin typeface="STIX Two Text"/>
                <a:ea typeface="STIX Two Text"/>
                <a:cs typeface="STIX Two Text"/>
              </a:defRPr>
            </a:pPr>
            <a:r>
              <a:rPr sz="3150" b="0">
                <a:solidFill>
                  <a:srgbClr val="062942"/>
                </a:solidFill>
                <a:latin typeface="STIX Two Text"/>
                <a:ea typeface="STIX Two Text"/>
                <a:cs typeface="STIX Two Text"/>
              </a:rPr>
              <a:t>The work ahead</a:t>
            </a:r>
          </a:p>
        </p:txBody>
      </p:sp>
      <p:sp>
        <p:nvSpPr>
          <p:cNvPr id="5" name="next-heading-0">
            <a:extLst xmlns:a="http://schemas.openxmlformats.org/drawingml/2006/main">
              <a:ext uri="{FF2B5EF4-FFF2-40B4-BE49-F238E27FC236}">
                <a16:creationId xmlns:a16="http://schemas.microsoft.com/office/drawing/2014/main" id="{E83839E4-4B20-426C-A9B5-C43058A65CB7}"/>
              </a:ext>
            </a:extLst>
          </p:cNvPr>
          <p:cNvSpPr>
            <a:spLocks xmlns:a="http://schemas.openxmlformats.org/drawingml/2006/main" noGrp="1"/>
          </p:cNvSpPr>
          <p:nvPr/>
        </p:nvSpPr>
        <p:spPr>
          <a:xfrm xmlns:a="http://schemas.openxmlformats.org/drawingml/2006/main">
            <a:off x="523875" y="18383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062942"/>
                </a:solidFill>
                <a:latin typeface="Avenir Next"/>
                <a:ea typeface="Avenir Next"/>
                <a:cs typeface="Avenir Next"/>
              </a:defRPr>
            </a:pPr>
            <a:r>
              <a:rPr sz="2175" b="1">
                <a:solidFill>
                  <a:srgbClr val="062942"/>
                </a:solidFill>
                <a:latin typeface="Avenir Next"/>
                <a:ea typeface="Avenir Next"/>
                <a:cs typeface="Avenir Next"/>
              </a:rPr>
              <a:t>Finishing Fund I</a:t>
            </a:r>
          </a:p>
        </p:txBody>
      </p:sp>
      <p:sp>
        <p:nvSpPr>
          <p:cNvPr id="6" name="next-body-0">
            <a:extLst xmlns:a="http://schemas.openxmlformats.org/drawingml/2006/main">
              <a:ext uri="{FF2B5EF4-FFF2-40B4-BE49-F238E27FC236}">
                <a16:creationId xmlns:a16="http://schemas.microsoft.com/office/drawing/2014/main" id="{97AEA920-A525-4DC5-8A79-98B7620DBA5D}"/>
              </a:ext>
            </a:extLst>
          </p:cNvPr>
          <p:cNvSpPr>
            <a:spLocks xmlns:a="http://schemas.openxmlformats.org/drawingml/2006/main" noGrp="1"/>
          </p:cNvSpPr>
          <p:nvPr/>
        </p:nvSpPr>
        <p:spPr>
          <a:xfrm xmlns:a="http://schemas.openxmlformats.org/drawingml/2006/main">
            <a:off x="523875" y="23431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Almost fully deployed. The potential Terac follow-on</a:t>
            </a:r>
          </a:p>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would increase our exposure to a founder we know well.</a:t>
            </a:r>
          </a:p>
        </p:txBody>
      </p:sp>
      <p:sp>
        <p:nvSpPr>
          <p:cNvPr id="7" name="next-heading-1">
            <a:extLst xmlns:a="http://schemas.openxmlformats.org/drawingml/2006/main">
              <a:ext uri="{FF2B5EF4-FFF2-40B4-BE49-F238E27FC236}">
                <a16:creationId xmlns:a16="http://schemas.microsoft.com/office/drawing/2014/main" id="{FA69258D-5582-4B90-8E70-B00807542AE0}"/>
              </a:ext>
            </a:extLst>
          </p:cNvPr>
          <p:cNvSpPr>
            <a:spLocks xmlns:a="http://schemas.openxmlformats.org/drawingml/2006/main" noGrp="1"/>
          </p:cNvSpPr>
          <p:nvPr/>
        </p:nvSpPr>
        <p:spPr>
          <a:xfrm xmlns:a="http://schemas.openxmlformats.org/drawingml/2006/main">
            <a:off x="523875" y="33242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062942"/>
                </a:solidFill>
                <a:latin typeface="Avenir Next"/>
                <a:ea typeface="Avenir Next"/>
                <a:cs typeface="Avenir Next"/>
              </a:defRPr>
            </a:pPr>
            <a:r>
              <a:rPr sz="2175" b="1">
                <a:solidFill>
                  <a:srgbClr val="062942"/>
                </a:solidFill>
                <a:latin typeface="Avenir Next"/>
                <a:ea typeface="Avenir Next"/>
                <a:cs typeface="Avenir Next"/>
              </a:rPr>
              <a:t>Puentes / October 18–26</a:t>
            </a:r>
          </a:p>
        </p:txBody>
      </p:sp>
      <p:sp>
        <p:nvSpPr>
          <p:cNvPr id="8" name="next-body-1">
            <a:extLst xmlns:a="http://schemas.openxmlformats.org/drawingml/2006/main">
              <a:ext uri="{FF2B5EF4-FFF2-40B4-BE49-F238E27FC236}">
                <a16:creationId xmlns:a16="http://schemas.microsoft.com/office/drawing/2014/main" id="{04B1F0A3-591E-4696-90E6-6A9FB8A8F3B1}"/>
              </a:ext>
            </a:extLst>
          </p:cNvPr>
          <p:cNvSpPr>
            <a:spLocks xmlns:a="http://schemas.openxmlformats.org/drawingml/2006/main" noGrp="1"/>
          </p:cNvSpPr>
          <p:nvPr/>
        </p:nvSpPr>
        <p:spPr>
          <a:xfrm xmlns:a="http://schemas.openxmlformats.org/drawingml/2006/main">
            <a:off x="523875" y="38290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Applications have closed, with approximately 260 applicants.</a:t>
            </a:r>
          </a:p>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We are planning an opportunity for LPs to meet the fellows in SF.</a:t>
            </a:r>
          </a:p>
        </p:txBody>
      </p:sp>
      <p:sp>
        <p:nvSpPr>
          <p:cNvPr id="9" name="next-heading-2">
            <a:extLst xmlns:a="http://schemas.openxmlformats.org/drawingml/2006/main">
              <a:ext uri="{FF2B5EF4-FFF2-40B4-BE49-F238E27FC236}">
                <a16:creationId xmlns:a16="http://schemas.microsoft.com/office/drawing/2014/main" id="{E1C6DCC0-FCAB-474D-9870-790F9206651F}"/>
              </a:ext>
            </a:extLst>
          </p:cNvPr>
          <p:cNvSpPr>
            <a:spLocks xmlns:a="http://schemas.openxmlformats.org/drawingml/2006/main" noGrp="1"/>
          </p:cNvSpPr>
          <p:nvPr/>
        </p:nvSpPr>
        <p:spPr>
          <a:xfrm xmlns:a="http://schemas.openxmlformats.org/drawingml/2006/main">
            <a:off x="523875" y="48101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062942"/>
                </a:solidFill>
                <a:latin typeface="Avenir Next"/>
                <a:ea typeface="Avenir Next"/>
                <a:cs typeface="Avenir Next"/>
              </a:defRPr>
            </a:pPr>
            <a:r>
              <a:rPr sz="2175" b="1">
                <a:solidFill>
                  <a:srgbClr val="062942"/>
                </a:solidFill>
                <a:latin typeface="Avenir Next"/>
                <a:ea typeface="Avenir Next"/>
                <a:cs typeface="Avenir Next"/>
              </a:rPr>
              <a:t>Continuing our conversations</a:t>
            </a:r>
          </a:p>
        </p:txBody>
      </p:sp>
      <p:sp>
        <p:nvSpPr>
          <p:cNvPr id="10" name="next-body-2">
            <a:extLst xmlns:a="http://schemas.openxmlformats.org/drawingml/2006/main">
              <a:ext uri="{FF2B5EF4-FFF2-40B4-BE49-F238E27FC236}">
                <a16:creationId xmlns:a16="http://schemas.microsoft.com/office/drawing/2014/main" id="{1E0A9D03-42A1-4327-AADE-D730A353FDA0}"/>
              </a:ext>
            </a:extLst>
          </p:cNvPr>
          <p:cNvSpPr>
            <a:spLocks xmlns:a="http://schemas.openxmlformats.org/drawingml/2006/main" noGrp="1"/>
          </p:cNvSpPr>
          <p:nvPr/>
        </p:nvSpPr>
        <p:spPr>
          <a:xfrm xmlns:a="http://schemas.openxmlformats.org/drawingml/2006/main">
            <a:off x="523875" y="53149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Fund II conversations are already underway.</a:t>
            </a:r>
          </a:p>
          <a:p xmlns:a="http://schemas.openxmlformats.org/drawingml/2006/main">
            <a:pPr algn="l">
              <a:lnSpc>
                <a:spcPct val="118000"/>
              </a:lnSpc>
              <a:buNone/>
              <a:defRPr sz="1875" b="0">
                <a:solidFill>
                  <a:srgbClr val="062942"/>
                </a:solidFill>
                <a:latin typeface="Avenir Next"/>
                <a:ea typeface="Avenir Next"/>
                <a:cs typeface="Avenir Next"/>
              </a:defRPr>
            </a:pPr>
            <a:r>
              <a:rPr sz="1875" b="0">
                <a:solidFill>
                  <a:srgbClr val="062942"/>
                </a:solidFill>
                <a:latin typeface="Avenir Next"/>
                <a:ea typeface="Avenir Next"/>
                <a:cs typeface="Avenir Next"/>
              </a:rPr>
              <a:t>The data room is available to explore and share feedback.</a:t>
            </a:r>
          </a:p>
        </p:txBody>
      </p:sp>
    </p:spTree>
    <p:extLst>
      <p:ext uri="{BB962C8B-B14F-4D97-AF65-F5344CB8AC3E}">
        <p14:creationId xmlns:p14="http://schemas.microsoft.com/office/powerpoint/2010/main" val="121889698"/>
      </p:ext>
    </p:extLst>
  </p:cSld>
</p:sld>
</file>

<file path=ppt/slides/slide9.xml><?xml version="1.0" encoding="utf-8"?>
<p:sld xmlns:p="http://schemas.openxmlformats.org/presentationml/2006/main">
  <p:cSld>
    <p:bg>
      <p:bgPr>
        <a:solidFill xmlns:a="http://schemas.openxmlformats.org/drawingml/2006/main">
          <a:srgbClr val="EFE1C6"/>
        </a:solidFill>
      </p:bgPr>
    </p:bg>
    <p:spTree>
      <p:nvGrpSpPr>
        <p:cNvPr id="1" name=""/>
        <p:cNvGrpSpPr/>
        <p:nvPr/>
      </p:nvGrpSpPr>
      <p:grpSpPr>
        <a:xfrm xmlns:a="http://schemas.openxmlformats.org/drawingml/2006/main"/>
      </p:grpSpPr>
      <p:sp>
        <p:nvSpPr>
          <p:cNvPr id="6" name="header-label">
            <a:extLst xmlns:a="http://schemas.openxmlformats.org/drawingml/2006/main">
              <a:ext uri="{FF2B5EF4-FFF2-40B4-BE49-F238E27FC236}">
                <a16:creationId xmlns:a16="http://schemas.microsoft.com/office/drawing/2014/main" id="{3030FFE0-6D11-46C6-8C27-8288BD807B6E}"/>
              </a:ext>
            </a:extLst>
          </p:cNvPr>
          <p:cNvSpPr>
            <a:spLocks xmlns:a="http://schemas.openxmlformats.org/drawingml/2006/main" noGrp="1"/>
          </p:cNvSpPr>
          <p:nvPr/>
        </p:nvSpPr>
        <p:spPr>
          <a:xfrm xmlns:a="http://schemas.openxmlformats.org/drawingml/2006/main">
            <a:off x="523875" y="285750"/>
            <a:ext cx="476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713" b="1">
                <a:solidFill>
                  <a:srgbClr val="062942"/>
                </a:solidFill>
                <a:latin typeface="Menlo"/>
                <a:ea typeface="Menlo"/>
                <a:cs typeface="Menlo"/>
              </a:defRPr>
            </a:pPr>
            <a:r>
              <a:rPr sz="713" b="1">
                <a:solidFill>
                  <a:srgbClr val="062942"/>
                </a:solidFill>
                <a:latin typeface="Menlo"/>
                <a:ea typeface="Menlo"/>
                <a:cs typeface="Menlo"/>
              </a:rPr>
              <a:t>ANTIGRAVITY CAPITAL  /  DISCUSSION</a:t>
            </a:r>
          </a:p>
        </p:txBody>
      </p:sp>
      <p:sp>
        <p:nvSpPr>
          <p:cNvPr id="2" name="header-rule">
            <a:extLst xmlns:a="http://schemas.openxmlformats.org/drawingml/2006/main">
              <a:ext uri="{FF2B5EF4-FFF2-40B4-BE49-F238E27FC236}">
                <a16:creationId xmlns:a16="http://schemas.microsoft.com/office/drawing/2014/main" id="{8DDCECA0-24E3-4623-AEE6-A93F1A5BCFC8}"/>
              </a:ext>
            </a:extLst>
          </p:cNvPr>
          <p:cNvSpPr>
            <a:spLocks xmlns:a="http://schemas.openxmlformats.org/drawingml/2006/main" noGrp="1"/>
          </p:cNvSpPr>
          <p:nvPr/>
        </p:nvSpPr>
        <p:spPr>
          <a:xfrm xmlns:a="http://schemas.openxmlformats.org/drawingml/2006/main">
            <a:off x="3886200" y="342900"/>
            <a:ext cx="7467600" cy="0"/>
          </a:xfrm>
          <a:prstGeom xmlns:a="http://schemas.openxmlformats.org/drawingml/2006/main" prst="line">
            <a:avLst/>
          </a:prstGeom>
          <a:noFill xmlns:a="http://schemas.openxmlformats.org/drawingml/2006/main"/>
          <a:ln xmlns:a="http://schemas.openxmlformats.org/drawingml/2006/main" w="9525">
            <a:solidFill>
              <a:srgbClr val="062942">
                <a:alpha val="60000"/>
              </a:srgbClr>
            </a:solidFill>
            <a:prstDash val="solid"/>
          </a:ln>
        </p:spPr>
      </p:sp>
      <p:sp>
        <p:nvSpPr>
          <p:cNvPr id="3" name="header-star">
            <a:extLst xmlns:a="http://schemas.openxmlformats.org/drawingml/2006/main">
              <a:ext uri="{FF2B5EF4-FFF2-40B4-BE49-F238E27FC236}">
                <a16:creationId xmlns:a16="http://schemas.microsoft.com/office/drawing/2014/main" id="{7BE9B28E-1C6A-42F1-ABE3-4BC1B7843893}"/>
              </a:ext>
            </a:extLst>
          </p:cNvPr>
          <p:cNvSpPr>
            <a:spLocks xmlns:a="http://schemas.openxmlformats.org/drawingml/2006/main" noGrp="1"/>
          </p:cNvSpPr>
          <p:nvPr/>
        </p:nvSpPr>
        <p:spPr>
          <a:xfrm xmlns:a="http://schemas.openxmlformats.org/drawingml/2006/main">
            <a:off x="11506200" y="190500"/>
            <a:ext cx="323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062942"/>
                </a:solidFill>
                <a:latin typeface="STIX Two Text"/>
                <a:ea typeface="STIX Two Text"/>
                <a:cs typeface="STIX Two Text"/>
              </a:defRPr>
            </a:pPr>
            <a:r>
              <a:rPr sz="1950" b="1">
                <a:solidFill>
                  <a:srgbClr val="062942"/>
                </a:solidFill>
                <a:latin typeface="STIX Two Text"/>
                <a:ea typeface="STIX Two Text"/>
                <a:cs typeface="STIX Two Text"/>
              </a:rPr>
              <a:t>✦</a:t>
            </a:r>
          </a:p>
        </p:txBody>
      </p:sp>
      <p:sp>
        <p:nvSpPr>
          <p:cNvPr id="4" name="qa-title">
            <a:extLst xmlns:a="http://schemas.openxmlformats.org/drawingml/2006/main">
              <a:ext uri="{FF2B5EF4-FFF2-40B4-BE49-F238E27FC236}">
                <a16:creationId xmlns:a16="http://schemas.microsoft.com/office/drawing/2014/main" id="{CE1CB3F4-3C37-405A-A6CA-6BA0BE6F4B53}"/>
              </a:ext>
            </a:extLst>
          </p:cNvPr>
          <p:cNvSpPr>
            <a:spLocks xmlns:a="http://schemas.openxmlformats.org/drawingml/2006/main" noGrp="1"/>
          </p:cNvSpPr>
          <p:nvPr/>
        </p:nvSpPr>
        <p:spPr>
          <a:xfrm xmlns:a="http://schemas.openxmlformats.org/drawingml/2006/main">
            <a:off x="523875" y="1666875"/>
            <a:ext cx="11144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4275" b="0">
                <a:solidFill>
                  <a:srgbClr val="062942"/>
                </a:solidFill>
                <a:latin typeface="STIX Two Text"/>
                <a:ea typeface="STIX Two Text"/>
                <a:cs typeface="STIX Two Text"/>
              </a:defRPr>
            </a:pPr>
            <a:r>
              <a:rPr sz="4275" b="0">
                <a:solidFill>
                  <a:srgbClr val="062942"/>
                </a:solidFill>
                <a:latin typeface="STIX Two Text"/>
                <a:ea typeface="STIX Two Text"/>
                <a:cs typeface="STIX Two Text"/>
              </a:rPr>
              <a:t>Where would you like to go deeper?</a:t>
            </a:r>
          </a:p>
        </p:txBody>
      </p:sp>
      <p:sp>
        <p:nvSpPr>
          <p:cNvPr id="5" name="qa-topics">
            <a:extLst xmlns:a="http://schemas.openxmlformats.org/drawingml/2006/main">
              <a:ext uri="{FF2B5EF4-FFF2-40B4-BE49-F238E27FC236}">
                <a16:creationId xmlns:a16="http://schemas.microsoft.com/office/drawing/2014/main" id="{F25160C0-6C57-4AD9-A78C-BAB50E6E0299}"/>
              </a:ext>
            </a:extLst>
          </p:cNvPr>
          <p:cNvSpPr>
            <a:spLocks xmlns:a="http://schemas.openxmlformats.org/drawingml/2006/main" noGrp="1"/>
          </p:cNvSpPr>
          <p:nvPr/>
        </p:nvSpPr>
        <p:spPr>
          <a:xfrm xmlns:a="http://schemas.openxmlformats.org/drawingml/2006/main">
            <a:off x="523875" y="3609975"/>
            <a:ext cx="11049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2400" b="0">
                <a:solidFill>
                  <a:srgbClr val="062942"/>
                </a:solidFill>
                <a:latin typeface="Avenir Next"/>
                <a:ea typeface="Avenir Next"/>
                <a:cs typeface="Avenir Next"/>
              </a:defRPr>
            </a:pPr>
            <a:r>
              <a:rPr sz="2400" b="0">
                <a:solidFill>
                  <a:srgbClr val="062942"/>
                </a:solidFill>
                <a:latin typeface="Avenir Next"/>
                <a:ea typeface="Avenir Next"/>
                <a:cs typeface="Avenir Next"/>
              </a:rPr>
              <a:t>The portfolio and Fund I</a:t>
            </a:r>
          </a:p>
          <a:p xmlns:a="http://schemas.openxmlformats.org/drawingml/2006/main">
            <a:pPr algn="l">
              <a:lnSpc>
                <a:spcPct val="135000"/>
              </a:lnSpc>
              <a:buNone/>
              <a:defRPr sz="2400" b="0">
                <a:solidFill>
                  <a:srgbClr val="062942"/>
                </a:solidFill>
                <a:latin typeface="Avenir Next"/>
                <a:ea typeface="Avenir Next"/>
                <a:cs typeface="Avenir Next"/>
              </a:defRPr>
            </a:pPr>
            <a:r>
              <a:rPr sz="2400" b="0">
                <a:solidFill>
                  <a:srgbClr val="062942"/>
                </a:solidFill>
                <a:latin typeface="Avenir Next"/>
                <a:ea typeface="Avenir Next"/>
                <a:cs typeface="Avenir Next"/>
              </a:rPr>
              <a:t>Our investment decisions</a:t>
            </a:r>
          </a:p>
          <a:p xmlns:a="http://schemas.openxmlformats.org/drawingml/2006/main">
            <a:pPr algn="l">
              <a:lnSpc>
                <a:spcPct val="135000"/>
              </a:lnSpc>
              <a:buNone/>
              <a:defRPr sz="2400" b="0">
                <a:solidFill>
                  <a:srgbClr val="062942"/>
                </a:solidFill>
                <a:latin typeface="Avenir Next"/>
                <a:ea typeface="Avenir Next"/>
                <a:cs typeface="Avenir Next"/>
              </a:defRPr>
            </a:pPr>
            <a:r>
              <a:rPr sz="2400" b="0">
                <a:solidFill>
                  <a:srgbClr val="062942"/>
                </a:solidFill>
                <a:latin typeface="Avenir Next"/>
                <a:ea typeface="Avenir Next"/>
                <a:cs typeface="Avenir Next"/>
              </a:rPr>
              <a:t>Puentes and the work ahead</a:t>
            </a:r>
          </a:p>
        </p:txBody>
      </p:sp>
    </p:spTree>
    <p:extLst>
      <p:ext uri="{BB962C8B-B14F-4D97-AF65-F5344CB8AC3E}">
        <p14:creationId xmlns:p14="http://schemas.microsoft.com/office/powerpoint/2010/main" val="576016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2026-09-12T02:22:45.0800000Z</dcterms:created>
  <dcterms:modified xsi:type="dcterms:W3CDTF">2026-09-12T02:22:45.0810000Z</dcterms:modified>
</coreProperties>
</file>