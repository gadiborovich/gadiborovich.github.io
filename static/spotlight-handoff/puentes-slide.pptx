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fc6ccaadb9449e" /><Relationship Type="http://schemas.openxmlformats.org/officeDocument/2006/relationships/extended-properties" Target="/docProps/app.xml" Id="Rf501876fad584077" /><Relationship Type="http://schemas.openxmlformats.org/officeDocument/2006/relationships/officeDocument" Target="/ppt/presentation.xml" Id="Rb54e0213750049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c74d270b024cd3"/>
  </p:sldMasterIdLst>
  <p:notesMasterIdLst>
    <p:notesMasterId xmlns:r="http://schemas.openxmlformats.org/officeDocument/2006/relationships" r:id="R49320326c72f4a68"/>
  </p:notesMasterIdLst>
  <p:sldIdLst>
    <p:sldId xmlns:r="http://schemas.openxmlformats.org/officeDocument/2006/relationships" id="256" r:id="Rf3b5f661a87245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27575b24814bdb" /><Relationship Type="http://schemas.openxmlformats.org/officeDocument/2006/relationships/slideMaster" Target="/ppt/slideMasters/slideMaster1.xml" Id="R41c74d270b024cd3" /><Relationship Type="http://schemas.openxmlformats.org/officeDocument/2006/relationships/notesMaster" Target="/ppt/notesMasters/notesMaster1.xml" Id="R49320326c72f4a68" /><Relationship Type="http://schemas.openxmlformats.org/officeDocument/2006/relationships/presProps" Target="/ppt/presProps.xml" Id="R0d49e366e9af46f2" /><Relationship Type="http://schemas.openxmlformats.org/officeDocument/2006/relationships/tableStyles" Target="/ppt/tableStyles.xml" Id="R05be5069216a4cd7" /><Relationship Type="http://schemas.openxmlformats.org/officeDocument/2006/relationships/slide" Target="/ppt/slides/slide1.xml" Id="Rf3b5f661a87245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2a314edcea4f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ba8c320cb4878" /><Relationship Type="http://schemas.openxmlformats.org/officeDocument/2006/relationships/notesMaster" Target="/ppt/notesMasters/notesMaster1.xml" Id="Rdea37993d06045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Puentes slide. The ten portraits are representative members of the 33-person Puentes network. The 23 solid nodes complete today's network. The 150 fellows by 2028 figure is a future scale target, not a current result. The bottom strip names organizations represented by guests at Puentes; it does not imply that every organization employs a fellow or has a formal institutional partnership. Mateo's portrait remains provisional pending final asset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Guest logo treatment follows the investment-strategy slide: https://deck.antigravity.capital/?slide=strategy . Official vector paths recolored navy at 84% opacity. Floodgate retains its banner with transparent lettering. Sources:</a:t>
            </a:r>
          </a:p>
          <a:p xmlns:a="http://schemas.openxmlformats.org/drawingml/2006/main">
            <a:r>
              <a:t>OpenAI: https://cdn.openai.com/business-guides-and-resources/identifying-and-scaling-ai-use-cases.pdf</a:t>
            </a:r>
          </a:p>
          <a:p xmlns:a="http://schemas.openxmlformats.org/drawingml/2006/main">
            <a:r>
              <a:t>Applied Intuition: https://www.appliedintuition.com/#inline-header-logo</a:t>
            </a:r>
          </a:p>
          <a:p xmlns:a="http://schemas.openxmlformats.org/drawingml/2006/main">
            <a:r>
              <a:t>Sentry: https://sentry.io/welcome/#inline-header-logo</a:t>
            </a:r>
          </a:p>
          <a:p xmlns:a="http://schemas.openxmlformats.org/drawingml/2006/main">
            <a:r>
              <a:t>Brex: https://www.brex.com/#inline-header-logo</a:t>
            </a:r>
          </a:p>
          <a:p xmlns:a="http://schemas.openxmlformats.org/drawingml/2006/main">
            <a:r>
              <a:t>HappyRobot: https://www.happyrobot.ai/#inline-header-logo</a:t>
            </a:r>
          </a:p>
          <a:p xmlns:a="http://schemas.openxmlformats.org/drawingml/2006/main">
            <a:r>
              <a:t>Bland: https://www.bland.ai/#inline-header-logo</a:t>
            </a:r>
          </a:p>
          <a:p xmlns:a="http://schemas.openxmlformats.org/drawingml/2006/main">
            <a:r>
              <a:t>Anthropic: https://www.anthropic.com/news#inline-header-logo</a:t>
            </a:r>
          </a:p>
          <a:p xmlns:a="http://schemas.openxmlformats.org/drawingml/2006/main">
            <a:r>
              <a:t>Applied Compute: https://www.appliedcompute.com/#inline-header-svg</a:t>
            </a:r>
          </a:p>
          <a:p xmlns:a="http://schemas.openxmlformats.org/drawingml/2006/main">
            <a:r>
              <a:t>Resend: https://resend.com/#inline-header-svg</a:t>
            </a:r>
          </a:p>
          <a:p xmlns:a="http://schemas.openxmlformats.org/drawingml/2006/main">
            <a:r>
              <a:t>General Catalyst: https://cdn.prod.website-files.com/69df4e62ff62d7b5568fc58b/69e8832670eb5345d6b87a6d_GC_Wordmark_Black_RGB.svg</a:t>
            </a:r>
          </a:p>
          <a:p xmlns:a="http://schemas.openxmlformats.org/drawingml/2006/main">
            <a:r>
              <a:t>Emergence: https://www.emcap.com/#inline-header-svg</a:t>
            </a:r>
          </a:p>
          <a:p xmlns:a="http://schemas.openxmlformats.org/drawingml/2006/main">
            <a:r>
              <a:t>Floodgate: https://cdn.prod.website-files.com/5fdf46ca7a44603e763a4c35/5fdf5a58546b45d5333b1e34_floodgate-nav-logo.svg</a:t>
            </a:r>
          </a:p>
          <a:p xmlns:a="http://schemas.openxmlformats.org/drawingml/2006/main">
            <a:r>
              <a:t>Base10: https://base10.vc/#inline-header-svg</a:t>
            </a:r>
          </a:p>
          <a:p xmlns:a="http://schemas.openxmlformats.org/drawingml/2006/main">
            <a:r>
              <a:t>Ribbit: https://www.ribbitcap.com/#inline-header-svg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2911214a046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de811dd8d84a24" /><Relationship Type="http://schemas.openxmlformats.org/officeDocument/2006/relationships/slideLayout" Target="/ppt/slideLayouts/slideLayout1.xml" Id="Rbfc90874b39145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c90874b39145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a138e409e4d2b" /><Relationship Type="http://schemas.openxmlformats.org/officeDocument/2006/relationships/image" Target="/ppt/media/image.png" Id="R8fc408a02c2c4552" /><Relationship Type="http://schemas.openxmlformats.org/officeDocument/2006/relationships/image" Target="/ppt/media/image2.png" Id="R2475a452350c467c" /><Relationship Type="http://schemas.openxmlformats.org/officeDocument/2006/relationships/image" Target="/ppt/media/image3.png" Id="R89779e446c6c49c6" /><Relationship Type="http://schemas.openxmlformats.org/officeDocument/2006/relationships/image" Target="/ppt/media/image4.png" Id="R3f7f1141fdaf40b5" /><Relationship Type="http://schemas.openxmlformats.org/officeDocument/2006/relationships/image" Target="/ppt/media/image5.png" Id="R7effe3d5d55e46c6" /><Relationship Type="http://schemas.openxmlformats.org/officeDocument/2006/relationships/image" Target="/ppt/media/image6.png" Id="R665085b1df714824" /><Relationship Type="http://schemas.openxmlformats.org/officeDocument/2006/relationships/image" Target="/ppt/media/image7.png" Id="R9f5c0b9ac5514791" /><Relationship Type="http://schemas.openxmlformats.org/officeDocument/2006/relationships/image" Target="/ppt/media/image8.png" Id="R17650655819f45e8" /><Relationship Type="http://schemas.openxmlformats.org/officeDocument/2006/relationships/image" Target="/ppt/media/image9.png" Id="R6620d50af7534cb7" /><Relationship Type="http://schemas.openxmlformats.org/officeDocument/2006/relationships/image" Target="/ppt/media/image10.png" Id="Re7ba500c667f4936" /><Relationship Type="http://schemas.openxmlformats.org/officeDocument/2006/relationships/image" Target="/ppt/media/image11.png" Id="Ra263ec8b1d2a4f96" /><Relationship Type="http://schemas.openxmlformats.org/officeDocument/2006/relationships/image" Target="/ppt/media/image12.png" Id="R4b0dbffefa4d48a8" /><Relationship Type="http://schemas.openxmlformats.org/officeDocument/2006/relationships/image" Target="/ppt/media/image13.png" Id="R668b1ff7196e4784" /><Relationship Type="http://schemas.openxmlformats.org/officeDocument/2006/relationships/image" Target="/ppt/media/image14.png" Id="Ra452e32fdb024ee6" /><Relationship Type="http://schemas.openxmlformats.org/officeDocument/2006/relationships/image" Target="/ppt/media/image15.png" Id="R83b41b1dddd74861" /><Relationship Type="http://schemas.openxmlformats.org/officeDocument/2006/relationships/image" Target="/ppt/media/image16.png" Id="R641bed9139dc44a0" /><Relationship Type="http://schemas.openxmlformats.org/officeDocument/2006/relationships/image" Target="/ppt/media/image17.png" Id="R71e8bf5b03ca47d3" /><Relationship Type="http://schemas.openxmlformats.org/officeDocument/2006/relationships/image" Target="/ppt/media/image18.png" Id="Rcbf5a4a575e2439b" /><Relationship Type="http://schemas.openxmlformats.org/officeDocument/2006/relationships/image" Target="/ppt/media/image19.png" Id="R127ceb868a284c04" /><Relationship Type="http://schemas.openxmlformats.org/officeDocument/2006/relationships/image" Target="/ppt/media/image20.png" Id="Rc12f2a21ebf64a2b" /><Relationship Type="http://schemas.openxmlformats.org/officeDocument/2006/relationships/image" Target="/ppt/media/image21.png" Id="R60ce77762df54aae" /><Relationship Type="http://schemas.openxmlformats.org/officeDocument/2006/relationships/image" Target="/ppt/media/image22.png" Id="R7107e4766f88498e" /><Relationship Type="http://schemas.openxmlformats.org/officeDocument/2006/relationships/image" Target="/ppt/media/image23.png" Id="Rd6f02dd9d1814566" /><Relationship Type="http://schemas.openxmlformats.org/officeDocument/2006/relationships/image" Target="/ppt/media/image24.png" Id="R579d42747888430e" /><Relationship Type="http://schemas.openxmlformats.org/officeDocument/2006/relationships/image" Target="/ppt/media/image25.png" Id="R62db66f5ba3a4fc4" /><Relationship Type="http://schemas.openxmlformats.org/officeDocument/2006/relationships/notesSlide" Target="/ppt/notesSlides/notesSlide1.xml" Id="R099c1e99d4d446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E1C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408a02c2c4552"/>
          <a:stretch xmlns:a="http://schemas.openxmlformats.org/drawingml/2006/main"/>
        </p:blipFill>
        <p:spPr>
          <a:xfrm xmlns:a="http://schemas.openxmlformats.org/drawingml/2006/main">
            <a:off x="85293" y="0"/>
            <a:ext cx="1202141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per-wash">
            <a:extLst xmlns:a="http://schemas.openxmlformats.org/drawingml/2006/main">
              <a:ext uri="{FF2B5EF4-FFF2-40B4-BE49-F238E27FC236}">
                <a16:creationId xmlns:a16="http://schemas.microsoft.com/office/drawing/2014/main" id="{5CA1E262-FD5A-4218-83DC-940D82A4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1C6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ader-marker">
            <a:extLst xmlns:a="http://schemas.openxmlformats.org/drawingml/2006/main">
              <a:ext uri="{FF2B5EF4-FFF2-40B4-BE49-F238E27FC236}">
                <a16:creationId xmlns:a16="http://schemas.microsoft.com/office/drawing/2014/main" id="{28DC2708-8598-4BD6-A157-49AABAF8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04A660BF-F893-4EEC-B6A8-6A91520E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19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38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638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ANTIGRAVITY CAPITAL  /  ACCESS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C14B1AE-F749-4150-B944-CC4745F0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14650" y="319088"/>
            <a:ext cx="8467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62942">
                <a:alpha val="62000"/>
              </a:srgbClr>
            </a:solidFill>
            <a:prstDash val="solid"/>
          </a:ln>
        </p:spPr>
      </p:sp>
      <p:sp>
        <p:nvSpPr>
          <p:cNvPr id="6" name="header-star">
            <a:extLst xmlns:a="http://schemas.openxmlformats.org/drawingml/2006/main">
              <a:ext uri="{FF2B5EF4-FFF2-40B4-BE49-F238E27FC236}">
                <a16:creationId xmlns:a16="http://schemas.microsoft.com/office/drawing/2014/main" id="{A13A095C-8E04-4981-A333-81176F58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190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defRPr>
            </a:pPr>
            <a:r>
              <a:rPr sz="1800" b="1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rPr>
              <a:t>✦</a:t>
            </a:r>
          </a:p>
        </p:txBody>
      </p:sp>
      <p:sp>
        <p:nvSpPr>
          <p:cNvPr id="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1AF5CFA8-9165-4CF1-AF66-0188B15E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713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PUENTES</a:t>
            </a:r>
          </a:p>
        </p:txBody>
      </p:sp>
      <p:sp>
        <p:nvSpPr>
          <p:cNvPr id="8" name="headline-line-1">
            <a:extLst xmlns:a="http://schemas.openxmlformats.org/drawingml/2006/main">
              <a:ext uri="{FF2B5EF4-FFF2-40B4-BE49-F238E27FC236}">
                <a16:creationId xmlns:a16="http://schemas.microsoft.com/office/drawing/2014/main" id="{525EAFC2-A6CA-4160-9BC3-ABDDFC6F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88" b="1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defRPr>
            </a:pPr>
            <a:r>
              <a:rPr sz="2288" b="1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rPr>
              <a:t>Puentes brings Latin America’s next wave of AI builders</a:t>
            </a:r>
          </a:p>
        </p:txBody>
      </p:sp>
      <p:sp>
        <p:nvSpPr>
          <p:cNvPr id="9" name="headline-line-2">
            <a:extLst xmlns:a="http://schemas.openxmlformats.org/drawingml/2006/main">
              <a:ext uri="{FF2B5EF4-FFF2-40B4-BE49-F238E27FC236}">
                <a16:creationId xmlns:a16="http://schemas.microsoft.com/office/drawing/2014/main" id="{3BA2E4E6-8162-43B9-91D7-E50B739D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88" b="1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defRPr>
            </a:pPr>
            <a:r>
              <a:rPr sz="2288" b="1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rPr>
              <a:t>into San Francisco’s strongest teams.</a:t>
            </a:r>
          </a:p>
        </p:txBody>
      </p:sp>
      <p:sp>
        <p:nvSpPr>
          <p:cNvPr id="10" name="argument-rule">
            <a:extLst xmlns:a="http://schemas.openxmlformats.org/drawingml/2006/main">
              <a:ext uri="{FF2B5EF4-FFF2-40B4-BE49-F238E27FC236}">
                <a16:creationId xmlns:a16="http://schemas.microsoft.com/office/drawing/2014/main" id="{30D2B546-CF33-4116-BBE2-B694EF11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6764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062942">
                <a:alpha val="45000"/>
              </a:srgbClr>
            </a:solidFill>
            <a:prstDash val="solid"/>
          </a:ln>
        </p:spPr>
      </p:sp>
      <p:sp>
        <p:nvSpPr>
          <p:cNvPr id="11" name="current-network-label">
            <a:extLst xmlns:a="http://schemas.openxmlformats.org/drawingml/2006/main">
              <a:ext uri="{FF2B5EF4-FFF2-40B4-BE49-F238E27FC236}">
                <a16:creationId xmlns:a16="http://schemas.microsoft.com/office/drawing/2014/main" id="{35FA1C7D-0D84-4824-8B31-2945ACAC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713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33 FELLOWS TODAY</a:t>
            </a:r>
          </a:p>
        </p:txBody>
      </p:sp>
      <p:sp>
        <p:nvSpPr>
          <p:cNvPr id="12" name="network-horizon-separator">
            <a:extLst xmlns:a="http://schemas.openxmlformats.org/drawingml/2006/main">
              <a:ext uri="{FF2B5EF4-FFF2-40B4-BE49-F238E27FC236}">
                <a16:creationId xmlns:a16="http://schemas.microsoft.com/office/drawing/2014/main" id="{C68728E8-0625-4757-9A1B-8D2A22C1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8573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713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/</a:t>
            </a:r>
          </a:p>
        </p:txBody>
      </p:sp>
      <p:sp>
        <p:nvSpPr>
          <p:cNvPr id="13" name="future-network-label">
            <a:extLst xmlns:a="http://schemas.openxmlformats.org/drawingml/2006/main">
              <a:ext uri="{FF2B5EF4-FFF2-40B4-BE49-F238E27FC236}">
                <a16:creationId xmlns:a16="http://schemas.microsoft.com/office/drawing/2014/main" id="{042889C3-A770-4B2F-B32E-274CF448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5737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 i="0">
                <a:solidFill>
                  <a:srgbClr val="062942">
                    <a:alpha val="72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713" b="1" i="0">
                <a:solidFill>
                  <a:srgbClr val="062942">
                    <a:alpha val="72000"/>
                  </a:srgbClr>
                </a:solidFill>
                <a:latin typeface="Menlo"/>
                <a:ea typeface="Menlo"/>
                <a:cs typeface="Menlo"/>
              </a:rPr>
              <a:t>150 FELLOWS BY 2028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14E70-ED2B-4DCE-8ABD-164BAFF2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8" y="2523173"/>
            <a:ext cx="40005" cy="40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1F">
              <a:alpha val="6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5F852-8F5A-4581-8DD1-6083654D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55" y="213550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B1EE7-D856-43FC-9DCC-7A334944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233934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4CE06-7A4D-4224-A3B5-72F2B6C7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135" y="21278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65926-A76A-4422-82DA-C08F757F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34228-42AF-4F94-ACC3-43047B59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095" y="21793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6ED5D-91BC-457B-831C-3A4F03B3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3" y="3193733"/>
            <a:ext cx="32385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1F">
              <a:alpha val="6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B2C4A-5BAB-47AF-AEFB-290F25F7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423" y="3313748"/>
            <a:ext cx="40005" cy="40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25B29-8534-4149-85DB-A65F1A5F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313" y="31670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D6DEC-72C2-4A1A-8772-DC5EDEB8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095" y="33318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DACC14-5FED-4427-83E0-32E394BD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316420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4BE06E-B732-401A-84D4-5ED3CE78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3404235"/>
            <a:ext cx="49530" cy="495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021C3-F8EA-49B3-9B68-D5229359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8" y="4022408"/>
            <a:ext cx="32385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1F">
              <a:alpha val="6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954B90-688E-4BD5-A193-CA9A73B8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20" y="42462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B04AD1-9900-4D58-A7B4-42C3D9E1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5288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B5D57D-D4B2-4C8B-92BA-FA5A5DE8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4291965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497870-5BDA-4851-BB1B-9459B1C7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305" y="4030980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F46FE2-0757-43BE-BF27-DD0B64D0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098" y="4256723"/>
            <a:ext cx="40005" cy="40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7BB641-7165-49C5-873B-A323A9D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749165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1F">
              <a:alpha val="6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FC1EE4-F514-47BC-A462-5F0920A4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485298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48531A-ABA6-4499-9210-DCCA126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7244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94A58B-3BD1-4AFE-A9A8-B188B1C0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583" y="4879658"/>
            <a:ext cx="32385" cy="32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7611AD-18CC-4934-9AF7-5E2F94BC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093" y="471201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942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5a452350c467c"/>
          <a:stretch xmlns:a="http://schemas.openxmlformats.org/drawingml/2006/main"/>
        </p:blipFill>
        <p:spPr>
          <a:xfrm xmlns:a="http://schemas.openxmlformats.org/drawingml/2006/main">
            <a:off x="600075" y="2114550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38" name="name-monto">
            <a:extLst xmlns:a="http://schemas.openxmlformats.org/drawingml/2006/main">
              <a:ext uri="{FF2B5EF4-FFF2-40B4-BE49-F238E27FC236}">
                <a16:creationId xmlns:a16="http://schemas.microsoft.com/office/drawing/2014/main" id="{F73A722F-1018-408E-A02A-E5E954FC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813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rPr>
              <a:t>Monto</a:t>
            </a:r>
          </a:p>
        </p:txBody>
      </p:sp>
      <p:sp>
        <p:nvSpPr>
          <p:cNvPr id="39" name="company-monto">
            <a:extLst xmlns:a="http://schemas.openxmlformats.org/drawingml/2006/main">
              <a:ext uri="{FF2B5EF4-FFF2-40B4-BE49-F238E27FC236}">
                <a16:creationId xmlns:a16="http://schemas.microsoft.com/office/drawing/2014/main" id="{57F0DF77-54E4-4549-86E5-B29EF2BE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660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VERCEL</a:t>
            </a:r>
          </a:p>
        </p:txBody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79e446c6c49c6"/>
          <a:stretch xmlns:a="http://schemas.openxmlformats.org/drawingml/2006/main"/>
        </p:blipFill>
        <p:spPr>
          <a:xfrm xmlns:a="http://schemas.openxmlformats.org/drawingml/2006/main">
            <a:off x="2000250" y="2114550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41" name="name-pablo">
            <a:extLst xmlns:a="http://schemas.openxmlformats.org/drawingml/2006/main">
              <a:ext uri="{FF2B5EF4-FFF2-40B4-BE49-F238E27FC236}">
                <a16:creationId xmlns:a16="http://schemas.microsoft.com/office/drawing/2014/main" id="{BFC1B0A0-5295-420C-8F85-AAB4CB49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813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rPr>
              <a:t>Pablo</a:t>
            </a:r>
          </a:p>
        </p:txBody>
      </p:sp>
      <p:sp>
        <p:nvSpPr>
          <p:cNvPr id="42" name="company-pablo">
            <a:extLst xmlns:a="http://schemas.openxmlformats.org/drawingml/2006/main">
              <a:ext uri="{FF2B5EF4-FFF2-40B4-BE49-F238E27FC236}">
                <a16:creationId xmlns:a16="http://schemas.microsoft.com/office/drawing/2014/main" id="{9B0549B6-8370-4600-8EAC-95D0B71D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81350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660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REPLIT</a:t>
            </a:r>
          </a:p>
        </p:txBody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f1141fdaf40b5"/>
          <a:stretch xmlns:a="http://schemas.openxmlformats.org/drawingml/2006/main"/>
        </p:blipFill>
        <p:spPr>
          <a:xfrm xmlns:a="http://schemas.openxmlformats.org/drawingml/2006/main">
            <a:off x="3400425" y="2114550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44" name="name-tomas">
            <a:extLst xmlns:a="http://schemas.openxmlformats.org/drawingml/2006/main">
              <a:ext uri="{FF2B5EF4-FFF2-40B4-BE49-F238E27FC236}">
                <a16:creationId xmlns:a16="http://schemas.microsoft.com/office/drawing/2014/main" id="{58AFC406-BCA8-4C26-BF89-CB5A0636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9813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rPr>
              <a:t>Tomás</a:t>
            </a:r>
          </a:p>
        </p:txBody>
      </p:sp>
      <p:sp>
        <p:nvSpPr>
          <p:cNvPr id="45" name="company-tomas">
            <a:extLst xmlns:a="http://schemas.openxmlformats.org/drawingml/2006/main">
              <a:ext uri="{FF2B5EF4-FFF2-40B4-BE49-F238E27FC236}">
                <a16:creationId xmlns:a16="http://schemas.microsoft.com/office/drawing/2014/main" id="{C7816EFC-61A7-4E3B-BF95-00248D23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81350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660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COGNITION</a:t>
            </a:r>
          </a:p>
        </p:txBody>
      </p:sp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fe3d5d55e46c6"/>
          <a:stretch xmlns:a="http://schemas.openxmlformats.org/drawingml/2006/main"/>
        </p:blipFill>
        <p:spPr>
          <a:xfrm xmlns:a="http://schemas.openxmlformats.org/drawingml/2006/main">
            <a:off x="4800600" y="2114550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47" name="name-mateo">
            <a:extLst xmlns:a="http://schemas.openxmlformats.org/drawingml/2006/main">
              <a:ext uri="{FF2B5EF4-FFF2-40B4-BE49-F238E27FC236}">
                <a16:creationId xmlns:a16="http://schemas.microsoft.com/office/drawing/2014/main" id="{5E01ABBC-8450-4BAE-A403-17F76AA8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813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rPr>
              <a:t>Mateo</a:t>
            </a:r>
          </a:p>
        </p:txBody>
      </p:sp>
      <p:sp>
        <p:nvSpPr>
          <p:cNvPr id="48" name="company-mateo">
            <a:extLst xmlns:a="http://schemas.openxmlformats.org/drawingml/2006/main">
              <a:ext uri="{FF2B5EF4-FFF2-40B4-BE49-F238E27FC236}">
                <a16:creationId xmlns:a16="http://schemas.microsoft.com/office/drawing/2014/main" id="{85BF6713-7B06-4139-9F5C-9C8427E8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81350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660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KREA</a:t>
            </a:r>
          </a:p>
        </p:txBody>
      </p:sp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085b1df714824"/>
          <a:stretch xmlns:a="http://schemas.openxmlformats.org/drawingml/2006/main"/>
        </p:blipFill>
        <p:spPr>
          <a:xfrm xmlns:a="http://schemas.openxmlformats.org/drawingml/2006/main">
            <a:off x="6200775" y="2114550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50" name="name-andres">
            <a:extLst xmlns:a="http://schemas.openxmlformats.org/drawingml/2006/main">
              <a:ext uri="{FF2B5EF4-FFF2-40B4-BE49-F238E27FC236}">
                <a16:creationId xmlns:a16="http://schemas.microsoft.com/office/drawing/2014/main" id="{D5002AE9-FD16-4D73-8E70-80593883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9813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rPr>
              <a:t>Andrés</a:t>
            </a:r>
          </a:p>
        </p:txBody>
      </p:sp>
      <p:sp>
        <p:nvSpPr>
          <p:cNvPr id="51" name="company-andres">
            <a:extLst xmlns:a="http://schemas.openxmlformats.org/drawingml/2006/main">
              <a:ext uri="{FF2B5EF4-FFF2-40B4-BE49-F238E27FC236}">
                <a16:creationId xmlns:a16="http://schemas.microsoft.com/office/drawing/2014/main" id="{8FDF471D-A91A-41E2-9F42-48371966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81350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660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CIRCLEBACK</a:t>
            </a:r>
          </a:p>
        </p:txBody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c0b9ac5514791"/>
          <a:stretch xmlns:a="http://schemas.openxmlformats.org/drawingml/2006/main"/>
        </p:blipFill>
        <p:spPr>
          <a:xfrm xmlns:a="http://schemas.openxmlformats.org/drawingml/2006/main">
            <a:off x="600075" y="3476625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53" name="name-lais">
            <a:extLst xmlns:a="http://schemas.openxmlformats.org/drawingml/2006/main">
              <a:ext uri="{FF2B5EF4-FFF2-40B4-BE49-F238E27FC236}">
                <a16:creationId xmlns:a16="http://schemas.microsoft.com/office/drawing/2014/main" id="{32DC5400-1F0B-4345-AD44-FBF947B8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343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rPr>
              <a:t>Laís</a:t>
            </a:r>
          </a:p>
        </p:txBody>
      </p:sp>
      <p:sp>
        <p:nvSpPr>
          <p:cNvPr id="54" name="company-lais">
            <a:extLst xmlns:a="http://schemas.openxmlformats.org/drawingml/2006/main">
              <a:ext uri="{FF2B5EF4-FFF2-40B4-BE49-F238E27FC236}">
                <a16:creationId xmlns:a16="http://schemas.microsoft.com/office/drawing/2014/main" id="{DC89D5E8-651A-4EE4-89FF-DC5FDFB5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43425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660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TEACHY</a:t>
            </a:r>
          </a:p>
        </p:txBody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50655819f45e8"/>
          <a:stretch xmlns:a="http://schemas.openxmlformats.org/drawingml/2006/main"/>
        </p:blipFill>
        <p:spPr>
          <a:xfrm xmlns:a="http://schemas.openxmlformats.org/drawingml/2006/main">
            <a:off x="2000250" y="3476625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56" name="name-samuel">
            <a:extLst xmlns:a="http://schemas.openxmlformats.org/drawingml/2006/main">
              <a:ext uri="{FF2B5EF4-FFF2-40B4-BE49-F238E27FC236}">
                <a16:creationId xmlns:a16="http://schemas.microsoft.com/office/drawing/2014/main" id="{C8E92282-F91E-4B04-A843-3A39A50C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43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rPr>
              <a:t>Samuel</a:t>
            </a:r>
          </a:p>
        </p:txBody>
      </p:sp>
      <p:sp>
        <p:nvSpPr>
          <p:cNvPr id="57" name="company-samuel">
            <a:extLst xmlns:a="http://schemas.openxmlformats.org/drawingml/2006/main">
              <a:ext uri="{FF2B5EF4-FFF2-40B4-BE49-F238E27FC236}">
                <a16:creationId xmlns:a16="http://schemas.microsoft.com/office/drawing/2014/main" id="{D57F9E9C-7E84-4EFD-B899-72EE0B1B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43425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660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DELPHI</a:t>
            </a:r>
          </a:p>
        </p:txBody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0d50af7534cb7"/>
          <a:stretch xmlns:a="http://schemas.openxmlformats.org/drawingml/2006/main"/>
        </p:blipFill>
        <p:spPr>
          <a:xfrm xmlns:a="http://schemas.openxmlformats.org/drawingml/2006/main">
            <a:off x="3400425" y="3476625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59" name="name-ignacio">
            <a:extLst xmlns:a="http://schemas.openxmlformats.org/drawingml/2006/main">
              <a:ext uri="{FF2B5EF4-FFF2-40B4-BE49-F238E27FC236}">
                <a16:creationId xmlns:a16="http://schemas.microsoft.com/office/drawing/2014/main" id="{F94E55BF-EDF2-48C3-BAF2-C7C4AC65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43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rPr>
              <a:t>Ignacio</a:t>
            </a:r>
          </a:p>
        </p:txBody>
      </p:sp>
      <p:sp>
        <p:nvSpPr>
          <p:cNvPr id="60" name="company-ignacio">
            <a:extLst xmlns:a="http://schemas.openxmlformats.org/drawingml/2006/main">
              <a:ext uri="{FF2B5EF4-FFF2-40B4-BE49-F238E27FC236}">
                <a16:creationId xmlns:a16="http://schemas.microsoft.com/office/drawing/2014/main" id="{8E500A66-8C1A-497B-9636-5C632D5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43425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660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FLAI</a:t>
            </a:r>
          </a:p>
        </p:txBody>
      </p:sp>
      <p:sp>
        <p:nvSpPr>
          <p:cNvPr id="61" name="portfolio-ignacio">
            <a:extLst xmlns:a="http://schemas.openxmlformats.org/drawingml/2006/main">
              <a:ext uri="{FF2B5EF4-FFF2-40B4-BE49-F238E27FC236}">
                <a16:creationId xmlns:a16="http://schemas.microsoft.com/office/drawing/2014/main" id="{3B5F91EF-5F9F-4C69-B373-D647B8CA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29025" y="46767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5F1F">
                <a:alpha val="70000"/>
              </a:srgbClr>
            </a:solidFill>
            <a:prstDash val="solid"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a500c667f4936"/>
          <a:stretch xmlns:a="http://schemas.openxmlformats.org/drawingml/2006/main"/>
        </p:blipFill>
        <p:spPr>
          <a:xfrm xmlns:a="http://schemas.openxmlformats.org/drawingml/2006/main">
            <a:off x="4800600" y="3476625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63" name="name-german">
            <a:extLst xmlns:a="http://schemas.openxmlformats.org/drawingml/2006/main">
              <a:ext uri="{FF2B5EF4-FFF2-40B4-BE49-F238E27FC236}">
                <a16:creationId xmlns:a16="http://schemas.microsoft.com/office/drawing/2014/main" id="{3CA50EA8-E250-43E4-9E9B-E99FF58D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43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rPr>
              <a:t>Germán</a:t>
            </a:r>
          </a:p>
        </p:txBody>
      </p:sp>
      <p:sp>
        <p:nvSpPr>
          <p:cNvPr id="64" name="company-german">
            <a:extLst xmlns:a="http://schemas.openxmlformats.org/drawingml/2006/main">
              <a:ext uri="{FF2B5EF4-FFF2-40B4-BE49-F238E27FC236}">
                <a16:creationId xmlns:a16="http://schemas.microsoft.com/office/drawing/2014/main" id="{95ABD00B-26C2-4EF8-A874-7A6EB0AA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43425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660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TERAC</a:t>
            </a:r>
          </a:p>
        </p:txBody>
      </p:sp>
      <p:sp>
        <p:nvSpPr>
          <p:cNvPr id="65" name="portfolio-german">
            <a:extLst xmlns:a="http://schemas.openxmlformats.org/drawingml/2006/main">
              <a:ext uri="{FF2B5EF4-FFF2-40B4-BE49-F238E27FC236}">
                <a16:creationId xmlns:a16="http://schemas.microsoft.com/office/drawing/2014/main" id="{DF90985D-DA1A-4C13-8157-938EE4C6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9200" y="46767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5F1F">
                <a:alpha val="70000"/>
              </a:srgbClr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3ec8b1d2a4f96"/>
          <a:stretch xmlns:a="http://schemas.openxmlformats.org/drawingml/2006/main"/>
        </p:blipFill>
        <p:spPr>
          <a:xfrm xmlns:a="http://schemas.openxmlformats.org/drawingml/2006/main">
            <a:off x="6200775" y="3476625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67" name="name-agus">
            <a:extLst xmlns:a="http://schemas.openxmlformats.org/drawingml/2006/main">
              <a:ext uri="{FF2B5EF4-FFF2-40B4-BE49-F238E27FC236}">
                <a16:creationId xmlns:a16="http://schemas.microsoft.com/office/drawing/2014/main" id="{9C620845-7AA7-49C8-91C8-6CB1F9AD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343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2942"/>
                </a:solidFill>
                <a:latin typeface="Avenir Next"/>
                <a:ea typeface="Avenir Next"/>
                <a:cs typeface="Avenir Next"/>
              </a:rPr>
              <a:t>Agus</a:t>
            </a:r>
          </a:p>
        </p:txBody>
      </p:sp>
      <p:sp>
        <p:nvSpPr>
          <p:cNvPr id="68" name="company-agus">
            <a:extLst xmlns:a="http://schemas.openxmlformats.org/drawingml/2006/main">
              <a:ext uri="{FF2B5EF4-FFF2-40B4-BE49-F238E27FC236}">
                <a16:creationId xmlns:a16="http://schemas.microsoft.com/office/drawing/2014/main" id="{E8D17741-4180-4714-A52B-5CA8E7F4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43425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660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BEM</a:t>
            </a:r>
          </a:p>
        </p:txBody>
      </p:sp>
      <p:sp>
        <p:nvSpPr>
          <p:cNvPr id="69" name="portfolio-agus">
            <a:extLst xmlns:a="http://schemas.openxmlformats.org/drawingml/2006/main">
              <a:ext uri="{FF2B5EF4-FFF2-40B4-BE49-F238E27FC236}">
                <a16:creationId xmlns:a16="http://schemas.microsoft.com/office/drawing/2014/main" id="{177051C8-B356-4425-8290-F4CFF4C4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29375" y="46767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5F1F">
                <a:alpha val="70000"/>
              </a:srgbClr>
            </a:solidFill>
            <a:prstDash val="solid"/>
          </a:ln>
        </p:spPr>
      </p:sp>
      <p:sp>
        <p:nvSpPr>
          <p:cNvPr id="70" name="opportunity-label">
            <a:extLst xmlns:a="http://schemas.openxmlformats.org/drawingml/2006/main">
              <a:ext uri="{FF2B5EF4-FFF2-40B4-BE49-F238E27FC236}">
                <a16:creationId xmlns:a16="http://schemas.microsoft.com/office/drawing/2014/main" id="{C509B9CE-66B2-4121-B869-25CE8C3C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57375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8" b="1" i="0">
                <a:solidFill>
                  <a:srgbClr val="062942">
                    <a:alpha val="78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668" b="1" i="0">
                <a:solidFill>
                  <a:srgbClr val="062942">
                    <a:alpha val="78000"/>
                  </a:srgbClr>
                </a:solidFill>
                <a:latin typeface="Menlo"/>
                <a:ea typeface="Menlo"/>
                <a:cs typeface="Menlo"/>
              </a:rPr>
              <a:t>OPPORTUNITY</a:t>
            </a:r>
          </a:p>
        </p:txBody>
      </p:sp>
      <p:sp>
        <p:nvSpPr>
          <p:cNvPr id="71" name="opportunity-body">
            <a:extLst xmlns:a="http://schemas.openxmlformats.org/drawingml/2006/main">
              <a:ext uri="{FF2B5EF4-FFF2-40B4-BE49-F238E27FC236}">
                <a16:creationId xmlns:a16="http://schemas.microsoft.com/office/drawing/2014/main" id="{6B79841F-3A27-4FF2-91E8-6F235D17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85975"/>
            <a:ext cx="319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40" b="0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defRPr>
            </a:pPr>
            <a:r>
              <a:rPr sz="1140" b="0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rPr>
              <a:t>We believe in fellows early and create opportunities that can change their lives.</a:t>
            </a:r>
          </a:p>
        </p:txBody>
      </p:sp>
      <p:sp>
        <p:nvSpPr>
          <p:cNvPr id="72" name="early-teams-label">
            <a:extLst xmlns:a="http://schemas.openxmlformats.org/drawingml/2006/main">
              <a:ext uri="{FF2B5EF4-FFF2-40B4-BE49-F238E27FC236}">
                <a16:creationId xmlns:a16="http://schemas.microsoft.com/office/drawing/2014/main" id="{A9CD1CD6-4383-4EA5-9A80-C9946EF4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8" b="1" i="0">
                <a:solidFill>
                  <a:srgbClr val="062942">
                    <a:alpha val="78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668" b="1" i="0">
                <a:solidFill>
                  <a:srgbClr val="062942">
                    <a:alpha val="78000"/>
                  </a:srgbClr>
                </a:solidFill>
                <a:latin typeface="Menlo"/>
                <a:ea typeface="Menlo"/>
                <a:cs typeface="Menlo"/>
              </a:rPr>
              <a:t>EARLY TEAMS</a:t>
            </a:r>
          </a:p>
        </p:txBody>
      </p:sp>
      <p:sp>
        <p:nvSpPr>
          <p:cNvPr id="73" name="early-teams-body">
            <a:extLst xmlns:a="http://schemas.openxmlformats.org/drawingml/2006/main">
              <a:ext uri="{FF2B5EF4-FFF2-40B4-BE49-F238E27FC236}">
                <a16:creationId xmlns:a16="http://schemas.microsoft.com/office/drawing/2014/main" id="{3A36B6E2-5057-4C9E-BF09-83039C23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319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40" b="0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defRPr>
            </a:pPr>
            <a:r>
              <a:rPr sz="1140" b="0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rPr>
              <a:t>We help our founders hire AI-fluent builders with unusual judgment and range.</a:t>
            </a:r>
          </a:p>
        </p:txBody>
      </p:sp>
      <p:sp>
        <p:nvSpPr>
          <p:cNvPr id="74" name="access-label">
            <a:extLst xmlns:a="http://schemas.openxmlformats.org/drawingml/2006/main">
              <a:ext uri="{FF2B5EF4-FFF2-40B4-BE49-F238E27FC236}">
                <a16:creationId xmlns:a16="http://schemas.microsoft.com/office/drawing/2014/main" id="{8F60F1EF-B4C0-4F0A-A33C-34A2EEA7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95725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8" b="1" i="0">
                <a:solidFill>
                  <a:srgbClr val="062942">
                    <a:alpha val="78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668" b="1" i="0">
                <a:solidFill>
                  <a:srgbClr val="062942">
                    <a:alpha val="78000"/>
                  </a:srgbClr>
                </a:solidFill>
                <a:latin typeface="Menlo"/>
                <a:ea typeface="Menlo"/>
                <a:cs typeface="Menlo"/>
              </a:rPr>
              <a:t>ACCESS</a:t>
            </a:r>
          </a:p>
        </p:txBody>
      </p:sp>
      <p:sp>
        <p:nvSpPr>
          <p:cNvPr id="75" name="access-body">
            <a:extLst xmlns:a="http://schemas.openxmlformats.org/drawingml/2006/main">
              <a:ext uri="{FF2B5EF4-FFF2-40B4-BE49-F238E27FC236}">
                <a16:creationId xmlns:a16="http://schemas.microsoft.com/office/drawing/2014/main" id="{23446C20-06B0-46A8-B706-BB0CF0E2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19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40" b="0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defRPr>
            </a:pPr>
            <a:r>
              <a:rPr sz="1140" b="0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rPr>
              <a:t>We earn our place in the networks where new companies form.</a:t>
            </a:r>
          </a:p>
        </p:txBody>
      </p:sp>
      <p:sp>
        <p:nvSpPr>
          <p:cNvPr id="76" name="metrics-rule">
            <a:extLst xmlns:a="http://schemas.openxmlformats.org/drawingml/2006/main">
              <a:ext uri="{FF2B5EF4-FFF2-40B4-BE49-F238E27FC236}">
                <a16:creationId xmlns:a16="http://schemas.microsoft.com/office/drawing/2014/main" id="{D422B6D7-5FB5-4F28-A585-4DFE4750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0958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062942">
                <a:alpha val="4500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44AC6DD-4CDC-43E7-B7B2-2A6388BC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482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B65F1F"/>
                </a:solidFill>
                <a:latin typeface="STIX Two Text"/>
                <a:ea typeface="STIX Two Text"/>
                <a:cs typeface="STIX Two Text"/>
              </a:defRPr>
            </a:pPr>
            <a:r>
              <a:rPr sz="2325" b="1" i="0">
                <a:solidFill>
                  <a:srgbClr val="B65F1F"/>
                </a:solidFill>
                <a:latin typeface="STIX Two Text"/>
                <a:ea typeface="STIX Two Text"/>
                <a:cs typeface="STIX Two Text"/>
              </a:rPr>
              <a:t>20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11E57EF-6960-4E08-AF3F-ACE76135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244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585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FELLOWS NOW LIVING IN SF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5CCC896-E6DB-4A1B-A4CB-3001A5A3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959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0826DCD-A052-4250-9D35-35C5D73E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2482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B65F1F"/>
                </a:solidFill>
                <a:latin typeface="STIX Two Text"/>
                <a:ea typeface="STIX Two Text"/>
                <a:cs typeface="STIX Two Text"/>
              </a:defRPr>
            </a:pPr>
            <a:r>
              <a:rPr sz="2325" b="1" i="0">
                <a:solidFill>
                  <a:srgbClr val="B65F1F"/>
                </a:solidFill>
                <a:latin typeface="STIX Two Text"/>
                <a:ea typeface="STIX Two Text"/>
                <a:cs typeface="STIX Two Text"/>
              </a:rPr>
              <a:t>7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89C57F4-B33C-4FFE-AB57-51428BCE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24475"/>
            <a:ext cx="1952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585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FELLOWS BUILDING OUR COMPANIES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B563FE9-A1B0-497B-820A-3AF56C89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9592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defRPr>
            </a:pPr>
            <a:r>
              <a:rPr sz="810" b="0" i="0">
                <a:solidFill>
                  <a:srgbClr val="062942"/>
                </a:solidFill>
                <a:latin typeface="STIX Two Text"/>
                <a:ea typeface="STIX Two Text"/>
                <a:cs typeface="STIX Two Text"/>
              </a:rPr>
              <a:t>Bem, Flai, and Terac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00F746A-BCCD-449B-8B13-A578D966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482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B65F1F"/>
                </a:solidFill>
                <a:latin typeface="STIX Two Text"/>
                <a:ea typeface="STIX Two Text"/>
                <a:cs typeface="STIX Two Text"/>
              </a:defRPr>
            </a:pPr>
            <a:r>
              <a:rPr sz="2325" b="1" i="0">
                <a:solidFill>
                  <a:srgbClr val="B65F1F"/>
                </a:solidFill>
                <a:latin typeface="STIX Two Text"/>
                <a:ea typeface="STIX Two Text"/>
                <a:cs typeface="STIX Two Text"/>
              </a:rPr>
              <a:t>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8E126E4-EEAE-47FF-BC07-05466B83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324475"/>
            <a:ext cx="1952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" b="1" i="0">
                <a:solidFill>
                  <a:srgbClr val="062942"/>
                </a:solidFill>
                <a:latin typeface="Menlo"/>
                <a:ea typeface="Menlo"/>
                <a:cs typeface="Menlo"/>
              </a:defRPr>
            </a:pPr>
            <a:r>
              <a:rPr sz="585" b="1" i="0">
                <a:solidFill>
                  <a:srgbClr val="062942"/>
                </a:solidFill>
                <a:latin typeface="Menlo"/>
                <a:ea typeface="Menlo"/>
                <a:cs typeface="Menlo"/>
              </a:rPr>
              <a:t>FELLOWS FOUNDING COMPANIES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3559B2D-C581-4844-B142-D9DE4D1B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9592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ecosystem-top-rule">
            <a:extLst xmlns:a="http://schemas.openxmlformats.org/drawingml/2006/main">
              <a:ext uri="{FF2B5EF4-FFF2-40B4-BE49-F238E27FC236}">
                <a16:creationId xmlns:a16="http://schemas.microsoft.com/office/drawing/2014/main" id="{6E5F3643-441F-4381-AB2B-10C558DF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9817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62942">
                <a:alpha val="28000"/>
              </a:srgbClr>
            </a:solidFill>
            <a:prstDash val="solid"/>
          </a:ln>
        </p:spPr>
      </p:sp>
      <p:sp>
        <p:nvSpPr>
          <p:cNvPr id="87" name="ecosystem-label">
            <a:extLst xmlns:a="http://schemas.openxmlformats.org/drawingml/2006/main">
              <a:ext uri="{FF2B5EF4-FFF2-40B4-BE49-F238E27FC236}">
                <a16:creationId xmlns:a16="http://schemas.microsoft.com/office/drawing/2014/main" id="{A026D10A-3538-4A0A-B582-7336CA52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047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7" b="1" i="0">
                <a:solidFill>
                  <a:srgbClr val="062942">
                    <a:alpha val="72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607" b="1" i="0">
                <a:solidFill>
                  <a:srgbClr val="062942">
                    <a:alpha val="72000"/>
                  </a:srgbClr>
                </a:solidFill>
                <a:latin typeface="Menlo"/>
                <a:ea typeface="Menlo"/>
                <a:cs typeface="Menlo"/>
              </a:rPr>
              <a:t>GUESTS FROM</a:t>
            </a:r>
          </a:p>
        </p:txBody>
      </p:sp>
      <p:sp>
        <p:nvSpPr>
          <p:cNvPr id="88" name="ecosystem-participants">
            <a:extLst xmlns:a="http://schemas.openxmlformats.org/drawingml/2006/main">
              <a:ext uri="{FF2B5EF4-FFF2-40B4-BE49-F238E27FC236}">
                <a16:creationId xmlns:a16="http://schemas.microsoft.com/office/drawing/2014/main" id="{6A73B468-39D1-4DDB-B1F0-1305156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53150"/>
            <a:ext cx="9477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062942">
                    <a:alpha val="8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810" b="0" i="0">
                <a:solidFill>
                  <a:srgbClr val="062942">
                    <a:alpha val="82000"/>
                  </a:srgbClr>
                </a:solidFill>
                <a:latin typeface="Avenir Next"/>
                <a:ea typeface="Avenir Next"/>
                <a:cs typeface="Avenir Next"/>
              </a:rPr>
              <a:t/>
            </a:r>
          </a:p>
        </p:txBody>
      </p:sp>
      <p:sp>
        <p:nvSpPr>
          <p:cNvPr id="89" name="ecosystem-bottom-rule">
            <a:extLst xmlns:a="http://schemas.openxmlformats.org/drawingml/2006/main">
              <a:ext uri="{FF2B5EF4-FFF2-40B4-BE49-F238E27FC236}">
                <a16:creationId xmlns:a16="http://schemas.microsoft.com/office/drawing/2014/main" id="{2A7935C3-41A1-4E3B-B45F-FE015035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64865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62942">
                <a:alpha val="18000"/>
              </a:srgbClr>
            </a:solidFill>
            <a:prstDash val="solid"/>
          </a:ln>
        </p:spPr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dbffefa4d48a8"/>
          <a:stretch xmlns:a="http://schemas.openxmlformats.org/drawingml/2006/main"/>
        </p:blipFill>
        <p:spPr>
          <a:xfrm xmlns:a="http://schemas.openxmlformats.org/drawingml/2006/main">
            <a:off x="523875" y="6245612"/>
            <a:ext cx="495300" cy="138926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b1ff7196e4784"/>
          <a:stretch xmlns:a="http://schemas.openxmlformats.org/drawingml/2006/main"/>
        </p:blipFill>
        <p:spPr>
          <a:xfrm xmlns:a="http://schemas.openxmlformats.org/drawingml/2006/main">
            <a:off x="1175238" y="6267367"/>
            <a:ext cx="838200" cy="95417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2e32fdb024ee6"/>
          <a:stretch xmlns:a="http://schemas.openxmlformats.org/drawingml/2006/main"/>
        </p:blipFill>
        <p:spPr>
          <a:xfrm xmlns:a="http://schemas.openxmlformats.org/drawingml/2006/main">
            <a:off x="2169502" y="6259777"/>
            <a:ext cx="904875" cy="110596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41b1dddd74861"/>
          <a:stretch xmlns:a="http://schemas.openxmlformats.org/drawingml/2006/main"/>
        </p:blipFill>
        <p:spPr>
          <a:xfrm xmlns:a="http://schemas.openxmlformats.org/drawingml/2006/main">
            <a:off x="3230440" y="6253234"/>
            <a:ext cx="552450" cy="123683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bed9139dc44a0"/>
          <a:stretch xmlns:a="http://schemas.openxmlformats.org/drawingml/2006/main"/>
        </p:blipFill>
        <p:spPr>
          <a:xfrm xmlns:a="http://schemas.openxmlformats.org/drawingml/2006/main">
            <a:off x="3938954" y="6253556"/>
            <a:ext cx="457200" cy="123039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8bf5b03ca47d3"/>
          <a:stretch xmlns:a="http://schemas.openxmlformats.org/drawingml/2006/main"/>
        </p:blipFill>
        <p:spPr>
          <a:xfrm xmlns:a="http://schemas.openxmlformats.org/drawingml/2006/main">
            <a:off x="4552217" y="6256764"/>
            <a:ext cx="733425" cy="116622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5a4a575e2439b"/>
          <a:stretch xmlns:a="http://schemas.openxmlformats.org/drawingml/2006/main"/>
        </p:blipFill>
        <p:spPr>
          <a:xfrm xmlns:a="http://schemas.openxmlformats.org/drawingml/2006/main">
            <a:off x="5441706" y="6249351"/>
            <a:ext cx="504825" cy="131447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ceb868a284c04"/>
          <a:stretch xmlns:a="http://schemas.openxmlformats.org/drawingml/2006/main"/>
        </p:blipFill>
        <p:spPr>
          <a:xfrm xmlns:a="http://schemas.openxmlformats.org/drawingml/2006/main">
            <a:off x="6102594" y="6259636"/>
            <a:ext cx="895350" cy="110878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f2a21ebf64a2b"/>
          <a:stretch xmlns:a="http://schemas.openxmlformats.org/drawingml/2006/main"/>
        </p:blipFill>
        <p:spPr>
          <a:xfrm xmlns:a="http://schemas.openxmlformats.org/drawingml/2006/main">
            <a:off x="7154008" y="6250739"/>
            <a:ext cx="600075" cy="128673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e77762df54aae"/>
          <a:stretch xmlns:a="http://schemas.openxmlformats.org/drawingml/2006/main"/>
        </p:blipFill>
        <p:spPr>
          <a:xfrm xmlns:a="http://schemas.openxmlformats.org/drawingml/2006/main">
            <a:off x="7910146" y="6257232"/>
            <a:ext cx="904875" cy="115685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7e4766f88498e"/>
          <a:stretch xmlns:a="http://schemas.openxmlformats.org/drawingml/2006/main"/>
        </p:blipFill>
        <p:spPr>
          <a:xfrm xmlns:a="http://schemas.openxmlformats.org/drawingml/2006/main">
            <a:off x="8971085" y="6231678"/>
            <a:ext cx="619125" cy="166794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02dd9d1814566"/>
          <a:stretch xmlns:a="http://schemas.openxmlformats.org/drawingml/2006/main"/>
        </p:blipFill>
        <p:spPr>
          <a:xfrm xmlns:a="http://schemas.openxmlformats.org/drawingml/2006/main">
            <a:off x="9746273" y="6209670"/>
            <a:ext cx="666750" cy="210811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d42747888430e"/>
          <a:stretch xmlns:a="http://schemas.openxmlformats.org/drawingml/2006/main"/>
        </p:blipFill>
        <p:spPr>
          <a:xfrm xmlns:a="http://schemas.openxmlformats.org/drawingml/2006/main">
            <a:off x="10569087" y="6248440"/>
            <a:ext cx="485775" cy="133271"/>
          </a:xfrm>
          <a:prstGeom xmlns:a="http://schemas.openxmlformats.org/drawingml/2006/main" prst="rect">
            <a:avLst/>
          </a:prstGeom>
        </p:spPr>
      </p:pic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b66f5ba3a4fc4"/>
          <a:stretch xmlns:a="http://schemas.openxmlformats.org/drawingml/2006/main"/>
        </p:blipFill>
        <p:spPr>
          <a:xfrm xmlns:a="http://schemas.openxmlformats.org/drawingml/2006/main">
            <a:off x="11210925" y="6247580"/>
            <a:ext cx="457200" cy="1349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83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2026-09-09T19:37:21.6590000Z</dcterms:created>
  <dcterms:modified xsi:type="dcterms:W3CDTF">2026-09-09T19:37:21.6590000Z</dcterms:modified>
</coreProperties>
</file>